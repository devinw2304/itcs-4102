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1675"/>
  <p:notesSz cx="6858000" cy="12191675"/>
  <p:embeddedFontLst>
    <p:embeddedFont>
      <p:font typeface="Play"/>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y-regular.fntdata"/><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font" Target="fonts/Play-bold.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julialang.org/en/v1/manual/methods/"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br>
              <a:rPr lang="en-US"/>
            </a:br>
            <a:r>
              <a:rPr lang="en-US"/>
              <a:t>- FTC press release, March 25 2026: 3 million fraud reports and $15.9 billion in losses in 2025 (https://www.ftc.gov/news-events/news/press-releases/2026/03/ftc-testifies-joint-economic-committee-agencys-efforts-combat-fraud)</a:t>
            </a:r>
            <a:br>
              <a:rPr lang="en-US"/>
            </a:br>
            <a:r>
              <a:rPr lang="en-US"/>
              <a:t>- Julia official site: language positioning and parallel/scientific focus (https://julialang.org/)</a:t>
            </a:r>
            <a:br>
              <a:rPr lang="en-US"/>
            </a:br>
            <a:r>
              <a:rPr lang="en-US"/>
              <a:t>- Julia documentation: optional typing, multiple dispatch, JIT, multi-paradigm (https://docs.julialang.org/en/v1/)</a:t>
            </a:r>
            <a:endParaRPr/>
          </a:p>
        </p:txBody>
      </p:sp>
      <p:sp>
        <p:nvSpPr>
          <p:cNvPr id="35" name="Google Shape;3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br>
              <a:rPr lang="en-US"/>
            </a:br>
            <a:r>
              <a:rPr lang="en-US"/>
              <a:t>- Julia documentation: multi-paradigm, optional typing, JIT, LLVM (https://docs.julialang.org/en/v1/)</a:t>
            </a:r>
            <a:br>
              <a:rPr lang="en-US"/>
            </a:br>
            <a:r>
              <a:rPr lang="en-US"/>
              <a:t>- Julia official website: multiple dispatch and parallel/scientific positioning (https://julialang.org/)</a:t>
            </a:r>
            <a:br>
              <a:rPr lang="en-US"/>
            </a:br>
            <a:r>
              <a:rPr lang="en-US"/>
              <a:t>- Julia methods manual: multiple dispatch and specialization (</a:t>
            </a:r>
            <a:r>
              <a:rPr lang="en-US" u="sng">
                <a:solidFill>
                  <a:schemeClr val="hlink"/>
                </a:solidFill>
                <a:hlinkClick r:id="rId2"/>
              </a:rPr>
              <a:t>https://docs.julialang.org/en/v1/manual/methods/</a:t>
            </a:r>
            <a:r>
              <a:rPr lang="en-US"/>
              <a:t>)</a:t>
            </a:r>
            <a:endParaRPr/>
          </a:p>
          <a:p>
            <a:pPr indent="0" lvl="0" marL="0" rtl="0" algn="l">
              <a:spcBef>
                <a:spcPts val="0"/>
              </a:spcBef>
              <a:spcAft>
                <a:spcPts val="0"/>
              </a:spcAft>
              <a:buNone/>
            </a:pPr>
            <a:r>
              <a:t/>
            </a:r>
            <a:endParaRPr/>
          </a:p>
          <a:p>
            <a:pPr indent="0" lvl="0" marL="139700" rtl="0" algn="l">
              <a:lnSpc>
                <a:spcPct val="115000"/>
              </a:lnSpc>
              <a:spcBef>
                <a:spcPts val="0"/>
              </a:spcBef>
              <a:spcAft>
                <a:spcPts val="0"/>
              </a:spcAft>
              <a:buClr>
                <a:schemeClr val="dk1"/>
              </a:buClr>
              <a:buSzPts val="1100"/>
              <a:buFont typeface="Arial"/>
              <a:buNone/>
            </a:pPr>
            <a:r>
              <a:rPr lang="en-US" sz="1050">
                <a:solidFill>
                  <a:srgbClr val="0E0E0E"/>
                </a:solidFill>
              </a:rPr>
              <a:t>Julia feels a little like Python or MATLAB when you are writing it, but one of its goals is to perform closer to a compiled language like C or C++. That is part of what makes it different from a lot of other high-level languages.</a:t>
            </a:r>
            <a:endParaRPr sz="1050">
              <a:solidFill>
                <a:srgbClr val="0E0E0E"/>
              </a:solidFill>
            </a:endParaRPr>
          </a:p>
          <a:p>
            <a:pPr indent="0" lvl="0" marL="0" rtl="0" algn="l">
              <a:spcBef>
                <a:spcPts val="0"/>
              </a:spcBef>
              <a:spcAft>
                <a:spcPts val="0"/>
              </a:spcAft>
              <a:buNone/>
            </a:pPr>
            <a:r>
              <a:t/>
            </a:r>
            <a:endParaRPr/>
          </a:p>
        </p:txBody>
      </p:sp>
      <p:sp>
        <p:nvSpPr>
          <p:cNvPr id="63" name="Google Shape;6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81e200f7a_0_138:notes"/>
          <p:cNvSpPr/>
          <p:nvPr>
            <p:ph idx="2" type="sldImg"/>
          </p:nvPr>
        </p:nvSpPr>
        <p:spPr>
          <a:xfrm>
            <a:off x="685873" y="114297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g3d81e200f7a_0_138:notes"/>
          <p:cNvSpPr txBox="1"/>
          <p:nvPr>
            <p:ph idx="1" type="body"/>
          </p:nvPr>
        </p:nvSpPr>
        <p:spPr>
          <a:xfrm>
            <a:off x="685800" y="4400433"/>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a:t>
            </a:r>
            <a:br>
              <a:rPr lang="en-US"/>
            </a:br>
            <a:r>
              <a:rPr lang="en-US"/>
              <a:t>Julia was first introduced in 2012 and was created by Jeff Bezanson, Stefan Karpinski, Viral Shah, and Alan Edelman. One of the biggest motivations behind the language was the two-language problem, where people often prototype in a high-level language like Python or MATLAB, then rewrite performance-heavy parts in C or C++. Julia was designed to reduce that gap by combining easier syntax with stronger performance for technical and numerical computing. In terms of paradigm, Julia is best described as multi-paradigm. It is not mainly object-oriented in the way Java or C++ are. Instead, it is more centered around functions, typed data, generic programming, and multiple dispatch.</a:t>
            </a:r>
            <a:br>
              <a:rPr lang="en-US"/>
            </a:br>
            <a:br>
              <a:rPr lang="en-US"/>
            </a:br>
            <a:r>
              <a:rPr lang="en-US"/>
              <a:t>[Sources]</a:t>
            </a:r>
            <a:br>
              <a:rPr lang="en-US"/>
            </a:br>
            <a:r>
              <a:rPr lang="en-US"/>
              <a:t>- https://julialang.org/blog/2012/02/why-we-created-julia/ (Why We Created Julia; introduced in 2012; creators and design motivation)</a:t>
            </a:r>
            <a:br>
              <a:rPr lang="en-US"/>
            </a:br>
            <a:r>
              <a:rPr lang="en-US"/>
              <a:t>- https://julialang.org/ (official Julia site; states multiple dispatch as a paradigm)</a:t>
            </a:r>
            <a:br>
              <a:rPr lang="en-US"/>
            </a:br>
            <a:r>
              <a:rPr lang="en-US"/>
              <a:t>- https://julialang.org/blog/2018/08/one-point-zero/ (Julia 1.0 release in 2018)</a:t>
            </a:r>
            <a:br>
              <a:rPr lang="en-US"/>
            </a:br>
            <a:r>
              <a:rPr lang="en-US"/>
              <a:t>- https://epubs.siam.org/doi/10.1137/141000671 (SIAM Review paper on Julia's design for numerical computing)</a:t>
            </a:r>
            <a:br>
              <a:rPr lang="en-US"/>
            </a:br>
            <a:r>
              <a:rPr lang="en-US"/>
              <a:t>[/Sources]</a:t>
            </a:r>
            <a:endParaRPr/>
          </a:p>
        </p:txBody>
      </p:sp>
      <p:sp>
        <p:nvSpPr>
          <p:cNvPr id="79" name="Google Shape;79;g3d81e200f7a_0_138:notes"/>
          <p:cNvSpPr txBox="1"/>
          <p:nvPr>
            <p:ph idx="12" type="sldNum"/>
          </p:nvPr>
        </p:nvSpPr>
        <p:spPr>
          <a:xfrm>
            <a:off x="3884613" y="8684981"/>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81e200f7a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d81e200f7a_0_1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it’s open‑source, which means the community can continuously improve it and researchers can inspect or modify anything they need.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It’s high‑performance, delivering speeds close to C and Fortran while still feeling like a high‑level language.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Julia is dynamic, so you can experiment interactively, iterate quickly, and prototype without friction.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It’s also composable, meaning packages work together cleanly without the dependency conflicts you see in other ecosystems.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Another major strength is reproducibility, Julia’s environment and package management system make it easy to recreate exact computational setups.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it’s integrated: Julia brings together numerical computing, data science, visualization, and parallelism in one unified language.</a:t>
            </a:r>
            <a:endParaRPr/>
          </a:p>
        </p:txBody>
      </p:sp>
      <p:sp>
        <p:nvSpPr>
          <p:cNvPr id="104" name="Google Shape;104;g3d81e200f7a_0_10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This section is where the model creates the main signals that later feed into the fraud score. Instead of making a decision from just one rule, the program first checks a set of conditions that describe how suspicious the transaction looks.</a:t>
            </a:r>
            <a:endParaRPr/>
          </a:p>
          <a:p>
            <a:pPr indent="0" lvl="0" marL="0" rtl="0" algn="l">
              <a:lnSpc>
                <a:spcPct val="115000"/>
              </a:lnSpc>
              <a:spcBef>
                <a:spcPts val="1200"/>
              </a:spcBef>
              <a:spcAft>
                <a:spcPts val="0"/>
              </a:spcAft>
              <a:buClr>
                <a:schemeClr val="dk1"/>
              </a:buClr>
              <a:buSzPts val="1100"/>
              <a:buFont typeface="Arial"/>
              <a:buNone/>
            </a:pPr>
            <a:r>
              <a:rPr lang="en-US"/>
              <a:t>The first line calculates the sender’s average previous transaction amount, if the sender has any history at all. That gives the model a point of comparison for whether the current transaction is unusually large for that specific account.</a:t>
            </a:r>
            <a:endParaRPr/>
          </a:p>
          <a:p>
            <a:pPr indent="0" lvl="0" marL="0" rtl="0" algn="l">
              <a:lnSpc>
                <a:spcPct val="115000"/>
              </a:lnSpc>
              <a:spcBef>
                <a:spcPts val="1200"/>
              </a:spcBef>
              <a:spcAft>
                <a:spcPts val="0"/>
              </a:spcAft>
              <a:buClr>
                <a:schemeClr val="dk1"/>
              </a:buClr>
              <a:buSzPts val="1100"/>
              <a:buFont typeface="Arial"/>
              <a:buNone/>
            </a:pPr>
            <a:r>
              <a:rPr lang="en-US"/>
              <a:t>Next, the code checks whether the transaction is a risky type. In our project, we focused mostly on TRANSFER and CASH_OUT because those are the transaction types most associated with fraudulent movement of money.</a:t>
            </a:r>
            <a:endParaRPr/>
          </a:p>
          <a:p>
            <a:pPr indent="0" lvl="0" marL="0" rtl="0" algn="l">
              <a:lnSpc>
                <a:spcPct val="115000"/>
              </a:lnSpc>
              <a:spcBef>
                <a:spcPts val="1200"/>
              </a:spcBef>
              <a:spcAft>
                <a:spcPts val="0"/>
              </a:spcAft>
              <a:buClr>
                <a:schemeClr val="dk1"/>
              </a:buClr>
              <a:buSzPts val="1100"/>
              <a:buFont typeface="Arial"/>
              <a:buNone/>
            </a:pPr>
            <a:r>
              <a:rPr lang="en-US"/>
              <a:t>After that, the model checks the transaction amount at two levels. One is a large amount, meaning it is above the threshold, and the other is medium-large, meaning it is at least half of the threshold. This gives the scoring system some flexibility instead of forcing every suspicious transaction to be extremely large.</a:t>
            </a:r>
            <a:endParaRPr/>
          </a:p>
          <a:p>
            <a:pPr indent="0" lvl="0" marL="0" rtl="0" algn="l">
              <a:lnSpc>
                <a:spcPct val="115000"/>
              </a:lnSpc>
              <a:spcBef>
                <a:spcPts val="1200"/>
              </a:spcBef>
              <a:spcAft>
                <a:spcPts val="0"/>
              </a:spcAft>
              <a:buClr>
                <a:schemeClr val="dk1"/>
              </a:buClr>
              <a:buSzPts val="1100"/>
              <a:buFont typeface="Arial"/>
              <a:buNone/>
            </a:pPr>
            <a:r>
              <a:rPr lang="en-US"/>
              <a:t>The next two checks focus on balance behavior. drains_origin means the transaction leaves the sender’s account nearly empty, which can be suspicious. exact_balance_drain is even stronger, because it means the transaction amount almost exactly matches the sender’s old balance and leaves the new balance at or near zero.</a:t>
            </a:r>
            <a:endParaRPr/>
          </a:p>
          <a:p>
            <a:pPr indent="0" lvl="0" marL="0" rtl="0" algn="l">
              <a:lnSpc>
                <a:spcPct val="115000"/>
              </a:lnSpc>
              <a:spcBef>
                <a:spcPts val="1200"/>
              </a:spcBef>
              <a:spcAft>
                <a:spcPts val="0"/>
              </a:spcAft>
              <a:buClr>
                <a:schemeClr val="dk1"/>
              </a:buClr>
              <a:buSzPts val="1100"/>
              <a:buFont typeface="Arial"/>
              <a:buNone/>
            </a:pPr>
            <a:r>
              <a:rPr lang="en-US"/>
              <a:t>The code also checks whether the current amount is much larger than the sender’s normal behavior by comparing it to the sender’s average. If it is at least three times larger, that becomes another suspicious signal.</a:t>
            </a:r>
            <a:endParaRPr/>
          </a:p>
          <a:p>
            <a:pPr indent="0" lvl="0" marL="0" rtl="0" algn="l">
              <a:lnSpc>
                <a:spcPct val="115000"/>
              </a:lnSpc>
              <a:spcBef>
                <a:spcPts val="1200"/>
              </a:spcBef>
              <a:spcAft>
                <a:spcPts val="0"/>
              </a:spcAft>
              <a:buClr>
                <a:schemeClr val="dk1"/>
              </a:buClr>
              <a:buSzPts val="1100"/>
              <a:buFont typeface="Arial"/>
              <a:buNone/>
            </a:pPr>
            <a:r>
              <a:rPr lang="en-US"/>
              <a:t>repeated_risky_sender checks whether the sender has already made multiple risky transactions earlier in the data, which can suggest a repeated pattern rather than a one-time event.</a:t>
            </a:r>
            <a:endParaRPr/>
          </a:p>
          <a:p>
            <a:pPr indent="0" lvl="0" marL="0" rtl="0" algn="l">
              <a:lnSpc>
                <a:spcPct val="115000"/>
              </a:lnSpc>
              <a:spcBef>
                <a:spcPts val="1200"/>
              </a:spcBef>
              <a:spcAft>
                <a:spcPts val="0"/>
              </a:spcAft>
              <a:buClr>
                <a:schemeClr val="dk1"/>
              </a:buClr>
              <a:buSzPts val="1100"/>
              <a:buFont typeface="Arial"/>
              <a:buNone/>
            </a:pPr>
            <a:r>
              <a:rPr lang="en-US"/>
              <a:t>suspicious_dest_balance looks for a strange destination pattern where both the old and new destination balances are zero during a risky transaction. That can indicate unusual activity in the transaction record.</a:t>
            </a:r>
            <a:endParaRPr/>
          </a:p>
          <a:p>
            <a:pPr indent="0" lvl="0" marL="0" rtl="0" algn="l">
              <a:lnSpc>
                <a:spcPct val="115000"/>
              </a:lnSpc>
              <a:spcBef>
                <a:spcPts val="1200"/>
              </a:spcBef>
              <a:spcAft>
                <a:spcPts val="0"/>
              </a:spcAft>
              <a:buClr>
                <a:schemeClr val="dk1"/>
              </a:buClr>
              <a:buSzPts val="1100"/>
              <a:buFont typeface="Arial"/>
              <a:buNone/>
            </a:pPr>
            <a:r>
              <a:rPr lang="en-US"/>
              <a:t>Finally, low_history_sender checks whether the sender has little or no prior history. By itself, that is not enough to make something fraudulent, but it can add context when combined with stronger signals.</a:t>
            </a:r>
            <a:endParaRPr/>
          </a:p>
          <a:p>
            <a:pPr indent="0" lvl="0" marL="0" rtl="0" algn="l">
              <a:lnSpc>
                <a:spcPct val="115000"/>
              </a:lnSpc>
              <a:spcBef>
                <a:spcPts val="1200"/>
              </a:spcBef>
              <a:spcAft>
                <a:spcPts val="0"/>
              </a:spcAft>
              <a:buClr>
                <a:schemeClr val="dk1"/>
              </a:buClr>
              <a:buSzPts val="1100"/>
              <a:buFont typeface="Arial"/>
              <a:buNone/>
            </a:pPr>
            <a:r>
              <a:rPr lang="en-US"/>
              <a:t>So overall, this block is not doing the final classification yet. It is building the evidence that the model uses in the next step to decide whether a transaction should be low, medium, or high risk.</a:t>
            </a:r>
            <a:endParaRPr/>
          </a:p>
          <a:p>
            <a:pPr indent="0" lvl="0" marL="0" rtl="0" algn="l">
              <a:lnSpc>
                <a:spcPct val="115000"/>
              </a:lnSpc>
              <a:spcBef>
                <a:spcPts val="1200"/>
              </a:spcBef>
              <a:spcAft>
                <a:spcPts val="0"/>
              </a:spcAft>
              <a:buClr>
                <a:schemeClr val="dk1"/>
              </a:buClr>
              <a:buSzPts val="1100"/>
              <a:buFont typeface="Arial"/>
              <a:buNone/>
            </a:pPr>
            <a:r>
              <a:rPr lang="en-US"/>
              <a:t>Here’s a shorter version if you want something more slide-friendly:</a:t>
            </a:r>
            <a:endParaRPr/>
          </a:p>
          <a:p>
            <a:pPr indent="0" lvl="0" marL="0" rtl="0" algn="l">
              <a:lnSpc>
                <a:spcPct val="115000"/>
              </a:lnSpc>
              <a:spcBef>
                <a:spcPts val="1200"/>
              </a:spcBef>
              <a:spcAft>
                <a:spcPts val="0"/>
              </a:spcAft>
              <a:buClr>
                <a:schemeClr val="dk1"/>
              </a:buClr>
              <a:buSzPts val="1100"/>
              <a:buFont typeface="Arial"/>
              <a:buNone/>
            </a:pPr>
            <a:r>
              <a:rPr lang="en-US"/>
              <a:t>This code creates the main fraud signals used in scoring. It checks whether the transaction is a risky type, whether the amount is unusually large, whether it drains the sender’s balance, whether it matches the sender’s full balance exactly, and whether the sender’s prior behavior makes the transaction stand out. Those signals are then combined later to produce the final risk label.</a:t>
            </a:r>
            <a:endParaRPr/>
          </a:p>
          <a:p>
            <a:pPr indent="0" lvl="0" marL="0" rtl="0" algn="l">
              <a:spcBef>
                <a:spcPts val="1200"/>
              </a:spcBef>
              <a:spcAft>
                <a:spcPts val="0"/>
              </a:spcAft>
              <a:buNone/>
            </a:pPr>
            <a:r>
              <a:t/>
            </a:r>
            <a:endParaRPr/>
          </a:p>
        </p:txBody>
      </p:sp>
      <p:sp>
        <p:nvSpPr>
          <p:cNvPr id="163" name="Google Shape;16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This slide shows the final results from our last version of the fraud detector. In this run, the system processed 20,000 transactions from the PaySim-style dataset. Out of those, 81 were actually labeled as fraud in the dataset.</a:t>
            </a:r>
            <a:endParaRPr/>
          </a:p>
          <a:p>
            <a:pPr indent="0" lvl="0" marL="0" rtl="0" algn="l">
              <a:lnSpc>
                <a:spcPct val="115000"/>
              </a:lnSpc>
              <a:spcBef>
                <a:spcPts val="1200"/>
              </a:spcBef>
              <a:spcAft>
                <a:spcPts val="0"/>
              </a:spcAft>
              <a:buClr>
                <a:schemeClr val="dk1"/>
              </a:buClr>
              <a:buSzPts val="1100"/>
              <a:buFont typeface="Arial"/>
              <a:buNone/>
            </a:pPr>
            <a:r>
              <a:rPr lang="en-US"/>
              <a:t>The model split the transactions into three groups: 65 high risk, 4,341 medium risk, and 15,594 low risk. In our project, high-risk transactions were treated as the model’s strongest fraud predictions. Medium-risk transactions were not counted as direct fraud predictions, but more as transactions that might deserve review. Low-risk transactions were the ones the model did not flag for concern.</a:t>
            </a:r>
            <a:endParaRPr/>
          </a:p>
          <a:p>
            <a:pPr indent="0" lvl="0" marL="0" rtl="0" algn="l">
              <a:lnSpc>
                <a:spcPct val="115000"/>
              </a:lnSpc>
              <a:spcBef>
                <a:spcPts val="1200"/>
              </a:spcBef>
              <a:spcAft>
                <a:spcPts val="0"/>
              </a:spcAft>
              <a:buClr>
                <a:schemeClr val="dk1"/>
              </a:buClr>
              <a:buSzPts val="1100"/>
              <a:buFont typeface="Arial"/>
              <a:buNone/>
            </a:pPr>
            <a:r>
              <a:rPr lang="en-US"/>
              <a:t>The slide also shows the three main evaluation metrics: precision, recall, and accuracy.</a:t>
            </a:r>
            <a:endParaRPr/>
          </a:p>
          <a:p>
            <a:pPr indent="0" lvl="0" marL="0" rtl="0" algn="l">
              <a:lnSpc>
                <a:spcPct val="115000"/>
              </a:lnSpc>
              <a:spcBef>
                <a:spcPts val="1200"/>
              </a:spcBef>
              <a:spcAft>
                <a:spcPts val="0"/>
              </a:spcAft>
              <a:buClr>
                <a:schemeClr val="dk1"/>
              </a:buClr>
              <a:buSzPts val="1100"/>
              <a:buFont typeface="Arial"/>
              <a:buNone/>
            </a:pPr>
            <a:r>
              <a:rPr lang="en-US"/>
              <a:t>Precision tells us how often the model was correct when it made a strong fraud prediction. In our case, the precision was 0.7692, which means that when the model labeled a transaction as high risk, it was correct about 77 percent of the time. So precision is really about the quality of the positive predictions. A higher precision means fewer false alarms.</a:t>
            </a:r>
            <a:endParaRPr/>
          </a:p>
          <a:p>
            <a:pPr indent="0" lvl="0" marL="0" rtl="0" algn="l">
              <a:lnSpc>
                <a:spcPct val="115000"/>
              </a:lnSpc>
              <a:spcBef>
                <a:spcPts val="1200"/>
              </a:spcBef>
              <a:spcAft>
                <a:spcPts val="0"/>
              </a:spcAft>
              <a:buClr>
                <a:schemeClr val="dk1"/>
              </a:buClr>
              <a:buSzPts val="1100"/>
              <a:buFont typeface="Arial"/>
              <a:buNone/>
            </a:pPr>
            <a:r>
              <a:rPr lang="en-US"/>
              <a:t>Recall tells us how many of the actual fraud cases the model was able to catch. Our recall was 0.6173, which means the model caught a little over 61 percent of the real fraud transactions in the dataset. So recall is about coverage. A higher recall means the system is missing fewer fraud cases. In fraud detection, this matters because if recall is too low, the system may look good on paper but still miss too many important cases.</a:t>
            </a:r>
            <a:endParaRPr/>
          </a:p>
          <a:p>
            <a:pPr indent="0" lvl="0" marL="0" rtl="0" algn="l">
              <a:lnSpc>
                <a:spcPct val="115000"/>
              </a:lnSpc>
              <a:spcBef>
                <a:spcPts val="1200"/>
              </a:spcBef>
              <a:spcAft>
                <a:spcPts val="0"/>
              </a:spcAft>
              <a:buClr>
                <a:schemeClr val="dk1"/>
              </a:buClr>
              <a:buSzPts val="1100"/>
              <a:buFont typeface="Arial"/>
              <a:buNone/>
            </a:pPr>
            <a:r>
              <a:rPr lang="en-US"/>
              <a:t>Accuracy measures how often the model was correct overall, across both fraud and non-fraud transactions. Our accuracy was 0.9977, which looks extremely high. But this needs to be interpreted carefully. The dataset is very imbalanced, meaning there are far more normal transactions than fraudulent ones. Because of that, a model can get a very high accuracy score simply by being right on most of the normal cases. So while the accuracy is useful, it is not the best standalone measure for a fraud detection problem like this.</a:t>
            </a:r>
            <a:endParaRPr/>
          </a:p>
          <a:p>
            <a:pPr indent="0" lvl="0" marL="0" rtl="0" algn="l">
              <a:lnSpc>
                <a:spcPct val="115000"/>
              </a:lnSpc>
              <a:spcBef>
                <a:spcPts val="1200"/>
              </a:spcBef>
              <a:spcAft>
                <a:spcPts val="0"/>
              </a:spcAft>
              <a:buClr>
                <a:schemeClr val="dk1"/>
              </a:buClr>
              <a:buSzPts val="1100"/>
              <a:buFont typeface="Arial"/>
              <a:buNone/>
            </a:pPr>
            <a:r>
              <a:rPr lang="en-US"/>
              <a:t>The most meaningful takeaway is really the balance between precision and recall. Our final model was fairly selective, which helped keep the precision reasonably strong, but it still did not catch every fraud case, which is why the recall is lower than the accuracy might suggest. That is one of the tradeoffs in this kind of system. If we made the model more aggressive, recall might go up because it would catch more fraud, but precision could drop because it would also flag more normal transactions by mistake.</a:t>
            </a:r>
            <a:endParaRPr/>
          </a:p>
          <a:p>
            <a:pPr indent="0" lvl="0" marL="0" rtl="0" algn="l">
              <a:lnSpc>
                <a:spcPct val="115000"/>
              </a:lnSpc>
              <a:spcBef>
                <a:spcPts val="1200"/>
              </a:spcBef>
              <a:spcAft>
                <a:spcPts val="0"/>
              </a:spcAft>
              <a:buClr>
                <a:schemeClr val="dk1"/>
              </a:buClr>
              <a:buSzPts val="1100"/>
              <a:buFont typeface="Arial"/>
              <a:buNone/>
            </a:pPr>
            <a:r>
              <a:rPr lang="en-US"/>
              <a:t>So overall, these results show that the model became more controlled and more realistic than the earlier versions. It did not overuse the high-risk label, it still caught real fraud cases, and it gave us a useful separation between direct fraud predictions and transactions that simply looked suspicious enough for review.</a:t>
            </a:r>
            <a:endParaRPr/>
          </a:p>
          <a:p>
            <a:pPr indent="0" lvl="0" marL="0" rtl="0" algn="l">
              <a:spcBef>
                <a:spcPts val="1200"/>
              </a:spcBef>
              <a:spcAft>
                <a:spcPts val="0"/>
              </a:spcAft>
              <a:buNone/>
            </a:pPr>
            <a:r>
              <a:t/>
            </a:r>
            <a:endParaRPr/>
          </a:p>
        </p:txBody>
      </p:sp>
      <p:sp>
        <p:nvSpPr>
          <p:cNvPr id="186" name="Google Shape;18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This slide shows a few example classifications so we can see the model’s logic more clearly. The strongest fraud example here is the 181 dollar transfer, which was correctly labeled high risk because of features like exact balance drain and destination balance anomaly. The clean examples show where the model still struggles, since large risky transactions sometimes get pushed into medium risk even when they are not actually fraud. So overall, these examples show that the balance-based signals helped a lot, but the model can still over-flag some normal transactions.</a:t>
            </a:r>
            <a:endParaRPr/>
          </a:p>
          <a:p>
            <a:pPr indent="0" lvl="0" marL="0" rtl="0" algn="l">
              <a:spcBef>
                <a:spcPts val="1200"/>
              </a:spcBef>
              <a:spcAft>
                <a:spcPts val="0"/>
              </a:spcAft>
              <a:buNone/>
            </a:pPr>
            <a:r>
              <a:t/>
            </a:r>
            <a:endParaRPr/>
          </a:p>
        </p:txBody>
      </p:sp>
      <p:sp>
        <p:nvSpPr>
          <p:cNvPr id="245" name="Google Shape;24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d81e200f7a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g3d81e200f7a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050">
                <a:solidFill>
                  <a:srgbClr val="0E0E0E"/>
                </a:solidFill>
              </a:rPr>
              <a:t>This slide highlights a few Julia features that were especially useful while we were building the project. The first one is structs and data organization. Since our project depends on processing transaction records and tracking account behavior, it helped a lot to be able to define our own data structures clearly. Instead of working with raw CSV rows the whole time, we could turn each row into something more structured and easier to work with.</a:t>
            </a:r>
            <a:endParaRPr sz="1050">
              <a:solidFill>
                <a:srgbClr val="0E0E0E"/>
              </a:solidFill>
            </a:endParaRPr>
          </a:p>
          <a:p>
            <a:pPr indent="0" lvl="0" marL="0" rtl="0" algn="l">
              <a:lnSpc>
                <a:spcPct val="115000"/>
              </a:lnSpc>
              <a:spcBef>
                <a:spcPts val="1200"/>
              </a:spcBef>
              <a:spcAft>
                <a:spcPts val="0"/>
              </a:spcAft>
              <a:buSzPts val="1100"/>
              <a:buNone/>
            </a:pPr>
            <a:r>
              <a:rPr lang="en-US" sz="1050">
                <a:solidFill>
                  <a:srgbClr val="0E0E0E"/>
                </a:solidFill>
              </a:rPr>
              <a:t>The second feature is Julia’s built-in data structures. Things like vectors, dictionaries, and sets fit the project really well. We used vectors to hold lists of transactions, and dictionaries to keep track of account-level information like customer history and destination stats. That made it much easier to update and reference data while each transaction was being scored.</a:t>
            </a:r>
            <a:endParaRPr sz="1050">
              <a:solidFill>
                <a:srgbClr val="0E0E0E"/>
              </a:solidFill>
            </a:endParaRPr>
          </a:p>
          <a:p>
            <a:pPr indent="0" lvl="0" marL="0" rtl="0" algn="l">
              <a:lnSpc>
                <a:spcPct val="115000"/>
              </a:lnSpc>
              <a:spcBef>
                <a:spcPts val="1200"/>
              </a:spcBef>
              <a:spcAft>
                <a:spcPts val="0"/>
              </a:spcAft>
              <a:buSzPts val="1100"/>
              <a:buNone/>
            </a:pPr>
            <a:r>
              <a:rPr lang="en-US" sz="1050">
                <a:solidFill>
                  <a:srgbClr val="0E0E0E"/>
                </a:solidFill>
              </a:rPr>
              <a:t>The third feature is AbstractString. This was useful on the parsing side of the project, because the raw CSV data comes in as text first. By using AbstractString in helper functions, we could write code that was a little more flexible and still stayed organized around Julia’s type system. It was a smaller feature, but it showed how Julia lets you write functions in a clean way around the kind of data you expect.</a:t>
            </a:r>
            <a:endParaRPr sz="1050">
              <a:solidFill>
                <a:srgbClr val="0E0E0E"/>
              </a:solidFill>
            </a:endParaRPr>
          </a:p>
          <a:p>
            <a:pPr indent="0" lvl="0" marL="0" rtl="0" algn="l">
              <a:lnSpc>
                <a:spcPct val="115000"/>
              </a:lnSpc>
              <a:spcBef>
                <a:spcPts val="1200"/>
              </a:spcBef>
              <a:spcAft>
                <a:spcPts val="0"/>
              </a:spcAft>
              <a:buSzPts val="1100"/>
              <a:buNone/>
            </a:pPr>
            <a:r>
              <a:rPr lang="en-US" sz="1050">
                <a:solidFill>
                  <a:srgbClr val="0E0E0E"/>
                </a:solidFill>
              </a:rPr>
              <a:t>Overall, these features helped make the project easier to structure. Julia gave us a good mix of clear custom data modeling, strong built-in containers, and type-aware function design, which worked well for a fraud detection project like this one.</a:t>
            </a:r>
            <a:endParaRPr sz="1050">
              <a:solidFill>
                <a:srgbClr val="0E0E0E"/>
              </a:solidFill>
            </a:endParaRPr>
          </a:p>
          <a:p>
            <a:pPr indent="0" lvl="0" marL="139700" rtl="0" algn="l">
              <a:lnSpc>
                <a:spcPct val="115000"/>
              </a:lnSpc>
              <a:spcBef>
                <a:spcPts val="1200"/>
              </a:spcBef>
              <a:spcAft>
                <a:spcPts val="0"/>
              </a:spcAft>
              <a:buSzPts val="1100"/>
              <a:buNone/>
            </a:pPr>
            <a:r>
              <a:t/>
            </a:r>
            <a:endParaRPr sz="1050">
              <a:solidFill>
                <a:srgbClr val="0E0E0E"/>
              </a:solidFill>
            </a:endParaRPr>
          </a:p>
          <a:p>
            <a:pPr indent="0" lvl="0" marL="139700" rtl="0" algn="l">
              <a:lnSpc>
                <a:spcPct val="115000"/>
              </a:lnSpc>
              <a:spcBef>
                <a:spcPts val="0"/>
              </a:spcBef>
              <a:spcAft>
                <a:spcPts val="0"/>
              </a:spcAft>
              <a:buSzPts val="1100"/>
              <a:buNone/>
            </a:pPr>
            <a:r>
              <a:t/>
            </a:r>
            <a:endParaRPr sz="1050">
              <a:solidFill>
                <a:srgbClr val="0E0E0E"/>
              </a:solidFill>
            </a:endParaRPr>
          </a:p>
          <a:p>
            <a:pPr indent="0" lvl="0" marL="139700" rtl="0" algn="l">
              <a:lnSpc>
                <a:spcPct val="115000"/>
              </a:lnSpc>
              <a:spcBef>
                <a:spcPts val="0"/>
              </a:spcBef>
              <a:spcAft>
                <a:spcPts val="0"/>
              </a:spcAft>
              <a:buSzPts val="1100"/>
              <a:buNone/>
            </a:pPr>
            <a:r>
              <a:t/>
            </a:r>
            <a:endParaRPr sz="1050">
              <a:solidFill>
                <a:srgbClr val="0E0E0E"/>
              </a:solidFill>
            </a:endParaRPr>
          </a:p>
          <a:p>
            <a:pPr indent="0" lvl="0" marL="139700" rtl="0" algn="l">
              <a:lnSpc>
                <a:spcPct val="115000"/>
              </a:lnSpc>
              <a:spcBef>
                <a:spcPts val="0"/>
              </a:spcBef>
              <a:spcAft>
                <a:spcPts val="0"/>
              </a:spcAft>
              <a:buSzPts val="1100"/>
              <a:buNone/>
            </a:pPr>
            <a:r>
              <a:rPr lang="en-US" sz="1050">
                <a:solidFill>
                  <a:srgbClr val="0E0E0E"/>
                </a:solidFill>
              </a:rPr>
              <a:t>AbstractString is a good example of how Julia lets you write functions against a broader abstract type instead of only one concrete type. That keeps the function flexible, but still typed and organized.</a:t>
            </a:r>
            <a:endParaRPr sz="1050">
              <a:solidFill>
                <a:srgbClr val="0E0E0E"/>
              </a:solidFill>
            </a:endParaRPr>
          </a:p>
          <a:p>
            <a:pPr indent="0" lvl="0" marL="139700" rtl="0" algn="l">
              <a:lnSpc>
                <a:spcPct val="115000"/>
              </a:lnSpc>
              <a:spcBef>
                <a:spcPts val="0"/>
              </a:spcBef>
              <a:spcAft>
                <a:spcPts val="0"/>
              </a:spcAft>
              <a:buSzPts val="1100"/>
              <a:buNone/>
            </a:pPr>
            <a:r>
              <a:rPr lang="en-US" sz="1050">
                <a:solidFill>
                  <a:srgbClr val="0E0E0E"/>
                </a:solidFill>
              </a:rPr>
              <a:t>One smaller Julia feature I found helpful was AbstractString. Since our data starts as raw CSV text, it made sense to write parsing helpers around string-like input instead of only one exact string type. That gave us a cleaner way to handle things like fraud labels, text cleanup, and validation before the data was turned into typed transaction objects.</a:t>
            </a:r>
            <a:endParaRPr sz="1050">
              <a:solidFill>
                <a:srgbClr val="0E0E0E"/>
              </a:solidFill>
            </a:endParaRPr>
          </a:p>
          <a:p>
            <a:pPr indent="0" lvl="0" marL="139700" rtl="0" algn="l">
              <a:lnSpc>
                <a:spcPct val="115000"/>
              </a:lnSpc>
              <a:spcBef>
                <a:spcPts val="0"/>
              </a:spcBef>
              <a:spcAft>
                <a:spcPts val="0"/>
              </a:spcAft>
              <a:buSzPts val="1100"/>
              <a:buNone/>
            </a:pPr>
            <a:r>
              <a:t/>
            </a:r>
            <a:endParaRPr sz="1050">
              <a:solidFill>
                <a:srgbClr val="0E0E0E"/>
              </a:solidFill>
            </a:endParaRPr>
          </a:p>
          <a:p>
            <a:pPr indent="0" lvl="0" marL="0" rtl="0" algn="l">
              <a:lnSpc>
                <a:spcPct val="115000"/>
              </a:lnSpc>
              <a:spcBef>
                <a:spcPts val="1200"/>
              </a:spcBef>
              <a:spcAft>
                <a:spcPts val="0"/>
              </a:spcAft>
              <a:buSzPts val="1100"/>
              <a:buNone/>
            </a:pPr>
            <a:r>
              <a:rPr b="1" lang="en-US" sz="1100"/>
              <a:t>Multiple dispatch</a:t>
            </a:r>
            <a:r>
              <a:rPr lang="en-US" sz="1100"/>
              <a:t> means Julia chooses which function to run based on the </a:t>
            </a:r>
            <a:r>
              <a:rPr b="1" lang="en-US" sz="1100"/>
              <a:t>types of all the arguments</a:t>
            </a:r>
            <a:r>
              <a:rPr lang="en-US" sz="1100"/>
              <a:t>, not just one.</a:t>
            </a:r>
            <a:endParaRPr sz="1100"/>
          </a:p>
          <a:p>
            <a:pPr indent="0" lvl="0" marL="0" rtl="0" algn="l">
              <a:lnSpc>
                <a:spcPct val="115000"/>
              </a:lnSpc>
              <a:spcBef>
                <a:spcPts val="1200"/>
              </a:spcBef>
              <a:spcAft>
                <a:spcPts val="0"/>
              </a:spcAft>
              <a:buSzPts val="1100"/>
              <a:buNone/>
            </a:pPr>
            <a:r>
              <a:rPr lang="en-US" sz="1100"/>
              <a:t>Example:</a:t>
            </a:r>
            <a:endParaRPr sz="1100"/>
          </a:p>
          <a:p>
            <a:pPr indent="0" lvl="0" marL="0" rtl="0" algn="l">
              <a:lnSpc>
                <a:spcPct val="115000"/>
              </a:lnSpc>
              <a:spcBef>
                <a:spcPts val="1200"/>
              </a:spcBef>
              <a:spcAft>
                <a:spcPts val="0"/>
              </a:spcAft>
              <a:buSzPts val="1100"/>
              <a:buNone/>
            </a:pPr>
            <a:r>
              <a:rPr lang="en-US" sz="1100"/>
              <a:t>function greet(x::String)</a:t>
            </a:r>
            <a:endParaRPr sz="1100"/>
          </a:p>
          <a:p>
            <a:pPr indent="0" lvl="0" marL="0" rtl="0" algn="l">
              <a:lnSpc>
                <a:spcPct val="115000"/>
              </a:lnSpc>
              <a:spcBef>
                <a:spcPts val="0"/>
              </a:spcBef>
              <a:spcAft>
                <a:spcPts val="0"/>
              </a:spcAft>
              <a:buSzPts val="1100"/>
              <a:buNone/>
            </a:pPr>
            <a:r>
              <a:rPr lang="en-US" sz="1100"/>
              <a:t>   println("Hello, $x")</a:t>
            </a:r>
            <a:endParaRPr sz="1100"/>
          </a:p>
          <a:p>
            <a:pPr indent="0" lvl="0" marL="0" rtl="0" algn="l">
              <a:lnSpc>
                <a:spcPct val="115000"/>
              </a:lnSpc>
              <a:spcBef>
                <a:spcPts val="0"/>
              </a:spcBef>
              <a:spcAft>
                <a:spcPts val="0"/>
              </a:spcAft>
              <a:buSzPts val="1100"/>
              <a:buNone/>
            </a:pPr>
            <a:r>
              <a:rPr lang="en-US" sz="1100"/>
              <a:t>end</a:t>
            </a:r>
            <a:endParaRPr sz="1100"/>
          </a:p>
          <a:p>
            <a:pPr indent="0" lvl="0" marL="0" rtl="0" algn="l">
              <a:lnSpc>
                <a:spcPct val="115000"/>
              </a:lnSpc>
              <a:spcBef>
                <a:spcPts val="0"/>
              </a:spcBef>
              <a:spcAft>
                <a:spcPts val="0"/>
              </a:spcAft>
              <a:buSzPts val="1100"/>
              <a:buNone/>
            </a:pPr>
            <a:r>
              <a:t/>
            </a:r>
            <a:endParaRPr sz="1100"/>
          </a:p>
          <a:p>
            <a:pPr indent="0" lvl="0" marL="0" rtl="0" algn="l">
              <a:lnSpc>
                <a:spcPct val="115000"/>
              </a:lnSpc>
              <a:spcBef>
                <a:spcPts val="0"/>
              </a:spcBef>
              <a:spcAft>
                <a:spcPts val="0"/>
              </a:spcAft>
              <a:buSzPts val="1100"/>
              <a:buNone/>
            </a:pPr>
            <a:r>
              <a:rPr lang="en-US" sz="1100"/>
              <a:t>function greet(x::Int)</a:t>
            </a:r>
            <a:endParaRPr sz="1100"/>
          </a:p>
          <a:p>
            <a:pPr indent="0" lvl="0" marL="0" rtl="0" algn="l">
              <a:lnSpc>
                <a:spcPct val="115000"/>
              </a:lnSpc>
              <a:spcBef>
                <a:spcPts val="0"/>
              </a:spcBef>
              <a:spcAft>
                <a:spcPts val="0"/>
              </a:spcAft>
              <a:buSzPts val="1100"/>
              <a:buNone/>
            </a:pPr>
            <a:r>
              <a:rPr lang="en-US" sz="1100"/>
              <a:t>   println("Your number is $x")</a:t>
            </a:r>
            <a:endParaRPr sz="1100"/>
          </a:p>
          <a:p>
            <a:pPr indent="0" lvl="0" marL="0" rtl="0" algn="l">
              <a:lnSpc>
                <a:spcPct val="115000"/>
              </a:lnSpc>
              <a:spcBef>
                <a:spcPts val="0"/>
              </a:spcBef>
              <a:spcAft>
                <a:spcPts val="0"/>
              </a:spcAft>
              <a:buSzPts val="1100"/>
              <a:buNone/>
            </a:pPr>
            <a:r>
              <a:rPr lang="en-US" sz="1100"/>
              <a:t>end</a:t>
            </a:r>
            <a:endParaRPr sz="1100"/>
          </a:p>
          <a:p>
            <a:pPr indent="0" lvl="0" marL="0" rtl="0" algn="l">
              <a:lnSpc>
                <a:spcPct val="115000"/>
              </a:lnSpc>
              <a:spcBef>
                <a:spcPts val="1200"/>
              </a:spcBef>
              <a:spcAft>
                <a:spcPts val="0"/>
              </a:spcAft>
              <a:buSzPts val="1100"/>
              <a:buNone/>
            </a:pPr>
            <a:r>
              <a:rPr lang="en-US" sz="1100"/>
              <a:t>Now Julia picks the right version depending on what you pass in:</a:t>
            </a:r>
            <a:endParaRPr sz="1100"/>
          </a:p>
          <a:p>
            <a:pPr indent="0" lvl="0" marL="0" rtl="0" algn="l">
              <a:lnSpc>
                <a:spcPct val="115000"/>
              </a:lnSpc>
              <a:spcBef>
                <a:spcPts val="1200"/>
              </a:spcBef>
              <a:spcAft>
                <a:spcPts val="0"/>
              </a:spcAft>
              <a:buSzPts val="1100"/>
              <a:buNone/>
            </a:pPr>
            <a:r>
              <a:rPr lang="en-US" sz="1100"/>
              <a:t>greet("Devin")   # Hello, Devin</a:t>
            </a:r>
            <a:endParaRPr sz="1100"/>
          </a:p>
          <a:p>
            <a:pPr indent="0" lvl="0" marL="0" rtl="0" algn="l">
              <a:lnSpc>
                <a:spcPct val="115000"/>
              </a:lnSpc>
              <a:spcBef>
                <a:spcPts val="0"/>
              </a:spcBef>
              <a:spcAft>
                <a:spcPts val="0"/>
              </a:spcAft>
              <a:buSzPts val="1100"/>
              <a:buNone/>
            </a:pPr>
            <a:r>
              <a:rPr lang="en-US" sz="1100"/>
              <a:t>greet(7)         # Your number is 7</a:t>
            </a:r>
            <a:endParaRPr sz="1100"/>
          </a:p>
          <a:p>
            <a:pPr indent="0" lvl="0" marL="0" rtl="0" algn="l">
              <a:lnSpc>
                <a:spcPct val="115000"/>
              </a:lnSpc>
              <a:spcBef>
                <a:spcPts val="1200"/>
              </a:spcBef>
              <a:spcAft>
                <a:spcPts val="0"/>
              </a:spcAft>
              <a:buSzPts val="1100"/>
              <a:buNone/>
            </a:pPr>
            <a:r>
              <a:rPr lang="en-US" sz="1100"/>
              <a:t>With </a:t>
            </a:r>
            <a:r>
              <a:rPr b="1" lang="en-US" sz="1100"/>
              <a:t>multiple dispatch</a:t>
            </a:r>
            <a:r>
              <a:rPr lang="en-US" sz="1100"/>
              <a:t>, Julia can also look at </a:t>
            </a:r>
            <a:r>
              <a:rPr b="1" lang="en-US" sz="1100"/>
              <a:t>more than one parameter</a:t>
            </a:r>
            <a:r>
              <a:rPr lang="en-US" sz="1100"/>
              <a:t>:</a:t>
            </a:r>
            <a:endParaRPr sz="1100"/>
          </a:p>
          <a:p>
            <a:pPr indent="0" lvl="0" marL="139700" rtl="0" algn="l">
              <a:lnSpc>
                <a:spcPct val="115000"/>
              </a:lnSpc>
              <a:spcBef>
                <a:spcPts val="1200"/>
              </a:spcBef>
              <a:spcAft>
                <a:spcPts val="0"/>
              </a:spcAft>
              <a:buSzPts val="1100"/>
              <a:buNone/>
            </a:pPr>
            <a:r>
              <a:t/>
            </a:r>
            <a:endParaRPr sz="1050">
              <a:solidFill>
                <a:srgbClr val="0E0E0E"/>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US" sz="1100"/>
              <a:t>Bioinformatics pipelines</a:t>
            </a:r>
            <a:br>
              <a:rPr b="1" lang="en-US" sz="1100"/>
            </a:br>
            <a:r>
              <a:rPr lang="en-US" sz="1100"/>
              <a:t> Scientists can build workflows for tasks like sequence alignment, variant calling, phylogenetics, and protein analysis. Julia is helpful because it handles heavy numerical work well without being as slow as many scripting languages.</a:t>
            </a:r>
            <a:endParaRPr sz="1100"/>
          </a:p>
          <a:p>
            <a:pPr indent="0" lvl="0" marL="0" rtl="0" algn="l">
              <a:spcBef>
                <a:spcPts val="0"/>
              </a:spcBef>
              <a:spcAft>
                <a:spcPts val="0"/>
              </a:spcAft>
              <a:buClr>
                <a:schemeClr val="dk1"/>
              </a:buClr>
              <a:buSzPts val="1100"/>
              <a:buFont typeface="Arial"/>
              <a:buNone/>
            </a:pPr>
            <a:r>
              <a:rPr b="1" lang="en-US" sz="1100"/>
              <a:t>Machine learning in healthcare and biology</a:t>
            </a:r>
            <a:br>
              <a:rPr b="1" lang="en-US" sz="1100"/>
            </a:br>
            <a:r>
              <a:rPr lang="en-US" sz="1100"/>
              <a:t> Julia can train models to predict disease risk, classify medical images, or detect patterns in genetic data. This is useful in precision medicine and biomedical research.</a:t>
            </a:r>
            <a:endParaRPr sz="1100"/>
          </a:p>
          <a:p>
            <a:pPr indent="0" lvl="0" marL="0" rtl="0" algn="l">
              <a:spcBef>
                <a:spcPts val="0"/>
              </a:spcBef>
              <a:spcAft>
                <a:spcPts val="0"/>
              </a:spcAft>
              <a:buClr>
                <a:schemeClr val="dk1"/>
              </a:buClr>
              <a:buSzPts val="1100"/>
              <a:buFont typeface="Arial"/>
              <a:buNone/>
            </a:pPr>
            <a:r>
              <a:rPr b="1" lang="en-US" sz="1100"/>
              <a:t>Mathematical modeling of diseases</a:t>
            </a:r>
            <a:br>
              <a:rPr b="1" lang="en-US" sz="1100"/>
            </a:br>
            <a:r>
              <a:rPr lang="en-US" sz="1100"/>
              <a:t> Researchers use Julia to simulate how diseases spread, how tumors grow, or how cells behave over time. Its speed makes it good for running many simulations.</a:t>
            </a:r>
            <a:endParaRPr sz="1100"/>
          </a:p>
          <a:p>
            <a:pPr indent="0" lvl="0" marL="0" rtl="0" algn="l">
              <a:spcBef>
                <a:spcPts val="0"/>
              </a:spcBef>
              <a:spcAft>
                <a:spcPts val="0"/>
              </a:spcAft>
              <a:buClr>
                <a:schemeClr val="dk1"/>
              </a:buClr>
              <a:buSzPts val="1100"/>
              <a:buFont typeface="Arial"/>
              <a:buNone/>
            </a:pPr>
            <a:r>
              <a:rPr b="1" lang="en-US" sz="1100"/>
              <a:t>Drug discovery and computational chemistry</a:t>
            </a:r>
            <a:br>
              <a:rPr b="1" lang="en-US" sz="1100"/>
            </a:br>
            <a:r>
              <a:rPr lang="en-US" sz="1100"/>
              <a:t> Julia can help model molecular interactions, optimize chemical compounds, and run simulations used in pharmaceutical research.</a:t>
            </a:r>
            <a:endParaRPr sz="1100"/>
          </a:p>
          <a:p>
            <a:pPr indent="0" lvl="0" marL="0" rtl="0" algn="l">
              <a:spcBef>
                <a:spcPts val="0"/>
              </a:spcBef>
              <a:spcAft>
                <a:spcPts val="0"/>
              </a:spcAft>
              <a:buClr>
                <a:schemeClr val="dk1"/>
              </a:buClr>
              <a:buSzPts val="1100"/>
              <a:buFont typeface="Arial"/>
              <a:buNone/>
            </a:pPr>
            <a:r>
              <a:rPr b="1" lang="en-US" sz="1100"/>
              <a:t>Physics simulations</a:t>
            </a:r>
            <a:br>
              <a:rPr b="1" lang="en-US" sz="1100"/>
            </a:br>
            <a:r>
              <a:rPr lang="en-US" sz="1100"/>
              <a:t> It is often used for particle simulations, fluid dynamics, orbital mechanics, and other computational physics problems that need high performance.</a:t>
            </a:r>
            <a:endParaRPr sz="1100"/>
          </a:p>
          <a:p>
            <a:pPr indent="0" lvl="0" marL="0" rtl="0" algn="l">
              <a:spcBef>
                <a:spcPts val="0"/>
              </a:spcBef>
              <a:spcAft>
                <a:spcPts val="0"/>
              </a:spcAft>
              <a:buClr>
                <a:schemeClr val="dk1"/>
              </a:buClr>
              <a:buSzPts val="1100"/>
              <a:buFont typeface="Arial"/>
              <a:buNone/>
            </a:pPr>
            <a:r>
              <a:rPr b="1" lang="en-US" sz="1100"/>
              <a:t>Climate and environmental science</a:t>
            </a:r>
            <a:br>
              <a:rPr b="1" lang="en-US" sz="1100"/>
            </a:br>
            <a:r>
              <a:rPr lang="en-US" sz="1100"/>
              <a:t> Julia can model weather systems, pollution spread, ocean behavior, and climate change scenarios using large datasets and numerical equations.</a:t>
            </a:r>
            <a:endParaRPr sz="1100"/>
          </a:p>
          <a:p>
            <a:pPr indent="0" lvl="0" marL="0" rtl="0" algn="l">
              <a:spcBef>
                <a:spcPts val="0"/>
              </a:spcBef>
              <a:spcAft>
                <a:spcPts val="0"/>
              </a:spcAft>
              <a:buClr>
                <a:schemeClr val="dk1"/>
              </a:buClr>
              <a:buSzPts val="1100"/>
              <a:buFont typeface="Arial"/>
              <a:buNone/>
            </a:pPr>
            <a:r>
              <a:rPr b="1" lang="en-US" sz="1100"/>
              <a:t>Neuroscience</a:t>
            </a:r>
            <a:br>
              <a:rPr b="1" lang="en-US" sz="1100"/>
            </a:br>
            <a:r>
              <a:rPr lang="en-US" sz="1100"/>
              <a:t> Researchers can use Julia to model neural networks, brain activity, and signal processing from EEG or other brain data.</a:t>
            </a:r>
            <a:endParaRPr sz="1100"/>
          </a:p>
          <a:p>
            <a:pPr indent="0" lvl="0" marL="0" rtl="0" algn="l">
              <a:spcBef>
                <a:spcPts val="0"/>
              </a:spcBef>
              <a:spcAft>
                <a:spcPts val="0"/>
              </a:spcAft>
              <a:buClr>
                <a:schemeClr val="dk1"/>
              </a:buClr>
              <a:buSzPts val="1100"/>
              <a:buFont typeface="Arial"/>
              <a:buNone/>
            </a:pPr>
            <a:r>
              <a:rPr b="1" lang="en-US" sz="1100"/>
              <a:t>Astronomy and space science</a:t>
            </a:r>
            <a:br>
              <a:rPr b="1" lang="en-US" sz="1100"/>
            </a:br>
            <a:r>
              <a:rPr lang="en-US" sz="1100"/>
              <a:t> Julia works well for analyzing telescope data, simulating planetary motion, and processing large scientific datasets from observations.</a:t>
            </a:r>
            <a:endParaRPr sz="1100"/>
          </a:p>
          <a:p>
            <a:pPr indent="0" lvl="0" marL="0" rtl="0" algn="l">
              <a:spcBef>
                <a:spcPts val="0"/>
              </a:spcBef>
              <a:spcAft>
                <a:spcPts val="0"/>
              </a:spcAft>
              <a:buNone/>
            </a:pPr>
            <a:r>
              <a:t/>
            </a:r>
            <a:endParaRPr/>
          </a:p>
        </p:txBody>
      </p:sp>
      <p:sp>
        <p:nvSpPr>
          <p:cNvPr id="304" name="Google Shape;304;g3d81e200f7a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d81e200f7a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d81e200f7a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A big part of Julia’s history is that it was created to address what people call the two-language problem. In a lot of technical fields, developers prototype in an easier language like Python or MATLAB, but then have to rewrite the important parts in C or C++ for speed. Julia was designed to reduce that need by being both high-level and high-performance.</a:t>
            </a:r>
            <a:endParaRPr sz="1100"/>
          </a:p>
          <a:p>
            <a:pPr indent="0" lvl="0" marL="0" rtl="0" algn="l">
              <a:lnSpc>
                <a:spcPct val="115000"/>
              </a:lnSpc>
              <a:spcBef>
                <a:spcPts val="1400"/>
              </a:spcBef>
              <a:spcAft>
                <a:spcPts val="0"/>
              </a:spcAft>
              <a:buClr>
                <a:schemeClr val="dk1"/>
              </a:buClr>
              <a:buSzPts val="1100"/>
              <a:buFont typeface="Arial"/>
              <a:buNone/>
            </a:pPr>
            <a:r>
              <a:rPr b="1" lang="en-US" sz="1300"/>
              <a:t>Small “interesting fact” style lines</a:t>
            </a:r>
            <a:endParaRPr b="1" sz="1300"/>
          </a:p>
          <a:p>
            <a:pPr indent="-298450" lvl="0" marL="457200" rtl="0" algn="l">
              <a:lnSpc>
                <a:spcPct val="115000"/>
              </a:lnSpc>
              <a:spcBef>
                <a:spcPts val="1200"/>
              </a:spcBef>
              <a:spcAft>
                <a:spcPts val="0"/>
              </a:spcAft>
              <a:buClr>
                <a:schemeClr val="dk1"/>
              </a:buClr>
              <a:buSzPts val="1100"/>
              <a:buChar char="●"/>
            </a:pPr>
            <a:r>
              <a:rPr lang="en-US" sz="1100"/>
              <a:t>Julia is newer than languages like Java, Python, and C++, so it comes from a more modern design perspective.</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Its creators were especially focused on technical computing, which is why Julia gets talked about so much in math-heavy and research-heavy work.</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Julia’s early reputation was strongly tied to scientific computing, but people now use it in more areas like finance, optimization, and machine learning.</a:t>
            </a:r>
            <a:endParaRPr sz="1100"/>
          </a:p>
          <a:p>
            <a:pPr indent="0" lvl="0" marL="0" rtl="0" algn="l">
              <a:spcBef>
                <a:spcPts val="1200"/>
              </a:spcBef>
              <a:spcAft>
                <a:spcPts val="0"/>
              </a:spcAft>
              <a:buNone/>
            </a:pPr>
            <a:r>
              <a:t/>
            </a:r>
            <a:endParaRPr/>
          </a:p>
        </p:txBody>
      </p:sp>
      <p:sp>
        <p:nvSpPr>
          <p:cNvPr id="333" name="Google Shape;333;g3d81e200f7a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d81e200f7a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g3d81e200f7a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One reason Julia stood out to us is that it was built with performance in mind, including support for parallel and high-performance computing. In larger technical projects, that matters because work can be spread across multiple cores or processes instead of being handled one step at a time. We did not fully use parallel programming in our project, but it was still one of the reasons Julia seemed like a good language to explore for a fraud detection problem.</a:t>
            </a:r>
            <a:endParaRPr sz="1100"/>
          </a:p>
          <a:p>
            <a:pPr indent="0" lvl="0" marL="0" rtl="0" algn="l">
              <a:lnSpc>
                <a:spcPct val="115000"/>
              </a:lnSpc>
              <a:spcBef>
                <a:spcPts val="1200"/>
              </a:spcBef>
              <a:spcAft>
                <a:spcPts val="0"/>
              </a:spcAft>
              <a:buClr>
                <a:schemeClr val="dk1"/>
              </a:buClr>
              <a:buSzPts val="1100"/>
              <a:buFont typeface="Arial"/>
              <a:buNone/>
            </a:pPr>
            <a:r>
              <a:rPr lang="en-US" sz="1100"/>
              <a:t>And here is an even more careful version, in case you want to avoid sounding like your project directly used it:</a:t>
            </a:r>
            <a:endParaRPr sz="1100"/>
          </a:p>
          <a:p>
            <a:pPr indent="0" lvl="0" marL="0" rtl="0" algn="l">
              <a:lnSpc>
                <a:spcPct val="115000"/>
              </a:lnSpc>
              <a:spcBef>
                <a:spcPts val="1200"/>
              </a:spcBef>
              <a:spcAft>
                <a:spcPts val="0"/>
              </a:spcAft>
              <a:buClr>
                <a:schemeClr val="dk1"/>
              </a:buClr>
              <a:buSzPts val="1100"/>
              <a:buFont typeface="Arial"/>
              <a:buNone/>
            </a:pPr>
            <a:r>
              <a:rPr lang="en-US" sz="1100"/>
              <a:t>Julia is often associated with parallel and high-performance computing, which was one of the reasons it interested us as a language. While our fraud detection demo did not end up using a fully parallel implementation, the language’s design around performance and scalability still made it a strong match for a data-heavy problem like this one.</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spcBef>
                <a:spcPts val="1200"/>
              </a:spcBef>
              <a:spcAft>
                <a:spcPts val="0"/>
              </a:spcAft>
              <a:buSzPts val="1100"/>
              <a:buNone/>
            </a:pPr>
            <a:r>
              <a:t/>
            </a:r>
            <a:endParaRPr/>
          </a:p>
          <a:p>
            <a:pPr indent="0" lvl="0" marL="0" rtl="0" algn="l">
              <a:spcBef>
                <a:spcPts val="0"/>
              </a:spcBef>
              <a:spcAft>
                <a:spcPts val="0"/>
              </a:spcAft>
              <a:buSzPts val="1100"/>
              <a:buNone/>
            </a:pPr>
            <a:r>
              <a:rPr b="1" lang="en-US" sz="1100"/>
              <a:t>Bioinformatics pipelines</a:t>
            </a:r>
            <a:br>
              <a:rPr b="1" lang="en-US" sz="1100"/>
            </a:br>
            <a:r>
              <a:rPr lang="en-US" sz="1100"/>
              <a:t> Scientists can build workflows for tasks like sequence alignment, variant calling, phylogenetics, and protein analysis. Julia is helpful because it handles heavy numerical work well without being as slow as many scripting languages.</a:t>
            </a:r>
            <a:endParaRPr sz="1100"/>
          </a:p>
          <a:p>
            <a:pPr indent="0" lvl="0" marL="0" rtl="0" algn="l">
              <a:spcBef>
                <a:spcPts val="0"/>
              </a:spcBef>
              <a:spcAft>
                <a:spcPts val="0"/>
              </a:spcAft>
              <a:buSzPts val="1100"/>
              <a:buNone/>
            </a:pPr>
            <a:r>
              <a:rPr b="1" lang="en-US" sz="1100"/>
              <a:t>Machine learning in healthcare and biology</a:t>
            </a:r>
            <a:br>
              <a:rPr b="1" lang="en-US" sz="1100"/>
            </a:br>
            <a:r>
              <a:rPr lang="en-US" sz="1100"/>
              <a:t> Julia can train models to predict disease risk, classify medical images, or detect patterns in genetic data. This is useful in precision medicine and biomedical research.</a:t>
            </a:r>
            <a:endParaRPr sz="1100"/>
          </a:p>
          <a:p>
            <a:pPr indent="0" lvl="0" marL="0" rtl="0" algn="l">
              <a:spcBef>
                <a:spcPts val="0"/>
              </a:spcBef>
              <a:spcAft>
                <a:spcPts val="0"/>
              </a:spcAft>
              <a:buSzPts val="1100"/>
              <a:buNone/>
            </a:pPr>
            <a:r>
              <a:rPr b="1" lang="en-US" sz="1100"/>
              <a:t>Mathematical modeling of diseases</a:t>
            </a:r>
            <a:br>
              <a:rPr b="1" lang="en-US" sz="1100"/>
            </a:br>
            <a:r>
              <a:rPr lang="en-US" sz="1100"/>
              <a:t> Researchers use Julia to simulate how diseases spread, how tumors grow, or how cells behave over time. Its speed makes it good for running many simulations.</a:t>
            </a:r>
            <a:endParaRPr sz="1100"/>
          </a:p>
          <a:p>
            <a:pPr indent="0" lvl="0" marL="0" rtl="0" algn="l">
              <a:spcBef>
                <a:spcPts val="0"/>
              </a:spcBef>
              <a:spcAft>
                <a:spcPts val="0"/>
              </a:spcAft>
              <a:buSzPts val="1100"/>
              <a:buNone/>
            </a:pPr>
            <a:r>
              <a:rPr b="1" lang="en-US" sz="1100"/>
              <a:t>Drug discovery and computational chemistry</a:t>
            </a:r>
            <a:br>
              <a:rPr b="1" lang="en-US" sz="1100"/>
            </a:br>
            <a:r>
              <a:rPr lang="en-US" sz="1100"/>
              <a:t> Julia can help model molecular interactions, optimize chemical compounds, and run simulations used in pharmaceutical research.</a:t>
            </a:r>
            <a:endParaRPr sz="1100"/>
          </a:p>
          <a:p>
            <a:pPr indent="0" lvl="0" marL="0" rtl="0" algn="l">
              <a:spcBef>
                <a:spcPts val="0"/>
              </a:spcBef>
              <a:spcAft>
                <a:spcPts val="0"/>
              </a:spcAft>
              <a:buSzPts val="1100"/>
              <a:buNone/>
            </a:pPr>
            <a:r>
              <a:rPr b="1" lang="en-US" sz="1100"/>
              <a:t>Physics simulations</a:t>
            </a:r>
            <a:br>
              <a:rPr b="1" lang="en-US" sz="1100"/>
            </a:br>
            <a:r>
              <a:rPr lang="en-US" sz="1100"/>
              <a:t> It is often used for particle simulations, fluid dynamics, orbital mechanics, and other computational physics problems that need high performance.</a:t>
            </a:r>
            <a:endParaRPr sz="1100"/>
          </a:p>
          <a:p>
            <a:pPr indent="0" lvl="0" marL="0" rtl="0" algn="l">
              <a:spcBef>
                <a:spcPts val="0"/>
              </a:spcBef>
              <a:spcAft>
                <a:spcPts val="0"/>
              </a:spcAft>
              <a:buSzPts val="1100"/>
              <a:buNone/>
            </a:pPr>
            <a:r>
              <a:rPr b="1" lang="en-US" sz="1100"/>
              <a:t>Climate and environmental science</a:t>
            </a:r>
            <a:br>
              <a:rPr b="1" lang="en-US" sz="1100"/>
            </a:br>
            <a:r>
              <a:rPr lang="en-US" sz="1100"/>
              <a:t> Julia can model weather systems, pollution spread, ocean behavior, and climate change scenarios using large datasets and numerical equations.</a:t>
            </a:r>
            <a:endParaRPr sz="1100"/>
          </a:p>
          <a:p>
            <a:pPr indent="0" lvl="0" marL="0" rtl="0" algn="l">
              <a:spcBef>
                <a:spcPts val="0"/>
              </a:spcBef>
              <a:spcAft>
                <a:spcPts val="0"/>
              </a:spcAft>
              <a:buSzPts val="1100"/>
              <a:buNone/>
            </a:pPr>
            <a:r>
              <a:rPr b="1" lang="en-US" sz="1100"/>
              <a:t>Neuroscience</a:t>
            </a:r>
            <a:br>
              <a:rPr b="1" lang="en-US" sz="1100"/>
            </a:br>
            <a:r>
              <a:rPr lang="en-US" sz="1100"/>
              <a:t> Researchers can use Julia to model neural networks, brain activity, and signal processing from EEG or other brain data.</a:t>
            </a:r>
            <a:endParaRPr sz="1100"/>
          </a:p>
          <a:p>
            <a:pPr indent="0" lvl="0" marL="0" rtl="0" algn="l">
              <a:spcBef>
                <a:spcPts val="0"/>
              </a:spcBef>
              <a:spcAft>
                <a:spcPts val="0"/>
              </a:spcAft>
              <a:buSzPts val="1100"/>
              <a:buNone/>
            </a:pPr>
            <a:r>
              <a:rPr b="1" lang="en-US" sz="1100"/>
              <a:t>Astronomy and space science</a:t>
            </a:r>
            <a:br>
              <a:rPr b="1" lang="en-US" sz="1100"/>
            </a:br>
            <a:r>
              <a:rPr lang="en-US" sz="1100"/>
              <a:t> Julia works well for analyzing telescope data, simulating planetary motion, and processing large scientific datasets from observations.</a:t>
            </a:r>
            <a:endParaRPr sz="1100"/>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SzPts val="1100"/>
              <a:buNone/>
            </a:pPr>
            <a:r>
              <a:rPr lang="en-US"/>
              <a:t>Dynamically typed, checks at runtime</a:t>
            </a:r>
            <a:endParaRPr/>
          </a:p>
          <a:p>
            <a:pPr indent="0" lvl="0" marL="0" rtl="0" algn="l">
              <a:lnSpc>
                <a:spcPct val="115000"/>
              </a:lnSpc>
              <a:spcBef>
                <a:spcPts val="1200"/>
              </a:spcBef>
              <a:spcAft>
                <a:spcPts val="0"/>
              </a:spcAft>
              <a:buSzPts val="1100"/>
              <a:buNone/>
            </a:pPr>
            <a:r>
              <a:rPr b="1" lang="en-US" sz="1100"/>
              <a:t>Multiple dispatch</a:t>
            </a:r>
            <a:r>
              <a:rPr lang="en-US" sz="1100"/>
              <a:t> means Julia chooses which function to run based on the </a:t>
            </a:r>
            <a:r>
              <a:rPr b="1" lang="en-US" sz="1100"/>
              <a:t>types of all the arguments</a:t>
            </a:r>
            <a:r>
              <a:rPr lang="en-US" sz="1100"/>
              <a:t>, not just one.</a:t>
            </a:r>
            <a:endParaRPr sz="1100"/>
          </a:p>
          <a:p>
            <a:pPr indent="0" lvl="0" marL="0" rtl="0" algn="l">
              <a:lnSpc>
                <a:spcPct val="115000"/>
              </a:lnSpc>
              <a:spcBef>
                <a:spcPts val="1200"/>
              </a:spcBef>
              <a:spcAft>
                <a:spcPts val="0"/>
              </a:spcAft>
              <a:buSzPts val="1100"/>
              <a:buNone/>
            </a:pPr>
            <a:r>
              <a:rPr lang="en-US" sz="1100"/>
              <a:t>Example:</a:t>
            </a:r>
            <a:endParaRPr sz="1100"/>
          </a:p>
          <a:p>
            <a:pPr indent="0" lvl="0" marL="0" rtl="0" algn="l">
              <a:lnSpc>
                <a:spcPct val="115000"/>
              </a:lnSpc>
              <a:spcBef>
                <a:spcPts val="1200"/>
              </a:spcBef>
              <a:spcAft>
                <a:spcPts val="0"/>
              </a:spcAft>
              <a:buSzPts val="1100"/>
              <a:buNone/>
            </a:pPr>
            <a:r>
              <a:rPr lang="en-US" sz="1100"/>
              <a:t>function greet(x::String)</a:t>
            </a:r>
            <a:endParaRPr sz="1100"/>
          </a:p>
          <a:p>
            <a:pPr indent="0" lvl="0" marL="0" rtl="0" algn="l">
              <a:lnSpc>
                <a:spcPct val="115000"/>
              </a:lnSpc>
              <a:spcBef>
                <a:spcPts val="0"/>
              </a:spcBef>
              <a:spcAft>
                <a:spcPts val="0"/>
              </a:spcAft>
              <a:buSzPts val="1100"/>
              <a:buNone/>
            </a:pPr>
            <a:r>
              <a:rPr lang="en-US" sz="1100"/>
              <a:t>   println("Hello, $x")</a:t>
            </a:r>
            <a:endParaRPr sz="1100"/>
          </a:p>
          <a:p>
            <a:pPr indent="0" lvl="0" marL="0" rtl="0" algn="l">
              <a:lnSpc>
                <a:spcPct val="115000"/>
              </a:lnSpc>
              <a:spcBef>
                <a:spcPts val="0"/>
              </a:spcBef>
              <a:spcAft>
                <a:spcPts val="0"/>
              </a:spcAft>
              <a:buSzPts val="1100"/>
              <a:buNone/>
            </a:pPr>
            <a:r>
              <a:rPr lang="en-US" sz="1100"/>
              <a:t>end</a:t>
            </a:r>
            <a:endParaRPr sz="1100"/>
          </a:p>
          <a:p>
            <a:pPr indent="0" lvl="0" marL="0" rtl="0" algn="l">
              <a:lnSpc>
                <a:spcPct val="115000"/>
              </a:lnSpc>
              <a:spcBef>
                <a:spcPts val="0"/>
              </a:spcBef>
              <a:spcAft>
                <a:spcPts val="0"/>
              </a:spcAft>
              <a:buSzPts val="1100"/>
              <a:buNone/>
            </a:pPr>
            <a:r>
              <a:t/>
            </a:r>
            <a:endParaRPr sz="1100"/>
          </a:p>
          <a:p>
            <a:pPr indent="0" lvl="0" marL="0" rtl="0" algn="l">
              <a:lnSpc>
                <a:spcPct val="115000"/>
              </a:lnSpc>
              <a:spcBef>
                <a:spcPts val="0"/>
              </a:spcBef>
              <a:spcAft>
                <a:spcPts val="0"/>
              </a:spcAft>
              <a:buSzPts val="1100"/>
              <a:buNone/>
            </a:pPr>
            <a:r>
              <a:rPr lang="en-US" sz="1100"/>
              <a:t>function greet(x::Int)</a:t>
            </a:r>
            <a:endParaRPr sz="1100"/>
          </a:p>
          <a:p>
            <a:pPr indent="0" lvl="0" marL="0" rtl="0" algn="l">
              <a:lnSpc>
                <a:spcPct val="115000"/>
              </a:lnSpc>
              <a:spcBef>
                <a:spcPts val="0"/>
              </a:spcBef>
              <a:spcAft>
                <a:spcPts val="0"/>
              </a:spcAft>
              <a:buSzPts val="1100"/>
              <a:buNone/>
            </a:pPr>
            <a:r>
              <a:rPr lang="en-US" sz="1100"/>
              <a:t>   println("Your number is $x")</a:t>
            </a:r>
            <a:endParaRPr sz="1100"/>
          </a:p>
          <a:p>
            <a:pPr indent="0" lvl="0" marL="0" rtl="0" algn="l">
              <a:lnSpc>
                <a:spcPct val="115000"/>
              </a:lnSpc>
              <a:spcBef>
                <a:spcPts val="0"/>
              </a:spcBef>
              <a:spcAft>
                <a:spcPts val="0"/>
              </a:spcAft>
              <a:buSzPts val="1100"/>
              <a:buNone/>
            </a:pPr>
            <a:r>
              <a:rPr lang="en-US" sz="1100"/>
              <a:t>end</a:t>
            </a:r>
            <a:endParaRPr sz="1100"/>
          </a:p>
          <a:p>
            <a:pPr indent="0" lvl="0" marL="0" rtl="0" algn="l">
              <a:lnSpc>
                <a:spcPct val="115000"/>
              </a:lnSpc>
              <a:spcBef>
                <a:spcPts val="1200"/>
              </a:spcBef>
              <a:spcAft>
                <a:spcPts val="0"/>
              </a:spcAft>
              <a:buSzPts val="1100"/>
              <a:buNone/>
            </a:pPr>
            <a:r>
              <a:rPr lang="en-US" sz="1100"/>
              <a:t>Now Julia picks the right version depending on what you pass in:</a:t>
            </a:r>
            <a:endParaRPr sz="1100"/>
          </a:p>
          <a:p>
            <a:pPr indent="0" lvl="0" marL="0" rtl="0" algn="l">
              <a:lnSpc>
                <a:spcPct val="115000"/>
              </a:lnSpc>
              <a:spcBef>
                <a:spcPts val="1200"/>
              </a:spcBef>
              <a:spcAft>
                <a:spcPts val="0"/>
              </a:spcAft>
              <a:buSzPts val="1100"/>
              <a:buNone/>
            </a:pPr>
            <a:r>
              <a:rPr lang="en-US" sz="1100"/>
              <a:t>greet("Devin")   # Hello, Devin</a:t>
            </a:r>
            <a:endParaRPr sz="1100"/>
          </a:p>
          <a:p>
            <a:pPr indent="0" lvl="0" marL="0" rtl="0" algn="l">
              <a:lnSpc>
                <a:spcPct val="115000"/>
              </a:lnSpc>
              <a:spcBef>
                <a:spcPts val="0"/>
              </a:spcBef>
              <a:spcAft>
                <a:spcPts val="0"/>
              </a:spcAft>
              <a:buSzPts val="1100"/>
              <a:buNone/>
            </a:pPr>
            <a:r>
              <a:rPr lang="en-US" sz="1100"/>
              <a:t>greet(7)         # Your number is 7</a:t>
            </a:r>
            <a:endParaRPr sz="1100"/>
          </a:p>
          <a:p>
            <a:pPr indent="0" lvl="0" marL="0" rtl="0" algn="l">
              <a:lnSpc>
                <a:spcPct val="115000"/>
              </a:lnSpc>
              <a:spcBef>
                <a:spcPts val="1200"/>
              </a:spcBef>
              <a:spcAft>
                <a:spcPts val="0"/>
              </a:spcAft>
              <a:buSzPts val="1100"/>
              <a:buNone/>
            </a:pPr>
            <a:r>
              <a:rPr lang="en-US" sz="1100"/>
              <a:t>With </a:t>
            </a:r>
            <a:r>
              <a:rPr b="1" lang="en-US" sz="1100"/>
              <a:t>multiple dispatch</a:t>
            </a:r>
            <a:r>
              <a:rPr lang="en-US" sz="1100"/>
              <a:t>, Julia can also look at </a:t>
            </a:r>
            <a:r>
              <a:rPr b="1" lang="en-US" sz="1100"/>
              <a:t>more than one parameter</a:t>
            </a:r>
            <a:r>
              <a:rPr lang="en-US" sz="1100"/>
              <a:t>:</a:t>
            </a:r>
            <a:endParaRPr sz="1100"/>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77" name="Google Shape;377;g3d81e200f7a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github.com/DevinW2304/ITCS-4102" TargetMode="Externa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www.kaggle.com/datasets/mtalaltariq/paysim-dat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erver.js" TargetMode="External"/><Relationship Id="rId4" Type="http://schemas.openxmlformats.org/officeDocument/2006/relationships/image" Target="../media/image8.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github.com/DevinW2304/ITCS-4102" TargetMode="External"/><Relationship Id="rId4" Type="http://schemas.openxmlformats.org/officeDocument/2006/relationships/image" Target="../media/image7.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eluminoustechnologies.com/blog/julia-vs-python/" TargetMode="External"/><Relationship Id="rId4" Type="http://schemas.openxmlformats.org/officeDocument/2006/relationships/hyperlink" Target="https://www.ftc.gov/news-events/news/press-releases/2026/03/ftc-testifies-joint-economic-committee-agencys-efforts-combat-fraud?utm_source=chatgpt.com" TargetMode="External"/><Relationship Id="rId5" Type="http://schemas.openxmlformats.org/officeDocument/2006/relationships/hyperlink" Target="https://juliacon.org/2016/" TargetMode="External"/><Relationship Id="rId6" Type="http://schemas.openxmlformats.org/officeDocument/2006/relationships/hyperlink" Target="https://www.vecteezy.com/vector-art/17119660-github-logo-git-hub-icon-with-text-on-white-and-black-background" TargetMode="External"/><Relationship Id="rId7" Type="http://schemas.openxmlformats.org/officeDocument/2006/relationships/hyperlink" Target="https://docs.julialang.org/en/v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5" name="Shape 15"/>
        <p:cNvGrpSpPr/>
        <p:nvPr/>
      </p:nvGrpSpPr>
      <p:grpSpPr>
        <a:xfrm>
          <a:off x="0" y="0"/>
          <a:ext cx="0" cy="0"/>
          <a:chOff x="0" y="0"/>
          <a:chExt cx="0" cy="0"/>
        </a:xfrm>
      </p:grpSpPr>
      <p:sp>
        <p:nvSpPr>
          <p:cNvPr id="16" name="Google Shape;16;p3"/>
          <p:cNvSpPr/>
          <p:nvPr/>
        </p:nvSpPr>
        <p:spPr>
          <a:xfrm>
            <a:off x="0" y="0"/>
            <a:ext cx="12191700" cy="255900"/>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256032"/>
            <a:ext cx="12191700" cy="6602100"/>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7818120" y="1005840"/>
            <a:ext cx="3566100" cy="4572000"/>
          </a:xfrm>
          <a:prstGeom prst="roundRect">
            <a:avLst>
              <a:gd fmla="val 3077" name="adj"/>
            </a:avLst>
          </a:prstGeom>
          <a:solidFill>
            <a:srgbClr val="EAF1FF"/>
          </a:solidFill>
          <a:ln cap="flat" cmpd="sng" w="12700">
            <a:solidFill>
              <a:srgbClr val="EAF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731520" y="1097280"/>
            <a:ext cx="6035100" cy="146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800"/>
              <a:buFont typeface="Play"/>
              <a:buNone/>
            </a:pPr>
            <a:r>
              <a:rPr b="1" i="0" lang="en-US" sz="2800" u="none" cap="none" strike="noStrike">
                <a:solidFill>
                  <a:srgbClr val="1F3A5F"/>
                </a:solidFill>
                <a:latin typeface="Play"/>
                <a:ea typeface="Play"/>
                <a:cs typeface="Play"/>
                <a:sym typeface="Play"/>
              </a:rPr>
              <a:t>Fraud Detection</a:t>
            </a:r>
            <a:endParaRPr b="0" i="0" sz="2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F3A5F"/>
              </a:buClr>
              <a:buSzPts val="2800"/>
              <a:buFont typeface="Play"/>
              <a:buNone/>
            </a:pPr>
            <a:r>
              <a:rPr b="1" i="0" lang="en-US" sz="2800" u="none" cap="none" strike="noStrike">
                <a:solidFill>
                  <a:srgbClr val="1F3A5F"/>
                </a:solidFill>
                <a:latin typeface="Play"/>
                <a:ea typeface="Play"/>
                <a:cs typeface="Play"/>
                <a:sym typeface="Play"/>
              </a:rPr>
              <a:t>Using Julia</a:t>
            </a:r>
            <a:endParaRPr b="0" i="0" sz="2800" u="none" cap="none" strike="noStrike">
              <a:solidFill>
                <a:schemeClr val="dk1"/>
              </a:solidFill>
              <a:latin typeface="Arial"/>
              <a:ea typeface="Arial"/>
              <a:cs typeface="Arial"/>
              <a:sym typeface="Arial"/>
            </a:endParaRPr>
          </a:p>
        </p:txBody>
      </p:sp>
      <p:sp>
        <p:nvSpPr>
          <p:cNvPr id="20" name="Google Shape;20;p3"/>
          <p:cNvSpPr/>
          <p:nvPr/>
        </p:nvSpPr>
        <p:spPr>
          <a:xfrm>
            <a:off x="749808" y="2697480"/>
            <a:ext cx="493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500"/>
              <a:buFont typeface="Arial"/>
              <a:buNone/>
            </a:pPr>
            <a:r>
              <a:rPr i="1" lang="en-US" sz="1500">
                <a:solidFill>
                  <a:srgbClr val="5F6F82"/>
                </a:solidFill>
              </a:rPr>
              <a:t>Team 10</a:t>
            </a:r>
            <a:endParaRPr b="0" i="0" sz="1500" u="none" cap="none" strike="noStrike">
              <a:solidFill>
                <a:schemeClr val="dk1"/>
              </a:solidFill>
              <a:latin typeface="Arial"/>
              <a:ea typeface="Arial"/>
              <a:cs typeface="Arial"/>
              <a:sym typeface="Arial"/>
            </a:endParaRPr>
          </a:p>
        </p:txBody>
      </p:sp>
      <p:sp>
        <p:nvSpPr>
          <p:cNvPr id="21" name="Google Shape;21;p3"/>
          <p:cNvSpPr/>
          <p:nvPr/>
        </p:nvSpPr>
        <p:spPr>
          <a:xfrm>
            <a:off x="749808" y="3218688"/>
            <a:ext cx="5669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Devin Washington · Lavashia Crump · Angel Vilar Nolasco</a:t>
            </a:r>
            <a:endParaRPr b="0" i="0" sz="1250" u="none" cap="none" strike="noStrike">
              <a:solidFill>
                <a:schemeClr val="dk1"/>
              </a:solidFill>
              <a:latin typeface="Arial"/>
              <a:ea typeface="Arial"/>
              <a:cs typeface="Arial"/>
              <a:sym typeface="Arial"/>
            </a:endParaRPr>
          </a:p>
        </p:txBody>
      </p:sp>
      <p:sp>
        <p:nvSpPr>
          <p:cNvPr id="22" name="Google Shape;22;p3"/>
          <p:cNvSpPr/>
          <p:nvPr/>
        </p:nvSpPr>
        <p:spPr>
          <a:xfrm>
            <a:off x="749808" y="3566160"/>
            <a:ext cx="3749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150"/>
              <a:buFont typeface="Arial"/>
              <a:buNone/>
            </a:pPr>
            <a:r>
              <a:rPr b="0" i="0" lang="en-US" sz="1150" u="none" cap="none" strike="noStrike">
                <a:solidFill>
                  <a:srgbClr val="5F6F82"/>
                </a:solidFill>
                <a:latin typeface="Arial"/>
                <a:ea typeface="Arial"/>
                <a:cs typeface="Arial"/>
                <a:sym typeface="Arial"/>
              </a:rPr>
              <a:t>ITCS 4102 / 5102 Final Project</a:t>
            </a:r>
            <a:endParaRPr b="0" i="0" sz="1150" u="none" cap="none" strike="noStrike">
              <a:solidFill>
                <a:schemeClr val="dk1"/>
              </a:solidFill>
              <a:latin typeface="Arial"/>
              <a:ea typeface="Arial"/>
              <a:cs typeface="Arial"/>
              <a:sym typeface="Arial"/>
            </a:endParaRPr>
          </a:p>
        </p:txBody>
      </p:sp>
      <p:sp>
        <p:nvSpPr>
          <p:cNvPr id="23" name="Google Shape;23;p3"/>
          <p:cNvSpPr/>
          <p:nvPr/>
        </p:nvSpPr>
        <p:spPr>
          <a:xfrm>
            <a:off x="8183880" y="1325880"/>
            <a:ext cx="28347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00"/>
              <a:buFont typeface="Arial"/>
              <a:buNone/>
            </a:pPr>
            <a:r>
              <a:rPr b="0" i="0" lang="en-US" sz="1200" u="none" cap="none" strike="noStrike">
                <a:solidFill>
                  <a:srgbClr val="223245"/>
                </a:solidFill>
                <a:latin typeface="Arial"/>
                <a:ea typeface="Arial"/>
                <a:cs typeface="Arial"/>
                <a:sym typeface="Arial"/>
              </a:rPr>
              <a:t>Frontend: HTML/CSS/JavaScript</a:t>
            </a:r>
            <a:endParaRPr b="0" i="0" sz="1200" u="none" cap="none" strike="noStrike">
              <a:solidFill>
                <a:srgbClr val="223245"/>
              </a:solidFill>
              <a:latin typeface="Arial"/>
              <a:ea typeface="Arial"/>
              <a:cs typeface="Arial"/>
              <a:sym typeface="Arial"/>
            </a:endParaRPr>
          </a:p>
          <a:p>
            <a:pPr indent="0" lvl="0" marL="0" marR="0" rtl="0" algn="l">
              <a:spcBef>
                <a:spcPts val="0"/>
              </a:spcBef>
              <a:spcAft>
                <a:spcPts val="0"/>
              </a:spcAft>
              <a:buClr>
                <a:srgbClr val="223245"/>
              </a:buClr>
              <a:buSzPts val="1200"/>
              <a:buFont typeface="Arial"/>
              <a:buNone/>
            </a:pPr>
            <a:r>
              <a:t/>
            </a:r>
            <a:endParaRPr sz="1200">
              <a:solidFill>
                <a:srgbClr val="223245"/>
              </a:solidFill>
            </a:endParaRPr>
          </a:p>
          <a:p>
            <a:pPr indent="0" lvl="0" marL="0" marR="0" rtl="0" algn="l">
              <a:spcBef>
                <a:spcPts val="0"/>
              </a:spcBef>
              <a:spcAft>
                <a:spcPts val="0"/>
              </a:spcAft>
              <a:buClr>
                <a:srgbClr val="223245"/>
              </a:buClr>
              <a:buSzPts val="1200"/>
              <a:buFont typeface="Arial"/>
              <a:buNone/>
            </a:pPr>
            <a:r>
              <a:rPr b="0" i="0" lang="en-US" sz="1200" u="none" cap="none" strike="noStrike">
                <a:solidFill>
                  <a:srgbClr val="223245"/>
                </a:solidFill>
                <a:latin typeface="Arial"/>
                <a:ea typeface="Arial"/>
                <a:cs typeface="Arial"/>
                <a:sym typeface="Arial"/>
              </a:rPr>
              <a:t>Backend: Node.js + Julia</a:t>
            </a:r>
            <a:endParaRPr b="0" i="0" sz="1200" u="none" cap="none" strike="noStrike">
              <a:solidFill>
                <a:srgbClr val="223245"/>
              </a:solidFill>
              <a:latin typeface="Arial"/>
              <a:ea typeface="Arial"/>
              <a:cs typeface="Arial"/>
              <a:sym typeface="Arial"/>
            </a:endParaRPr>
          </a:p>
          <a:p>
            <a:pPr indent="0" lvl="0" marL="0" marR="0" rtl="0" algn="l">
              <a:spcBef>
                <a:spcPts val="0"/>
              </a:spcBef>
              <a:spcAft>
                <a:spcPts val="0"/>
              </a:spcAft>
              <a:buClr>
                <a:srgbClr val="223245"/>
              </a:buClr>
              <a:buSzPts val="1200"/>
              <a:buFont typeface="Arial"/>
              <a:buNone/>
            </a:pPr>
            <a:r>
              <a:t/>
            </a:r>
            <a:endParaRPr sz="1200">
              <a:solidFill>
                <a:srgbClr val="223245"/>
              </a:solidFill>
            </a:endParaRPr>
          </a:p>
          <a:p>
            <a:pPr indent="0" lvl="0" marL="0" marR="0" rtl="0" algn="l">
              <a:spcBef>
                <a:spcPts val="0"/>
              </a:spcBef>
              <a:spcAft>
                <a:spcPts val="0"/>
              </a:spcAft>
              <a:buClr>
                <a:srgbClr val="223245"/>
              </a:buClr>
              <a:buSzPts val="1200"/>
              <a:buFont typeface="Arial"/>
              <a:buNone/>
            </a:pPr>
            <a:r>
              <a:rPr b="0" i="0" lang="en-US" sz="1200" u="none" cap="none" strike="noStrike">
                <a:solidFill>
                  <a:srgbClr val="223245"/>
                </a:solidFill>
                <a:latin typeface="Arial"/>
                <a:ea typeface="Arial"/>
                <a:cs typeface="Arial"/>
                <a:sym typeface="Arial"/>
              </a:rPr>
              <a:t>Dataset: PaySim-style CSV</a:t>
            </a:r>
            <a:endParaRPr b="0" i="0" sz="1200" u="none" cap="none" strike="noStrike">
              <a:solidFill>
                <a:srgbClr val="223245"/>
              </a:solidFill>
              <a:latin typeface="Arial"/>
              <a:ea typeface="Arial"/>
              <a:cs typeface="Arial"/>
              <a:sym typeface="Arial"/>
            </a:endParaRPr>
          </a:p>
          <a:p>
            <a:pPr indent="0" lvl="0" marL="0" marR="0" rtl="0" algn="l">
              <a:spcBef>
                <a:spcPts val="0"/>
              </a:spcBef>
              <a:spcAft>
                <a:spcPts val="0"/>
              </a:spcAft>
              <a:buClr>
                <a:srgbClr val="223245"/>
              </a:buClr>
              <a:buSzPts val="1200"/>
              <a:buFont typeface="Arial"/>
              <a:buNone/>
            </a:pPr>
            <a:r>
              <a:t/>
            </a:r>
            <a:endParaRPr sz="1200">
              <a:solidFill>
                <a:srgbClr val="223245"/>
              </a:solidFill>
            </a:endParaRPr>
          </a:p>
          <a:p>
            <a:pPr indent="0" lvl="0" marL="0" marR="0" rtl="0" algn="l">
              <a:spcBef>
                <a:spcPts val="0"/>
              </a:spcBef>
              <a:spcAft>
                <a:spcPts val="0"/>
              </a:spcAft>
              <a:buClr>
                <a:srgbClr val="223245"/>
              </a:buClr>
              <a:buSzPts val="1200"/>
              <a:buFont typeface="Arial"/>
              <a:buNone/>
            </a:pPr>
            <a:r>
              <a:rPr b="0" i="0" lang="en-US" sz="1200" u="none" cap="none" strike="noStrike">
                <a:solidFill>
                  <a:srgbClr val="223245"/>
                </a:solidFill>
                <a:latin typeface="Arial"/>
                <a:ea typeface="Arial"/>
                <a:cs typeface="Arial"/>
                <a:sym typeface="Arial"/>
              </a:rPr>
              <a:t>Repo: </a:t>
            </a:r>
            <a:r>
              <a:rPr b="0" i="0" lang="en-US" sz="1200" u="sng" cap="none" strike="noStrike">
                <a:solidFill>
                  <a:schemeClr val="hlink"/>
                </a:solidFill>
                <a:latin typeface="Arial"/>
                <a:ea typeface="Arial"/>
                <a:cs typeface="Arial"/>
                <a:sym typeface="Arial"/>
                <a:hlinkClick r:id="rId3"/>
              </a:rPr>
              <a:t>github.com/DevinW2304/ITCS-4102</a:t>
            </a:r>
            <a:endParaRPr b="0" i="0" sz="1200" u="none" cap="none" strike="noStrike">
              <a:solidFill>
                <a:srgbClr val="223245"/>
              </a:solidFill>
              <a:latin typeface="Arial"/>
              <a:ea typeface="Arial"/>
              <a:cs typeface="Arial"/>
              <a:sym typeface="Arial"/>
            </a:endParaRPr>
          </a:p>
          <a:p>
            <a:pPr indent="0" lvl="0" marL="0" marR="0" rtl="0" algn="l">
              <a:spcBef>
                <a:spcPts val="0"/>
              </a:spcBef>
              <a:spcAft>
                <a:spcPts val="0"/>
              </a:spcAft>
              <a:buClr>
                <a:srgbClr val="223245"/>
              </a:buClr>
              <a:buSzPts val="1200"/>
              <a:buFont typeface="Arial"/>
              <a:buNone/>
            </a:pPr>
            <a:r>
              <a:t/>
            </a:r>
            <a:endParaRPr sz="1200">
              <a:solidFill>
                <a:srgbClr val="223245"/>
              </a:solidFill>
            </a:endParaRPr>
          </a:p>
        </p:txBody>
      </p:sp>
      <p:sp>
        <p:nvSpPr>
          <p:cNvPr id="24" name="Google Shape;24;p3"/>
          <p:cNvSpPr/>
          <p:nvPr/>
        </p:nvSpPr>
        <p:spPr>
          <a:xfrm>
            <a:off x="8183880" y="2880360"/>
            <a:ext cx="2240400" cy="274200"/>
          </a:xfrm>
          <a:prstGeom prst="roundRect">
            <a:avLst>
              <a:gd fmla="val 26667"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8257032" y="2926080"/>
            <a:ext cx="20940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900"/>
              <a:buFont typeface="Arial"/>
              <a:buNone/>
            </a:pPr>
            <a:r>
              <a:rPr b="1" i="0" lang="en-US" sz="900" u="none" cap="none" strike="noStrike">
                <a:solidFill>
                  <a:srgbClr val="1F3A5F"/>
                </a:solidFill>
                <a:latin typeface="Arial"/>
                <a:ea typeface="Arial"/>
                <a:cs typeface="Arial"/>
                <a:sym typeface="Arial"/>
              </a:rPr>
              <a:t>Rule-based scoring model</a:t>
            </a:r>
            <a:endParaRPr b="0" i="0" sz="900" u="none" cap="none" strike="noStrike">
              <a:solidFill>
                <a:schemeClr val="dk1"/>
              </a:solidFill>
              <a:latin typeface="Arial"/>
              <a:ea typeface="Arial"/>
              <a:cs typeface="Arial"/>
              <a:sym typeface="Arial"/>
            </a:endParaRPr>
          </a:p>
        </p:txBody>
      </p:sp>
      <p:sp>
        <p:nvSpPr>
          <p:cNvPr id="26" name="Google Shape;26;p3"/>
          <p:cNvSpPr/>
          <p:nvPr/>
        </p:nvSpPr>
        <p:spPr>
          <a:xfrm>
            <a:off x="8183880" y="3291840"/>
            <a:ext cx="1508700" cy="274200"/>
          </a:xfrm>
          <a:prstGeom prst="roundRect">
            <a:avLst>
              <a:gd fmla="val 26667"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8257032" y="3337560"/>
            <a:ext cx="13626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900"/>
              <a:buFont typeface="Arial"/>
              <a:buNone/>
            </a:pPr>
            <a:r>
              <a:rPr b="1" i="0" lang="en-US" sz="900" u="none" cap="none" strike="noStrike">
                <a:solidFill>
                  <a:srgbClr val="1F3A5F"/>
                </a:solidFill>
                <a:latin typeface="Arial"/>
                <a:ea typeface="Arial"/>
                <a:cs typeface="Arial"/>
                <a:sym typeface="Arial"/>
              </a:rPr>
              <a:t>Dashboard demo</a:t>
            </a:r>
            <a:endParaRPr b="0" i="0" sz="900" u="none" cap="none" strike="noStrike">
              <a:solidFill>
                <a:schemeClr val="dk1"/>
              </a:solidFill>
              <a:latin typeface="Arial"/>
              <a:ea typeface="Arial"/>
              <a:cs typeface="Arial"/>
              <a:sym typeface="Arial"/>
            </a:endParaRPr>
          </a:p>
        </p:txBody>
      </p:sp>
      <p:sp>
        <p:nvSpPr>
          <p:cNvPr id="28" name="Google Shape;28;p3"/>
          <p:cNvSpPr/>
          <p:nvPr/>
        </p:nvSpPr>
        <p:spPr>
          <a:xfrm>
            <a:off x="8183880" y="3703320"/>
            <a:ext cx="2377500" cy="274200"/>
          </a:xfrm>
          <a:prstGeom prst="roundRect">
            <a:avLst>
              <a:gd fmla="val 26667"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8257032" y="3749040"/>
            <a:ext cx="22311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900"/>
              <a:buFont typeface="Arial"/>
              <a:buNone/>
            </a:pPr>
            <a:r>
              <a:rPr b="1" i="0" lang="en-US" sz="900" u="none" cap="none" strike="noStrike">
                <a:solidFill>
                  <a:srgbClr val="1F3A5F"/>
                </a:solidFill>
                <a:latin typeface="Arial"/>
                <a:ea typeface="Arial"/>
                <a:cs typeface="Arial"/>
                <a:sym typeface="Arial"/>
              </a:rPr>
              <a:t>Language feature coverage</a:t>
            </a:r>
            <a:endParaRPr b="0" i="0" sz="900" u="none" cap="none" strike="noStrike">
              <a:solidFill>
                <a:schemeClr val="dk1"/>
              </a:solidFill>
              <a:latin typeface="Arial"/>
              <a:ea typeface="Arial"/>
              <a:cs typeface="Arial"/>
              <a:sym typeface="Arial"/>
            </a:endParaRPr>
          </a:p>
        </p:txBody>
      </p:sp>
      <p:sp>
        <p:nvSpPr>
          <p:cNvPr id="30" name="Google Shape;30;p3"/>
          <p:cNvSpPr/>
          <p:nvPr/>
        </p:nvSpPr>
        <p:spPr>
          <a:xfrm>
            <a:off x="566928" y="6473952"/>
            <a:ext cx="4114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900"/>
              <a:buFont typeface="Arial"/>
              <a:buNone/>
            </a:pPr>
            <a:r>
              <a:rPr b="0" i="0" lang="en-US" sz="900" u="none" cap="none" strike="noStrike">
                <a:solidFill>
                  <a:srgbClr val="5F6F82"/>
                </a:solidFill>
                <a:latin typeface="Arial"/>
                <a:ea typeface="Arial"/>
                <a:cs typeface="Arial"/>
                <a:sym typeface="Arial"/>
              </a:rPr>
              <a:t>ITCS 4102 / 5102 Final Project</a:t>
            </a:r>
            <a:endParaRPr b="0" i="0" sz="900" u="none" cap="none" strike="noStrike">
              <a:solidFill>
                <a:schemeClr val="dk1"/>
              </a:solidFill>
              <a:latin typeface="Arial"/>
              <a:ea typeface="Arial"/>
              <a:cs typeface="Arial"/>
              <a:sym typeface="Arial"/>
            </a:endParaRPr>
          </a:p>
        </p:txBody>
      </p:sp>
      <p:pic>
        <p:nvPicPr>
          <p:cNvPr id="31" name="Google Shape;31;p3"/>
          <p:cNvPicPr preferRelativeResize="0"/>
          <p:nvPr/>
        </p:nvPicPr>
        <p:blipFill>
          <a:blip r:embed="rId4">
            <a:alphaModFix/>
          </a:blip>
          <a:stretch>
            <a:fillRect/>
          </a:stretch>
        </p:blipFill>
        <p:spPr>
          <a:xfrm>
            <a:off x="1527788" y="4103375"/>
            <a:ext cx="2667000" cy="1714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6" name="Shape 36"/>
        <p:cNvGrpSpPr/>
        <p:nvPr/>
      </p:nvGrpSpPr>
      <p:grpSpPr>
        <a:xfrm>
          <a:off x="0" y="0"/>
          <a:ext cx="0" cy="0"/>
          <a:chOff x="0" y="0"/>
          <a:chExt cx="0" cy="0"/>
        </a:xfrm>
      </p:grpSpPr>
      <p:sp>
        <p:nvSpPr>
          <p:cNvPr id="37" name="Google Shape;37;p4"/>
          <p:cNvSpPr/>
          <p:nvPr/>
        </p:nvSpPr>
        <p:spPr>
          <a:xfrm>
            <a:off x="0" y="0"/>
            <a:ext cx="12191695" cy="256032"/>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566915" y="630917"/>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400"/>
              <a:buFont typeface="Play"/>
              <a:buNone/>
            </a:pPr>
            <a:r>
              <a:rPr b="1" lang="en-US" sz="2400">
                <a:solidFill>
                  <a:schemeClr val="dk1"/>
                </a:solidFill>
              </a:rPr>
              <a:t>Project Purpose / Problem Statement</a:t>
            </a:r>
            <a:endParaRPr b="1" sz="2400">
              <a:solidFill>
                <a:schemeClr val="dk1"/>
              </a:solidFill>
            </a:endParaRPr>
          </a:p>
          <a:p>
            <a:pPr indent="0" lvl="0" marL="0" marR="0" rtl="0" algn="l">
              <a:spcBef>
                <a:spcPts val="0"/>
              </a:spcBef>
              <a:spcAft>
                <a:spcPts val="0"/>
              </a:spcAft>
              <a:buClr>
                <a:srgbClr val="1F3A5F"/>
              </a:buClr>
              <a:buSzPts val="2400"/>
              <a:buFont typeface="Play"/>
              <a:buNone/>
            </a:pPr>
            <a:r>
              <a:t/>
            </a:r>
            <a:endParaRPr b="1" sz="2400">
              <a:solidFill>
                <a:srgbClr val="1F3A5F"/>
              </a:solidFill>
              <a:latin typeface="Play"/>
              <a:ea typeface="Play"/>
              <a:cs typeface="Play"/>
              <a:sym typeface="Play"/>
            </a:endParaRPr>
          </a:p>
        </p:txBody>
      </p:sp>
      <p:sp>
        <p:nvSpPr>
          <p:cNvPr id="39" name="Google Shape;39;p4"/>
          <p:cNvSpPr/>
          <p:nvPr/>
        </p:nvSpPr>
        <p:spPr>
          <a:xfrm>
            <a:off x="566928" y="6473952"/>
            <a:ext cx="4114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900"/>
              <a:buFont typeface="Arial"/>
              <a:buNone/>
            </a:pPr>
            <a:r>
              <a:rPr b="0" i="0" lang="en-US" sz="900" u="none" cap="none" strike="noStrike">
                <a:solidFill>
                  <a:srgbClr val="5F6F82"/>
                </a:solidFill>
                <a:latin typeface="Arial"/>
                <a:ea typeface="Arial"/>
                <a:cs typeface="Arial"/>
                <a:sym typeface="Arial"/>
              </a:rPr>
              <a:t>ITCS 4102 / 5102 Final Project</a:t>
            </a:r>
            <a:endParaRPr b="0" i="0" sz="900" u="none" cap="none" strike="noStrike">
              <a:solidFill>
                <a:schemeClr val="dk1"/>
              </a:solidFill>
              <a:latin typeface="Arial"/>
              <a:ea typeface="Arial"/>
              <a:cs typeface="Arial"/>
              <a:sym typeface="Arial"/>
            </a:endParaRPr>
          </a:p>
        </p:txBody>
      </p:sp>
      <p:grpSp>
        <p:nvGrpSpPr>
          <p:cNvPr id="40" name="Google Shape;40;p4"/>
          <p:cNvGrpSpPr/>
          <p:nvPr/>
        </p:nvGrpSpPr>
        <p:grpSpPr>
          <a:xfrm>
            <a:off x="566935" y="996690"/>
            <a:ext cx="5440680" cy="5029200"/>
            <a:chOff x="594360" y="1234440"/>
            <a:chExt cx="5440680" cy="5029200"/>
          </a:xfrm>
        </p:grpSpPr>
        <p:sp>
          <p:nvSpPr>
            <p:cNvPr id="41" name="Google Shape;41;p4"/>
            <p:cNvSpPr/>
            <p:nvPr/>
          </p:nvSpPr>
          <p:spPr>
            <a:xfrm>
              <a:off x="594360" y="1234440"/>
              <a:ext cx="5440680" cy="5029200"/>
            </a:xfrm>
            <a:prstGeom prst="roundRect">
              <a:avLst>
                <a:gd fmla="val 1455"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822960" y="1463040"/>
              <a:ext cx="21945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rPr b="1" i="0" lang="en-US" sz="1700" u="none" cap="none" strike="noStrike">
                  <a:solidFill>
                    <a:srgbClr val="1F3A5F"/>
                  </a:solidFill>
                  <a:latin typeface="Arial"/>
                  <a:ea typeface="Arial"/>
                  <a:cs typeface="Arial"/>
                  <a:sym typeface="Arial"/>
                </a:rPr>
                <a:t>Problem context</a:t>
              </a:r>
              <a:endParaRPr b="0" i="0" sz="1700" u="none" cap="none" strike="noStrike">
                <a:solidFill>
                  <a:schemeClr val="dk1"/>
                </a:solidFill>
                <a:latin typeface="Arial"/>
                <a:ea typeface="Arial"/>
                <a:cs typeface="Arial"/>
                <a:sym typeface="Arial"/>
              </a:endParaRPr>
            </a:p>
          </p:txBody>
        </p:sp>
        <p:sp>
          <p:nvSpPr>
            <p:cNvPr id="43" name="Google Shape;43;p4"/>
            <p:cNvSpPr/>
            <p:nvPr/>
          </p:nvSpPr>
          <p:spPr>
            <a:xfrm>
              <a:off x="777450" y="1752475"/>
              <a:ext cx="5074500" cy="1856100"/>
            </a:xfrm>
            <a:prstGeom prst="rect">
              <a:avLst/>
            </a:prstGeom>
            <a:noFill/>
            <a:ln>
              <a:noFill/>
            </a:ln>
          </p:spPr>
          <p:txBody>
            <a:bodyPr anchorCtr="0" anchor="t" bIns="0" lIns="0" spcFirstLastPara="1" rIns="0" wrap="square" tIns="0">
              <a:noAutofit/>
            </a:bodyPr>
            <a:lstStyle/>
            <a:p>
              <a:pPr indent="-92075" lvl="0" marL="177800" rtl="0" algn="l">
                <a:spcBef>
                  <a:spcPts val="0"/>
                </a:spcBef>
                <a:spcAft>
                  <a:spcPts val="0"/>
                </a:spcAft>
                <a:buNone/>
              </a:pPr>
              <a:r>
                <a:rPr lang="en-US" sz="1350">
                  <a:solidFill>
                    <a:srgbClr val="223245"/>
                  </a:solidFill>
                </a:rPr>
                <a:t>Digital payment systems generate too many transactions for manual review.</a:t>
              </a:r>
              <a:endParaRPr sz="1350">
                <a:solidFill>
                  <a:srgbClr val="223245"/>
                </a:solidFill>
              </a:endParaRPr>
            </a:p>
            <a:p>
              <a:pPr indent="-92075" lvl="0" marL="177800" rtl="0" algn="l">
                <a:spcBef>
                  <a:spcPts val="0"/>
                </a:spcBef>
                <a:spcAft>
                  <a:spcPts val="0"/>
                </a:spcAft>
                <a:buNone/>
              </a:pPr>
              <a:r>
                <a:rPr lang="en-US" sz="1350">
                  <a:solidFill>
                    <a:srgbClr val="223245"/>
                  </a:solidFill>
                </a:rPr>
                <a:t>Fraud often looks normal unless multiple patterns are considered together.</a:t>
              </a:r>
              <a:endParaRPr sz="1350">
                <a:solidFill>
                  <a:srgbClr val="223245"/>
                </a:solidFill>
              </a:endParaRPr>
            </a:p>
            <a:p>
              <a:pPr indent="-92075" lvl="0" marL="177800" rtl="0" algn="l">
                <a:spcBef>
                  <a:spcPts val="0"/>
                </a:spcBef>
                <a:spcAft>
                  <a:spcPts val="0"/>
                </a:spcAft>
                <a:buNone/>
              </a:pPr>
              <a:r>
                <a:rPr lang="en-US" sz="1350">
                  <a:solidFill>
                    <a:srgbClr val="223245"/>
                  </a:solidFill>
                </a:rPr>
                <a:t>Our goal was to build a small but complete system that:</a:t>
              </a:r>
              <a:endParaRPr sz="1350">
                <a:solidFill>
                  <a:srgbClr val="223245"/>
                </a:solidFill>
              </a:endParaRPr>
            </a:p>
            <a:p>
              <a:pPr indent="-298450" lvl="0" marL="457200" rtl="0" algn="l">
                <a:lnSpc>
                  <a:spcPct val="115000"/>
                </a:lnSpc>
                <a:spcBef>
                  <a:spcPts val="1200"/>
                </a:spcBef>
                <a:spcAft>
                  <a:spcPts val="0"/>
                </a:spcAft>
                <a:buClr>
                  <a:schemeClr val="dk1"/>
                </a:buClr>
                <a:buSzPts val="1100"/>
                <a:buChar char="●"/>
              </a:pPr>
              <a:r>
                <a:rPr lang="en-US" sz="1350">
                  <a:solidFill>
                    <a:srgbClr val="223245"/>
                  </a:solidFill>
                </a:rPr>
                <a:t>reads transaction data,</a:t>
              </a:r>
              <a:endParaRPr sz="1350">
                <a:solidFill>
                  <a:srgbClr val="223245"/>
                </a:solidFill>
              </a:endParaRPr>
            </a:p>
            <a:p>
              <a:pPr indent="-298450" lvl="0" marL="457200" rtl="0" algn="l">
                <a:lnSpc>
                  <a:spcPct val="115000"/>
                </a:lnSpc>
                <a:spcBef>
                  <a:spcPts val="0"/>
                </a:spcBef>
                <a:spcAft>
                  <a:spcPts val="0"/>
                </a:spcAft>
                <a:buClr>
                  <a:schemeClr val="dk1"/>
                </a:buClr>
                <a:buSzPts val="1100"/>
                <a:buChar char="●"/>
              </a:pPr>
              <a:r>
                <a:rPr lang="en-US" sz="1350">
                  <a:solidFill>
                    <a:srgbClr val="223245"/>
                  </a:solidFill>
                </a:rPr>
                <a:t>scores suspicious behavior,</a:t>
              </a:r>
              <a:endParaRPr sz="1350">
                <a:solidFill>
                  <a:srgbClr val="223245"/>
                </a:solidFill>
              </a:endParaRPr>
            </a:p>
            <a:p>
              <a:pPr indent="-298450" lvl="0" marL="457200" rtl="0" algn="l">
                <a:lnSpc>
                  <a:spcPct val="115000"/>
                </a:lnSpc>
                <a:spcBef>
                  <a:spcPts val="0"/>
                </a:spcBef>
                <a:spcAft>
                  <a:spcPts val="0"/>
                </a:spcAft>
                <a:buClr>
                  <a:schemeClr val="dk1"/>
                </a:buClr>
                <a:buSzPts val="1100"/>
                <a:buChar char="●"/>
              </a:pPr>
              <a:r>
                <a:rPr lang="en-US" sz="1350">
                  <a:solidFill>
                    <a:srgbClr val="223245"/>
                  </a:solidFill>
                </a:rPr>
                <a:t>classifies risk,</a:t>
              </a:r>
              <a:endParaRPr sz="1350">
                <a:solidFill>
                  <a:srgbClr val="223245"/>
                </a:solidFill>
              </a:endParaRPr>
            </a:p>
            <a:p>
              <a:pPr indent="-298450" lvl="0" marL="457200" rtl="0" algn="l">
                <a:lnSpc>
                  <a:spcPct val="115000"/>
                </a:lnSpc>
                <a:spcBef>
                  <a:spcPts val="0"/>
                </a:spcBef>
                <a:spcAft>
                  <a:spcPts val="0"/>
                </a:spcAft>
                <a:buClr>
                  <a:schemeClr val="dk1"/>
                </a:buClr>
                <a:buSzPts val="1100"/>
                <a:buChar char="●"/>
              </a:pPr>
              <a:r>
                <a:rPr lang="en-US" sz="1350">
                  <a:solidFill>
                    <a:srgbClr val="223245"/>
                  </a:solidFill>
                </a:rPr>
                <a:t>and displays results in a dashboard.</a:t>
              </a:r>
              <a:endParaRPr sz="1350">
                <a:solidFill>
                  <a:srgbClr val="223245"/>
                </a:solidFill>
              </a:endParaRPr>
            </a:p>
          </p:txBody>
        </p:sp>
        <p:sp>
          <p:nvSpPr>
            <p:cNvPr id="44" name="Google Shape;44;p4"/>
            <p:cNvSpPr/>
            <p:nvPr/>
          </p:nvSpPr>
          <p:spPr>
            <a:xfrm>
              <a:off x="822960" y="3977640"/>
              <a:ext cx="19202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rPr b="1" i="0" lang="en-US" sz="1700" u="none" cap="none" strike="noStrike">
                  <a:solidFill>
                    <a:srgbClr val="1F3A5F"/>
                  </a:solidFill>
                  <a:latin typeface="Arial"/>
                  <a:ea typeface="Arial"/>
                  <a:cs typeface="Arial"/>
                  <a:sym typeface="Arial"/>
                </a:rPr>
                <a:t>Why Julia</a:t>
              </a:r>
              <a:endParaRPr b="0" i="0" sz="1700" u="none" cap="none" strike="noStrike">
                <a:solidFill>
                  <a:schemeClr val="dk1"/>
                </a:solidFill>
                <a:latin typeface="Arial"/>
                <a:ea typeface="Arial"/>
                <a:cs typeface="Arial"/>
                <a:sym typeface="Arial"/>
              </a:endParaRPr>
            </a:p>
          </p:txBody>
        </p:sp>
        <p:sp>
          <p:nvSpPr>
            <p:cNvPr id="45" name="Google Shape;45;p4"/>
            <p:cNvSpPr/>
            <p:nvPr/>
          </p:nvSpPr>
          <p:spPr>
            <a:xfrm>
              <a:off x="841248" y="4315968"/>
              <a:ext cx="4754880" cy="740664"/>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223245"/>
                </a:buClr>
                <a:buSzPts val="1350"/>
                <a:buFont typeface="Arial"/>
                <a:buChar char="•"/>
              </a:pPr>
              <a:r>
                <a:rPr b="0" i="0" lang="en-US" sz="1350" u="none" cap="none" strike="noStrike">
                  <a:solidFill>
                    <a:srgbClr val="223245"/>
                  </a:solidFill>
                  <a:latin typeface="Arial"/>
                  <a:ea typeface="Arial"/>
                  <a:cs typeface="Arial"/>
                  <a:sym typeface="Arial"/>
                </a:rPr>
                <a:t>Julia is designed for high-performance numerical work but still feels like a high-level language.</a:t>
              </a:r>
              <a:endParaRPr b="0" i="0" sz="13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50"/>
                <a:buFont typeface="Arial"/>
                <a:buChar char="•"/>
              </a:pPr>
              <a:r>
                <a:rPr b="0" i="0" lang="en-US" sz="1350" u="none" cap="none" strike="noStrike">
                  <a:solidFill>
                    <a:srgbClr val="223245"/>
                  </a:solidFill>
                  <a:latin typeface="Arial"/>
                  <a:ea typeface="Arial"/>
                  <a:cs typeface="Arial"/>
                  <a:sym typeface="Arial"/>
                </a:rPr>
                <a:t> It was a good way to explore a language outside our usual stack while still building a practical project.</a:t>
              </a:r>
              <a:endParaRPr b="0" i="0" sz="13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50"/>
                <a:buFont typeface="Arial"/>
                <a:buChar char="•"/>
              </a:pPr>
              <a:r>
                <a:rPr b="0" i="0" lang="en-US" sz="1350" u="none" cap="none" strike="noStrike">
                  <a:solidFill>
                    <a:srgbClr val="223245"/>
                  </a:solidFill>
                  <a:latin typeface="Arial"/>
                  <a:ea typeface="Arial"/>
                  <a:cs typeface="Arial"/>
                  <a:sym typeface="Arial"/>
                </a:rPr>
                <a:t> We originally hoped to explore larger-scale computing, but kept the semester scope realistic.</a:t>
              </a:r>
              <a:endParaRPr b="0" i="0" sz="1350" u="none" cap="none" strike="noStrike">
                <a:solidFill>
                  <a:schemeClr val="dk1"/>
                </a:solidFill>
                <a:latin typeface="Arial"/>
                <a:ea typeface="Arial"/>
                <a:cs typeface="Arial"/>
                <a:sym typeface="Arial"/>
              </a:endParaRPr>
            </a:p>
          </p:txBody>
        </p:sp>
      </p:grpSp>
      <p:sp>
        <p:nvSpPr>
          <p:cNvPr id="46" name="Google Shape;46;p4"/>
          <p:cNvSpPr/>
          <p:nvPr/>
        </p:nvSpPr>
        <p:spPr>
          <a:xfrm>
            <a:off x="6583680" y="1508760"/>
            <a:ext cx="2103120" cy="1188720"/>
          </a:xfrm>
          <a:prstGeom prst="roundRect">
            <a:avLst>
              <a:gd fmla="val 6154"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6729984" y="1655064"/>
            <a:ext cx="181051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00"/>
              <a:buFont typeface="Arial"/>
              <a:buNone/>
            </a:pPr>
            <a:r>
              <a:rPr b="0" i="0" lang="en-US" sz="1000" u="none" cap="none" strike="noStrike">
                <a:solidFill>
                  <a:srgbClr val="5F6F82"/>
                </a:solidFill>
                <a:latin typeface="Arial"/>
                <a:ea typeface="Arial"/>
                <a:cs typeface="Arial"/>
                <a:sym typeface="Arial"/>
              </a:rPr>
              <a:t>Fraud reports in 2025</a:t>
            </a:r>
            <a:endParaRPr b="0" i="0" sz="1000" u="none" cap="none" strike="noStrike">
              <a:solidFill>
                <a:schemeClr val="dk1"/>
              </a:solidFill>
              <a:latin typeface="Arial"/>
              <a:ea typeface="Arial"/>
              <a:cs typeface="Arial"/>
              <a:sym typeface="Arial"/>
            </a:endParaRPr>
          </a:p>
        </p:txBody>
      </p:sp>
      <p:sp>
        <p:nvSpPr>
          <p:cNvPr id="48" name="Google Shape;48;p4"/>
          <p:cNvSpPr/>
          <p:nvPr/>
        </p:nvSpPr>
        <p:spPr>
          <a:xfrm>
            <a:off x="6729984" y="1892808"/>
            <a:ext cx="181051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3A4B"/>
              </a:buClr>
              <a:buSzPts val="2000"/>
              <a:buFont typeface="Play"/>
              <a:buNone/>
            </a:pPr>
            <a:r>
              <a:rPr b="1" i="0" lang="en-US" sz="2000" u="none" cap="none" strike="noStrike">
                <a:solidFill>
                  <a:srgbClr val="C73A4B"/>
                </a:solidFill>
                <a:latin typeface="Play"/>
                <a:ea typeface="Play"/>
                <a:cs typeface="Play"/>
                <a:sym typeface="Play"/>
              </a:rPr>
              <a:t>3.0M</a:t>
            </a:r>
            <a:endParaRPr b="0" i="0" sz="2000" u="none" cap="none" strike="noStrike">
              <a:solidFill>
                <a:schemeClr val="dk1"/>
              </a:solidFill>
              <a:latin typeface="Arial"/>
              <a:ea typeface="Arial"/>
              <a:cs typeface="Arial"/>
              <a:sym typeface="Arial"/>
            </a:endParaRPr>
          </a:p>
        </p:txBody>
      </p:sp>
      <p:sp>
        <p:nvSpPr>
          <p:cNvPr id="49" name="Google Shape;49;p4"/>
          <p:cNvSpPr/>
          <p:nvPr/>
        </p:nvSpPr>
        <p:spPr>
          <a:xfrm>
            <a:off x="8915400" y="1508760"/>
            <a:ext cx="2377440" cy="1188720"/>
          </a:xfrm>
          <a:prstGeom prst="roundRect">
            <a:avLst>
              <a:gd fmla="val 6154"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9061704" y="1655064"/>
            <a:ext cx="208483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00"/>
              <a:buFont typeface="Arial"/>
              <a:buNone/>
            </a:pPr>
            <a:r>
              <a:rPr b="0" i="0" lang="en-US" sz="1000" u="none" cap="none" strike="noStrike">
                <a:solidFill>
                  <a:srgbClr val="5F6F82"/>
                </a:solidFill>
                <a:latin typeface="Arial"/>
                <a:ea typeface="Arial"/>
                <a:cs typeface="Arial"/>
                <a:sym typeface="Arial"/>
              </a:rPr>
              <a:t>Consumer losses</a:t>
            </a:r>
            <a:endParaRPr b="0" i="0" sz="1000" u="none" cap="none" strike="noStrike">
              <a:solidFill>
                <a:schemeClr val="dk1"/>
              </a:solidFill>
              <a:latin typeface="Arial"/>
              <a:ea typeface="Arial"/>
              <a:cs typeface="Arial"/>
              <a:sym typeface="Arial"/>
            </a:endParaRPr>
          </a:p>
        </p:txBody>
      </p:sp>
      <p:sp>
        <p:nvSpPr>
          <p:cNvPr id="51" name="Google Shape;51;p4"/>
          <p:cNvSpPr/>
          <p:nvPr/>
        </p:nvSpPr>
        <p:spPr>
          <a:xfrm>
            <a:off x="9061704" y="1892808"/>
            <a:ext cx="20848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3A4B"/>
              </a:buClr>
              <a:buSzPts val="2000"/>
              <a:buFont typeface="Play"/>
              <a:buNone/>
            </a:pPr>
            <a:r>
              <a:rPr b="1" i="0" lang="en-US" sz="2000" u="none" cap="none" strike="noStrike">
                <a:solidFill>
                  <a:srgbClr val="C73A4B"/>
                </a:solidFill>
                <a:latin typeface="Play"/>
                <a:ea typeface="Play"/>
                <a:cs typeface="Play"/>
                <a:sym typeface="Play"/>
              </a:rPr>
              <a:t>$15.9B</a:t>
            </a:r>
            <a:endParaRPr b="0" i="0" sz="2000" u="none" cap="none" strike="noStrike">
              <a:solidFill>
                <a:schemeClr val="dk1"/>
              </a:solidFill>
              <a:latin typeface="Arial"/>
              <a:ea typeface="Arial"/>
              <a:cs typeface="Arial"/>
              <a:sym typeface="Arial"/>
            </a:endParaRPr>
          </a:p>
        </p:txBody>
      </p:sp>
      <p:sp>
        <p:nvSpPr>
          <p:cNvPr id="52" name="Google Shape;52;p4"/>
          <p:cNvSpPr/>
          <p:nvPr/>
        </p:nvSpPr>
        <p:spPr>
          <a:xfrm>
            <a:off x="6583680" y="2971800"/>
            <a:ext cx="2103120" cy="1188720"/>
          </a:xfrm>
          <a:prstGeom prst="roundRect">
            <a:avLst>
              <a:gd fmla="val 6154"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6729984" y="3118104"/>
            <a:ext cx="181051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00"/>
              <a:buFont typeface="Arial"/>
              <a:buNone/>
            </a:pPr>
            <a:r>
              <a:rPr b="0" i="0" lang="en-US" sz="1000" u="none" cap="none" strike="noStrike">
                <a:solidFill>
                  <a:srgbClr val="5F6F82"/>
                </a:solidFill>
                <a:latin typeface="Arial"/>
                <a:ea typeface="Arial"/>
                <a:cs typeface="Arial"/>
                <a:sym typeface="Arial"/>
              </a:rPr>
              <a:t>Previous year reports</a:t>
            </a:r>
            <a:endParaRPr b="0" i="0" sz="1000" u="none" cap="none" strike="noStrike">
              <a:solidFill>
                <a:schemeClr val="dk1"/>
              </a:solidFill>
              <a:latin typeface="Arial"/>
              <a:ea typeface="Arial"/>
              <a:cs typeface="Arial"/>
              <a:sym typeface="Arial"/>
            </a:endParaRPr>
          </a:p>
        </p:txBody>
      </p:sp>
      <p:sp>
        <p:nvSpPr>
          <p:cNvPr id="54" name="Google Shape;54;p4"/>
          <p:cNvSpPr/>
          <p:nvPr/>
        </p:nvSpPr>
        <p:spPr>
          <a:xfrm>
            <a:off x="6729984" y="3355848"/>
            <a:ext cx="181051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791F"/>
              </a:buClr>
              <a:buSzPts val="2000"/>
              <a:buFont typeface="Play"/>
              <a:buNone/>
            </a:pPr>
            <a:r>
              <a:rPr b="1" i="0" lang="en-US" sz="2000" u="none" cap="none" strike="noStrike">
                <a:solidFill>
                  <a:srgbClr val="B7791F"/>
                </a:solidFill>
                <a:latin typeface="Play"/>
                <a:ea typeface="Play"/>
                <a:cs typeface="Play"/>
                <a:sym typeface="Play"/>
              </a:rPr>
              <a:t>2.6M</a:t>
            </a:r>
            <a:endParaRPr b="0" i="0" sz="2000" u="none" cap="none" strike="noStrike">
              <a:solidFill>
                <a:schemeClr val="dk1"/>
              </a:solidFill>
              <a:latin typeface="Arial"/>
              <a:ea typeface="Arial"/>
              <a:cs typeface="Arial"/>
              <a:sym typeface="Arial"/>
            </a:endParaRPr>
          </a:p>
        </p:txBody>
      </p:sp>
      <p:sp>
        <p:nvSpPr>
          <p:cNvPr id="55" name="Google Shape;55;p4"/>
          <p:cNvSpPr/>
          <p:nvPr/>
        </p:nvSpPr>
        <p:spPr>
          <a:xfrm>
            <a:off x="8915400" y="2971800"/>
            <a:ext cx="2377440" cy="1188720"/>
          </a:xfrm>
          <a:prstGeom prst="roundRect">
            <a:avLst>
              <a:gd fmla="val 6154"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9061704" y="3118104"/>
            <a:ext cx="208483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00"/>
              <a:buFont typeface="Arial"/>
              <a:buNone/>
            </a:pPr>
            <a:r>
              <a:rPr b="0" i="0" lang="en-US" sz="1000" u="none" cap="none" strike="noStrike">
                <a:solidFill>
                  <a:srgbClr val="5F6F82"/>
                </a:solidFill>
                <a:latin typeface="Arial"/>
                <a:ea typeface="Arial"/>
                <a:cs typeface="Arial"/>
                <a:sym typeface="Arial"/>
              </a:rPr>
              <a:t>Previous year losses</a:t>
            </a:r>
            <a:endParaRPr b="0" i="0" sz="1000" u="none" cap="none" strike="noStrike">
              <a:solidFill>
                <a:schemeClr val="dk1"/>
              </a:solidFill>
              <a:latin typeface="Arial"/>
              <a:ea typeface="Arial"/>
              <a:cs typeface="Arial"/>
              <a:sym typeface="Arial"/>
            </a:endParaRPr>
          </a:p>
        </p:txBody>
      </p:sp>
      <p:sp>
        <p:nvSpPr>
          <p:cNvPr id="57" name="Google Shape;57;p4"/>
          <p:cNvSpPr/>
          <p:nvPr/>
        </p:nvSpPr>
        <p:spPr>
          <a:xfrm>
            <a:off x="9061704" y="3355848"/>
            <a:ext cx="20848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791F"/>
              </a:buClr>
              <a:buSzPts val="2000"/>
              <a:buFont typeface="Play"/>
              <a:buNone/>
            </a:pPr>
            <a:r>
              <a:rPr b="1" i="0" lang="en-US" sz="2000" u="none" cap="none" strike="noStrike">
                <a:solidFill>
                  <a:srgbClr val="B7791F"/>
                </a:solidFill>
                <a:latin typeface="Play"/>
                <a:ea typeface="Play"/>
                <a:cs typeface="Play"/>
                <a:sym typeface="Play"/>
              </a:rPr>
              <a:t>&gt;$12B</a:t>
            </a:r>
            <a:endParaRPr b="0" i="0" sz="2000" u="none" cap="none" strike="noStrike">
              <a:solidFill>
                <a:schemeClr val="dk1"/>
              </a:solidFill>
              <a:latin typeface="Arial"/>
              <a:ea typeface="Arial"/>
              <a:cs typeface="Arial"/>
              <a:sym typeface="Arial"/>
            </a:endParaRPr>
          </a:p>
        </p:txBody>
      </p:sp>
      <p:sp>
        <p:nvSpPr>
          <p:cNvPr id="58" name="Google Shape;58;p4"/>
          <p:cNvSpPr/>
          <p:nvPr/>
        </p:nvSpPr>
        <p:spPr>
          <a:xfrm>
            <a:off x="6583680" y="4526280"/>
            <a:ext cx="4709160" cy="1325880"/>
          </a:xfrm>
          <a:prstGeom prst="roundRect">
            <a:avLst>
              <a:gd fmla="val 5517" name="adj"/>
            </a:avLst>
          </a:prstGeom>
          <a:solidFill>
            <a:srgbClr val="FDECEF"/>
          </a:solidFill>
          <a:ln cap="flat" cmpd="sng" w="12700">
            <a:solidFill>
              <a:srgbClr val="FDEC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6812280" y="4800600"/>
            <a:ext cx="4297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300"/>
              <a:buFont typeface="Arial"/>
              <a:buNone/>
            </a:pPr>
            <a:r>
              <a:rPr b="0" i="0" lang="en-US" sz="1300" u="none" cap="none" strike="noStrike">
                <a:solidFill>
                  <a:srgbClr val="223245"/>
                </a:solidFill>
                <a:latin typeface="Arial"/>
                <a:ea typeface="Arial"/>
                <a:cs typeface="Arial"/>
                <a:sym typeface="Arial"/>
              </a:rPr>
              <a:t>These numbers helped motivate the project: fraud is growing, and even a small demo is useful if it shows how transaction patterns can be reviewed automatically.</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64" name="Shape 64"/>
        <p:cNvGrpSpPr/>
        <p:nvPr/>
      </p:nvGrpSpPr>
      <p:grpSpPr>
        <a:xfrm>
          <a:off x="0" y="0"/>
          <a:ext cx="0" cy="0"/>
          <a:chOff x="0" y="0"/>
          <a:chExt cx="0" cy="0"/>
        </a:xfrm>
      </p:grpSpPr>
      <p:sp>
        <p:nvSpPr>
          <p:cNvPr id="65" name="Google Shape;65;p5"/>
          <p:cNvSpPr/>
          <p:nvPr/>
        </p:nvSpPr>
        <p:spPr>
          <a:xfrm>
            <a:off x="0" y="0"/>
            <a:ext cx="12191695" cy="256032"/>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548640" y="41148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400"/>
              <a:buFont typeface="Play"/>
              <a:buNone/>
            </a:pPr>
            <a:r>
              <a:rPr b="1" i="0" lang="en-US" sz="2400" u="none" cap="none" strike="noStrike">
                <a:solidFill>
                  <a:srgbClr val="1F3A5F"/>
                </a:solidFill>
                <a:latin typeface="Play"/>
                <a:ea typeface="Play"/>
                <a:cs typeface="Play"/>
                <a:sym typeface="Play"/>
              </a:rPr>
              <a:t>Julia </a:t>
            </a:r>
            <a:endParaRPr b="0" i="0" sz="2400" u="none" cap="none" strike="noStrike">
              <a:solidFill>
                <a:schemeClr val="dk1"/>
              </a:solidFill>
              <a:latin typeface="Arial"/>
              <a:ea typeface="Arial"/>
              <a:cs typeface="Arial"/>
              <a:sym typeface="Arial"/>
            </a:endParaRPr>
          </a:p>
        </p:txBody>
      </p:sp>
      <p:sp>
        <p:nvSpPr>
          <p:cNvPr id="67" name="Google Shape;67;p5"/>
          <p:cNvSpPr/>
          <p:nvPr/>
        </p:nvSpPr>
        <p:spPr>
          <a:xfrm>
            <a:off x="566928" y="941832"/>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50"/>
              <a:buFont typeface="Arial"/>
              <a:buNone/>
            </a:pPr>
            <a:r>
              <a:t/>
            </a:r>
            <a:endParaRPr b="0" i="0" sz="1050" u="none" cap="none" strike="noStrike">
              <a:solidFill>
                <a:schemeClr val="dk1"/>
              </a:solidFill>
              <a:latin typeface="Arial"/>
              <a:ea typeface="Arial"/>
              <a:cs typeface="Arial"/>
              <a:sym typeface="Arial"/>
            </a:endParaRPr>
          </a:p>
        </p:txBody>
      </p:sp>
      <p:sp>
        <p:nvSpPr>
          <p:cNvPr id="68" name="Google Shape;68;p5"/>
          <p:cNvSpPr/>
          <p:nvPr/>
        </p:nvSpPr>
        <p:spPr>
          <a:xfrm>
            <a:off x="566928" y="6473952"/>
            <a:ext cx="4114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900"/>
              <a:buFont typeface="Arial"/>
              <a:buNone/>
            </a:pPr>
            <a:r>
              <a:rPr b="0" i="0" lang="en-US" sz="900" u="none" cap="none" strike="noStrike">
                <a:solidFill>
                  <a:srgbClr val="5F6F82"/>
                </a:solidFill>
                <a:latin typeface="Arial"/>
                <a:ea typeface="Arial"/>
                <a:cs typeface="Arial"/>
                <a:sym typeface="Arial"/>
              </a:rPr>
              <a:t>ITCS 4102 / 5102 Final Project</a:t>
            </a:r>
            <a:endParaRPr b="0" i="0" sz="900" u="none" cap="none" strike="noStrike">
              <a:solidFill>
                <a:schemeClr val="dk1"/>
              </a:solidFill>
              <a:latin typeface="Arial"/>
              <a:ea typeface="Arial"/>
              <a:cs typeface="Arial"/>
              <a:sym typeface="Arial"/>
            </a:endParaRPr>
          </a:p>
        </p:txBody>
      </p:sp>
      <p:sp>
        <p:nvSpPr>
          <p:cNvPr id="69" name="Google Shape;69;p5"/>
          <p:cNvSpPr txBox="1"/>
          <p:nvPr/>
        </p:nvSpPr>
        <p:spPr>
          <a:xfrm>
            <a:off x="362925" y="1271025"/>
            <a:ext cx="4522800" cy="426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rPr>
              <a:t>Why Julia worked for our project</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Our project needed to process transaction data, apply multiple fraud signals, and return results quickly in a usable format.</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Julia allows for code that is easy to write/read, while still being strong for numerical and data-heavy work.</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It fit our project because the fraud model depends on repeated calculations, transaction comparisons, and rule-based scoring across many rows.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Easy organization with typed structures for transactions, customer history, and destination history.</a:t>
            </a:r>
            <a:endParaRPr sz="1600">
              <a:solidFill>
                <a:schemeClr val="dk1"/>
              </a:solidFill>
            </a:endParaRPr>
          </a:p>
        </p:txBody>
      </p:sp>
      <p:sp>
        <p:nvSpPr>
          <p:cNvPr id="70" name="Google Shape;70;p5"/>
          <p:cNvSpPr txBox="1"/>
          <p:nvPr/>
        </p:nvSpPr>
        <p:spPr>
          <a:xfrm>
            <a:off x="5156725" y="1111275"/>
            <a:ext cx="5852700" cy="171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rPr>
              <a:t>Why it matched our system</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Good for reading and processing structured transaction data</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Helpful for repeated scoring logic and condition checks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Flexible, connects with a Node.js backend</a:t>
            </a:r>
            <a:endParaRPr sz="1600">
              <a:solidFill>
                <a:schemeClr val="dk1"/>
              </a:solidFill>
            </a:endParaRPr>
          </a:p>
        </p:txBody>
      </p:sp>
      <p:grpSp>
        <p:nvGrpSpPr>
          <p:cNvPr id="71" name="Google Shape;71;p5"/>
          <p:cNvGrpSpPr/>
          <p:nvPr/>
        </p:nvGrpSpPr>
        <p:grpSpPr>
          <a:xfrm>
            <a:off x="5165250" y="3785531"/>
            <a:ext cx="5835650" cy="2476325"/>
            <a:chOff x="5074625" y="3555225"/>
            <a:chExt cx="5835650" cy="2476325"/>
          </a:xfrm>
        </p:grpSpPr>
        <p:sp>
          <p:nvSpPr>
            <p:cNvPr id="72" name="Google Shape;72;p5"/>
            <p:cNvSpPr/>
            <p:nvPr/>
          </p:nvSpPr>
          <p:spPr>
            <a:xfrm>
              <a:off x="5074625" y="3555225"/>
              <a:ext cx="2769300" cy="1101900"/>
            </a:xfrm>
            <a:prstGeom prst="flowChartAlternateProcess">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Typed Structs:</a:t>
              </a:r>
              <a:endParaRPr/>
            </a:p>
            <a:p>
              <a:pPr indent="0" lvl="0" marL="0" rtl="0" algn="ctr">
                <a:spcBef>
                  <a:spcPts val="0"/>
                </a:spcBef>
                <a:spcAft>
                  <a:spcPts val="0"/>
                </a:spcAft>
                <a:buNone/>
              </a:pPr>
              <a:r>
                <a:rPr lang="en-US"/>
                <a:t>Used to organize transactions, customer stats, and destination stats</a:t>
              </a:r>
              <a:endParaRPr/>
            </a:p>
          </p:txBody>
        </p:sp>
        <p:sp>
          <p:nvSpPr>
            <p:cNvPr id="73" name="Google Shape;73;p5"/>
            <p:cNvSpPr/>
            <p:nvPr/>
          </p:nvSpPr>
          <p:spPr>
            <a:xfrm>
              <a:off x="8140975" y="3555225"/>
              <a:ext cx="2769300" cy="1101900"/>
            </a:xfrm>
            <a:prstGeom prst="flowChartAlternateProcess">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Fast Data Processing:</a:t>
              </a:r>
              <a:r>
                <a:rPr lang="en-US"/>
                <a:t> </a:t>
              </a:r>
              <a:endParaRPr/>
            </a:p>
            <a:p>
              <a:pPr indent="0" lvl="0" marL="0" rtl="0" algn="ctr">
                <a:spcBef>
                  <a:spcPts val="0"/>
                </a:spcBef>
                <a:spcAft>
                  <a:spcPts val="0"/>
                </a:spcAft>
                <a:buNone/>
              </a:pPr>
              <a:r>
                <a:rPr lang="en-US"/>
                <a:t>Helpful for repeated scoring across thousands of transaction rows</a:t>
              </a:r>
              <a:endParaRPr/>
            </a:p>
            <a:p>
              <a:pPr indent="0" lvl="0" marL="0" rtl="0" algn="ctr">
                <a:spcBef>
                  <a:spcPts val="0"/>
                </a:spcBef>
                <a:spcAft>
                  <a:spcPts val="0"/>
                </a:spcAft>
                <a:buNone/>
              </a:pPr>
              <a:r>
                <a:t/>
              </a:r>
              <a:endParaRPr/>
            </a:p>
          </p:txBody>
        </p:sp>
        <p:sp>
          <p:nvSpPr>
            <p:cNvPr id="74" name="Google Shape;74;p5"/>
            <p:cNvSpPr/>
            <p:nvPr/>
          </p:nvSpPr>
          <p:spPr>
            <a:xfrm>
              <a:off x="5074625" y="4929650"/>
              <a:ext cx="2769300" cy="1101900"/>
            </a:xfrm>
            <a:prstGeom prst="flowChartAlternateProcess">
              <a:avLst/>
            </a:prstGeom>
            <a:solidFill>
              <a:srgbClr val="76A5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Readable Logic:</a:t>
              </a:r>
              <a:endParaRPr/>
            </a:p>
            <a:p>
              <a:pPr indent="0" lvl="0" marL="0" rtl="0" algn="ctr">
                <a:spcBef>
                  <a:spcPts val="0"/>
                </a:spcBef>
                <a:spcAft>
                  <a:spcPts val="0"/>
                </a:spcAft>
                <a:buNone/>
              </a:pPr>
              <a:r>
                <a:rPr lang="en-US"/>
                <a:t>Let us build project logic without the code becoming too hard to follow</a:t>
              </a:r>
              <a:endParaRPr/>
            </a:p>
            <a:p>
              <a:pPr indent="0" lvl="0" marL="0" rtl="0" algn="ctr">
                <a:spcBef>
                  <a:spcPts val="0"/>
                </a:spcBef>
                <a:spcAft>
                  <a:spcPts val="0"/>
                </a:spcAft>
                <a:buNone/>
              </a:pPr>
              <a:r>
                <a:t/>
              </a:r>
              <a:endParaRPr/>
            </a:p>
          </p:txBody>
        </p:sp>
        <p:sp>
          <p:nvSpPr>
            <p:cNvPr id="75" name="Google Shape;75;p5"/>
            <p:cNvSpPr/>
            <p:nvPr/>
          </p:nvSpPr>
          <p:spPr>
            <a:xfrm>
              <a:off x="8140975" y="4929650"/>
              <a:ext cx="2769300" cy="1101900"/>
            </a:xfrm>
            <a:prstGeom prst="flowChartAlternateProcess">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1200"/>
                </a:spcBef>
                <a:spcAft>
                  <a:spcPts val="0"/>
                </a:spcAft>
                <a:buClr>
                  <a:schemeClr val="dk1"/>
                </a:buClr>
                <a:buSzPts val="1100"/>
                <a:buFont typeface="Arial"/>
                <a:buNone/>
              </a:pPr>
              <a:r>
                <a:rPr lang="en-US">
                  <a:solidFill>
                    <a:schemeClr val="dk1"/>
                  </a:solidFill>
                </a:rPr>
                <a:t>Scalable Potential:</a:t>
              </a:r>
              <a:br>
                <a:rPr lang="en-US">
                  <a:solidFill>
                    <a:schemeClr val="dk1"/>
                  </a:solidFill>
                </a:rPr>
              </a:br>
              <a:r>
                <a:rPr lang="en-US">
                  <a:solidFill>
                    <a:schemeClr val="dk1"/>
                  </a:solidFill>
                </a:rPr>
                <a:t> A good fit for larger data-focused work beyond this semester demo</a:t>
              </a:r>
              <a:endParaRPr>
                <a:solidFill>
                  <a:schemeClr val="dk1"/>
                </a:solidFill>
              </a:endParaRPr>
            </a:p>
            <a:p>
              <a:pPr indent="0" lvl="0" marL="0" rtl="0" algn="ctr">
                <a:spcBef>
                  <a:spcPts val="120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80" name="Shape 80"/>
        <p:cNvGrpSpPr/>
        <p:nvPr/>
      </p:nvGrpSpPr>
      <p:grpSpPr>
        <a:xfrm>
          <a:off x="0" y="0"/>
          <a:ext cx="0" cy="0"/>
          <a:chOff x="0" y="0"/>
          <a:chExt cx="0" cy="0"/>
        </a:xfrm>
      </p:grpSpPr>
      <p:sp>
        <p:nvSpPr>
          <p:cNvPr id="81" name="Google Shape;81;p6"/>
          <p:cNvSpPr/>
          <p:nvPr/>
        </p:nvSpPr>
        <p:spPr>
          <a:xfrm>
            <a:off x="868657" y="164592"/>
            <a:ext cx="9738000" cy="201300"/>
          </a:xfrm>
          <a:prstGeom prst="rect">
            <a:avLst/>
          </a:prstGeom>
          <a:solidFill>
            <a:srgbClr val="243E6B"/>
          </a:solidFill>
          <a:ln cap="flat" cmpd="sng" w="12700">
            <a:solidFill>
              <a:srgbClr val="243E6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1261838" y="576072"/>
            <a:ext cx="5303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B64"/>
              </a:buClr>
              <a:buSzPts val="2300"/>
              <a:buFont typeface="Arial"/>
              <a:buNone/>
            </a:pPr>
            <a:r>
              <a:rPr b="1" i="0" lang="en-US" sz="2300" u="none" cap="none" strike="noStrike">
                <a:solidFill>
                  <a:srgbClr val="243B64"/>
                </a:solidFill>
                <a:latin typeface="Arial"/>
                <a:ea typeface="Arial"/>
                <a:cs typeface="Arial"/>
                <a:sym typeface="Arial"/>
              </a:rPr>
              <a:t>Julia: history and paradigm</a:t>
            </a:r>
            <a:endParaRPr b="0" i="0" sz="2300" u="none" cap="none" strike="noStrike">
              <a:solidFill>
                <a:schemeClr val="dk1"/>
              </a:solidFill>
              <a:latin typeface="Arial"/>
              <a:ea typeface="Arial"/>
              <a:cs typeface="Arial"/>
              <a:sym typeface="Arial"/>
            </a:endParaRPr>
          </a:p>
        </p:txBody>
      </p:sp>
      <p:sp>
        <p:nvSpPr>
          <p:cNvPr id="83" name="Google Shape;83;p6"/>
          <p:cNvSpPr/>
          <p:nvPr/>
        </p:nvSpPr>
        <p:spPr>
          <a:xfrm>
            <a:off x="1280126" y="1005840"/>
            <a:ext cx="6217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48A"/>
              </a:buClr>
              <a:buSzPts val="950"/>
              <a:buFont typeface="Arial"/>
              <a:buNone/>
            </a:pPr>
            <a:r>
              <a:t/>
            </a:r>
            <a:endParaRPr b="0" i="0" sz="950" u="none" cap="none" strike="noStrike">
              <a:solidFill>
                <a:schemeClr val="dk1"/>
              </a:solidFill>
              <a:latin typeface="Arial"/>
              <a:ea typeface="Arial"/>
              <a:cs typeface="Arial"/>
              <a:sym typeface="Arial"/>
            </a:endParaRPr>
          </a:p>
        </p:txBody>
      </p:sp>
      <p:sp>
        <p:nvSpPr>
          <p:cNvPr id="84" name="Google Shape;84;p6"/>
          <p:cNvSpPr/>
          <p:nvPr/>
        </p:nvSpPr>
        <p:spPr>
          <a:xfrm>
            <a:off x="1353276" y="1499616"/>
            <a:ext cx="2761500" cy="3035700"/>
          </a:xfrm>
          <a:prstGeom prst="roundRect">
            <a:avLst>
              <a:gd fmla="val 2649" name="adj"/>
            </a:avLst>
          </a:prstGeom>
          <a:solidFill>
            <a:srgbClr val="FFFFFF"/>
          </a:solidFill>
          <a:ln cap="flat" cmpd="sng" w="12700">
            <a:solidFill>
              <a:srgbClr val="D7DFEA"/>
            </a:solidFill>
            <a:prstDash val="solid"/>
            <a:round/>
            <a:headEnd len="sm" w="sm" type="none"/>
            <a:tailEnd len="sm" w="sm" type="none"/>
          </a:ln>
          <a:effectLst>
            <a:outerShdw blurRad="12700" rotWithShape="0" algn="bl" dir="2700000" dist="50800">
              <a:srgbClr val="CDD7E5">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1481289" y="1627632"/>
            <a:ext cx="749700" cy="237600"/>
          </a:xfrm>
          <a:prstGeom prst="roundRect">
            <a:avLst>
              <a:gd fmla="val 30769" name="adj"/>
            </a:avLst>
          </a:prstGeom>
          <a:solidFill>
            <a:srgbClr val="EEF3FB"/>
          </a:solidFill>
          <a:ln cap="flat" cmpd="sng" w="12700">
            <a:solidFill>
              <a:srgbClr val="EEF3F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1581870" y="1664208"/>
            <a:ext cx="5028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4876"/>
              </a:buClr>
              <a:buSzPts val="720"/>
              <a:buFont typeface="Arial"/>
              <a:buNone/>
            </a:pPr>
            <a:r>
              <a:rPr b="1" i="0" lang="en-US" sz="720" u="none" cap="none" strike="noStrike">
                <a:solidFill>
                  <a:srgbClr val="2D4876"/>
                </a:solidFill>
                <a:latin typeface="Arial"/>
                <a:ea typeface="Arial"/>
                <a:cs typeface="Arial"/>
                <a:sym typeface="Arial"/>
              </a:rPr>
              <a:t>History</a:t>
            </a:r>
            <a:endParaRPr b="0" i="0" sz="720" u="none" cap="none" strike="noStrike">
              <a:solidFill>
                <a:schemeClr val="dk1"/>
              </a:solidFill>
              <a:latin typeface="Arial"/>
              <a:ea typeface="Arial"/>
              <a:cs typeface="Arial"/>
              <a:sym typeface="Arial"/>
            </a:endParaRPr>
          </a:p>
        </p:txBody>
      </p:sp>
      <p:sp>
        <p:nvSpPr>
          <p:cNvPr id="87" name="Google Shape;87;p6"/>
          <p:cNvSpPr/>
          <p:nvPr/>
        </p:nvSpPr>
        <p:spPr>
          <a:xfrm>
            <a:off x="1517864" y="1956816"/>
            <a:ext cx="24873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B64"/>
              </a:buClr>
              <a:buSzPts val="1600"/>
              <a:buFont typeface="Arial"/>
              <a:buNone/>
            </a:pPr>
            <a:r>
              <a:rPr b="1" i="0" lang="en-US" sz="1600" u="none" cap="none" strike="noStrike">
                <a:solidFill>
                  <a:srgbClr val="243B64"/>
                </a:solidFill>
                <a:latin typeface="Arial"/>
                <a:ea typeface="Arial"/>
                <a:cs typeface="Arial"/>
                <a:sym typeface="Arial"/>
              </a:rPr>
              <a:t>Where Julia started</a:t>
            </a:r>
            <a:endParaRPr b="0" i="0" sz="1600" u="none" cap="none" strike="noStrike">
              <a:solidFill>
                <a:schemeClr val="dk1"/>
              </a:solidFill>
              <a:latin typeface="Arial"/>
              <a:ea typeface="Arial"/>
              <a:cs typeface="Arial"/>
              <a:sym typeface="Arial"/>
            </a:endParaRPr>
          </a:p>
        </p:txBody>
      </p:sp>
      <p:sp>
        <p:nvSpPr>
          <p:cNvPr id="88" name="Google Shape;88;p6"/>
          <p:cNvSpPr/>
          <p:nvPr/>
        </p:nvSpPr>
        <p:spPr>
          <a:xfrm>
            <a:off x="1517864" y="2487168"/>
            <a:ext cx="2450700" cy="19203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2E3B4E"/>
              </a:buClr>
              <a:buSzPts val="1150"/>
              <a:buFont typeface="Arial"/>
              <a:buChar char="•"/>
            </a:pPr>
            <a:r>
              <a:rPr b="0" i="0" lang="en-US" sz="1150" u="none" cap="none" strike="noStrike">
                <a:solidFill>
                  <a:srgbClr val="2E3B4E"/>
                </a:solidFill>
                <a:latin typeface="Arial"/>
                <a:ea typeface="Arial"/>
                <a:cs typeface="Arial"/>
                <a:sym typeface="Arial"/>
              </a:rPr>
              <a:t>First introduced in 2012</a:t>
            </a:r>
            <a:endParaRPr b="0" i="0" sz="11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E3B4E"/>
              </a:buClr>
              <a:buSzPts val="1150"/>
              <a:buFont typeface="Arial"/>
              <a:buChar char="•"/>
            </a:pPr>
            <a:r>
              <a:rPr b="0" i="0" lang="en-US" sz="1150" u="none" cap="none" strike="noStrike">
                <a:solidFill>
                  <a:srgbClr val="2E3B4E"/>
                </a:solidFill>
                <a:latin typeface="Arial"/>
                <a:ea typeface="Arial"/>
                <a:cs typeface="Arial"/>
                <a:sym typeface="Arial"/>
              </a:rPr>
              <a:t>Created by Jeff Bezanson, Stefan Karpinski, Viral Shah, and Alan Edelman</a:t>
            </a:r>
            <a:endParaRPr b="0" i="0" sz="11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E3B4E"/>
              </a:buClr>
              <a:buSzPts val="1150"/>
              <a:buFont typeface="Arial"/>
              <a:buChar char="•"/>
            </a:pPr>
            <a:r>
              <a:rPr b="0" i="0" lang="en-US" sz="1150" u="none" cap="none" strike="noStrike">
                <a:solidFill>
                  <a:srgbClr val="2E3B4E"/>
                </a:solidFill>
                <a:latin typeface="Arial"/>
                <a:ea typeface="Arial"/>
                <a:cs typeface="Arial"/>
                <a:sym typeface="Arial"/>
              </a:rPr>
              <a:t>Designed for technical and numerical computing from the beginning</a:t>
            </a:r>
            <a:endParaRPr b="0" i="0" sz="11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E3B4E"/>
              </a:buClr>
              <a:buSzPts val="1150"/>
              <a:buFont typeface="Arial"/>
              <a:buChar char="•"/>
            </a:pPr>
            <a:r>
              <a:rPr b="0" i="0" lang="en-US" sz="1150" u="none" cap="none" strike="noStrike">
                <a:solidFill>
                  <a:srgbClr val="2E3B4E"/>
                </a:solidFill>
                <a:latin typeface="Arial"/>
                <a:ea typeface="Arial"/>
                <a:cs typeface="Arial"/>
                <a:sym typeface="Arial"/>
              </a:rPr>
              <a:t>Julia 1.0 was released in 2018, marking a stable major version</a:t>
            </a:r>
            <a:endParaRPr b="0" i="0" sz="1150" u="none" cap="none" strike="noStrike">
              <a:solidFill>
                <a:schemeClr val="dk1"/>
              </a:solidFill>
              <a:latin typeface="Arial"/>
              <a:ea typeface="Arial"/>
              <a:cs typeface="Arial"/>
              <a:sym typeface="Arial"/>
            </a:endParaRPr>
          </a:p>
        </p:txBody>
      </p:sp>
      <p:sp>
        <p:nvSpPr>
          <p:cNvPr id="89" name="Google Shape;89;p6"/>
          <p:cNvSpPr/>
          <p:nvPr/>
        </p:nvSpPr>
        <p:spPr>
          <a:xfrm>
            <a:off x="4279278" y="1499616"/>
            <a:ext cx="2761500" cy="3035700"/>
          </a:xfrm>
          <a:prstGeom prst="roundRect">
            <a:avLst>
              <a:gd fmla="val 2649" name="adj"/>
            </a:avLst>
          </a:prstGeom>
          <a:solidFill>
            <a:srgbClr val="FFFFFF"/>
          </a:solidFill>
          <a:ln cap="flat" cmpd="sng" w="12700">
            <a:solidFill>
              <a:srgbClr val="D7DFEA"/>
            </a:solidFill>
            <a:prstDash val="solid"/>
            <a:round/>
            <a:headEnd len="sm" w="sm" type="none"/>
            <a:tailEnd len="sm" w="sm" type="none"/>
          </a:ln>
          <a:effectLst>
            <a:outerShdw blurRad="12700" rotWithShape="0" algn="bl" dir="2700000" dist="50800">
              <a:srgbClr val="CDD7E5">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4407291" y="1627632"/>
            <a:ext cx="749700" cy="237600"/>
          </a:xfrm>
          <a:prstGeom prst="roundRect">
            <a:avLst>
              <a:gd fmla="val 30769" name="adj"/>
            </a:avLst>
          </a:prstGeom>
          <a:solidFill>
            <a:srgbClr val="EEF3FB"/>
          </a:solidFill>
          <a:ln cap="flat" cmpd="sng" w="12700">
            <a:solidFill>
              <a:srgbClr val="EEF3F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4507872" y="1664208"/>
            <a:ext cx="5028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4876"/>
              </a:buClr>
              <a:buSzPts val="720"/>
              <a:buFont typeface="Arial"/>
              <a:buNone/>
            </a:pPr>
            <a:r>
              <a:rPr b="1" i="0" lang="en-US" sz="720" u="none" cap="none" strike="noStrike">
                <a:solidFill>
                  <a:srgbClr val="2D4876"/>
                </a:solidFill>
                <a:latin typeface="Arial"/>
                <a:ea typeface="Arial"/>
                <a:cs typeface="Arial"/>
                <a:sym typeface="Arial"/>
              </a:rPr>
              <a:t>Motivation</a:t>
            </a:r>
            <a:endParaRPr b="0" i="0" sz="720" u="none" cap="none" strike="noStrike">
              <a:solidFill>
                <a:schemeClr val="dk1"/>
              </a:solidFill>
              <a:latin typeface="Arial"/>
              <a:ea typeface="Arial"/>
              <a:cs typeface="Arial"/>
              <a:sym typeface="Arial"/>
            </a:endParaRPr>
          </a:p>
        </p:txBody>
      </p:sp>
      <p:sp>
        <p:nvSpPr>
          <p:cNvPr id="92" name="Google Shape;92;p6"/>
          <p:cNvSpPr/>
          <p:nvPr/>
        </p:nvSpPr>
        <p:spPr>
          <a:xfrm>
            <a:off x="4443866" y="1956816"/>
            <a:ext cx="24873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B64"/>
              </a:buClr>
              <a:buSzPts val="1600"/>
              <a:buFont typeface="Arial"/>
              <a:buNone/>
            </a:pPr>
            <a:r>
              <a:rPr b="1" i="0" lang="en-US" sz="1600" u="none" cap="none" strike="noStrike">
                <a:solidFill>
                  <a:srgbClr val="243B64"/>
                </a:solidFill>
                <a:latin typeface="Arial"/>
                <a:ea typeface="Arial"/>
                <a:cs typeface="Arial"/>
                <a:sym typeface="Arial"/>
              </a:rPr>
              <a:t>Why it was created</a:t>
            </a:r>
            <a:endParaRPr b="0" i="0" sz="1600" u="none" cap="none" strike="noStrike">
              <a:solidFill>
                <a:schemeClr val="dk1"/>
              </a:solidFill>
              <a:latin typeface="Arial"/>
              <a:ea typeface="Arial"/>
              <a:cs typeface="Arial"/>
              <a:sym typeface="Arial"/>
            </a:endParaRPr>
          </a:p>
        </p:txBody>
      </p:sp>
      <p:sp>
        <p:nvSpPr>
          <p:cNvPr id="93" name="Google Shape;93;p6"/>
          <p:cNvSpPr/>
          <p:nvPr/>
        </p:nvSpPr>
        <p:spPr>
          <a:xfrm>
            <a:off x="4443866" y="2487168"/>
            <a:ext cx="2450700" cy="19203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2E3B4E"/>
              </a:buClr>
              <a:buSzPts val="1150"/>
              <a:buFont typeface="Arial"/>
              <a:buChar char="•"/>
            </a:pPr>
            <a:r>
              <a:rPr b="0" i="0" lang="en-US" sz="1150" u="none" cap="none" strike="noStrike">
                <a:solidFill>
                  <a:srgbClr val="2E3B4E"/>
                </a:solidFill>
                <a:latin typeface="Arial"/>
                <a:ea typeface="Arial"/>
                <a:cs typeface="Arial"/>
                <a:sym typeface="Arial"/>
              </a:rPr>
              <a:t>A response to the “two-language problem”</a:t>
            </a:r>
            <a:endParaRPr b="0" i="0" sz="11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E3B4E"/>
              </a:buClr>
              <a:buSzPts val="1150"/>
              <a:buFont typeface="Arial"/>
              <a:buChar char="•"/>
            </a:pPr>
            <a:r>
              <a:rPr b="0" i="0" lang="en-US" sz="1150" u="none" cap="none" strike="noStrike">
                <a:solidFill>
                  <a:srgbClr val="2E3B4E"/>
                </a:solidFill>
                <a:latin typeface="Arial"/>
                <a:ea typeface="Arial"/>
                <a:cs typeface="Arial"/>
                <a:sym typeface="Arial"/>
              </a:rPr>
              <a:t>Many developers prototype in Python, R, or MATLAB, then rewrite slow parts in C or C++</a:t>
            </a:r>
            <a:endParaRPr b="0" i="0" sz="11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E3B4E"/>
              </a:buClr>
              <a:buSzPts val="1150"/>
              <a:buFont typeface="Arial"/>
              <a:buChar char="•"/>
            </a:pPr>
            <a:r>
              <a:rPr b="0" i="0" lang="en-US" sz="1150" u="none" cap="none" strike="noStrike">
                <a:solidFill>
                  <a:srgbClr val="2E3B4E"/>
                </a:solidFill>
                <a:latin typeface="Arial"/>
                <a:ea typeface="Arial"/>
                <a:cs typeface="Arial"/>
                <a:sym typeface="Arial"/>
              </a:rPr>
              <a:t>Julia aimed to combine ease of use with stronger performance in one language</a:t>
            </a:r>
            <a:endParaRPr b="0" i="0" sz="1150" u="none" cap="none" strike="noStrike">
              <a:solidFill>
                <a:schemeClr val="dk1"/>
              </a:solidFill>
              <a:latin typeface="Arial"/>
              <a:ea typeface="Arial"/>
              <a:cs typeface="Arial"/>
              <a:sym typeface="Arial"/>
            </a:endParaRPr>
          </a:p>
        </p:txBody>
      </p:sp>
      <p:sp>
        <p:nvSpPr>
          <p:cNvPr id="94" name="Google Shape;94;p6"/>
          <p:cNvSpPr/>
          <p:nvPr/>
        </p:nvSpPr>
        <p:spPr>
          <a:xfrm>
            <a:off x="7205280" y="1499616"/>
            <a:ext cx="2670000" cy="3035700"/>
          </a:xfrm>
          <a:prstGeom prst="roundRect">
            <a:avLst>
              <a:gd fmla="val 2740" name="adj"/>
            </a:avLst>
          </a:prstGeom>
          <a:solidFill>
            <a:srgbClr val="FFFFFF"/>
          </a:solidFill>
          <a:ln cap="flat" cmpd="sng" w="12700">
            <a:solidFill>
              <a:srgbClr val="D7DFEA"/>
            </a:solidFill>
            <a:prstDash val="solid"/>
            <a:round/>
            <a:headEnd len="sm" w="sm" type="none"/>
            <a:tailEnd len="sm" w="sm" type="none"/>
          </a:ln>
          <a:effectLst>
            <a:outerShdw blurRad="12700" rotWithShape="0" algn="bl" dir="2700000" dist="50800">
              <a:srgbClr val="CDD7E5">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7333293" y="1627632"/>
            <a:ext cx="749700" cy="237600"/>
          </a:xfrm>
          <a:prstGeom prst="roundRect">
            <a:avLst>
              <a:gd fmla="val 30769" name="adj"/>
            </a:avLst>
          </a:prstGeom>
          <a:solidFill>
            <a:srgbClr val="EEF3FB"/>
          </a:solidFill>
          <a:ln cap="flat" cmpd="sng" w="12700">
            <a:solidFill>
              <a:srgbClr val="EEF3F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7433874" y="1664208"/>
            <a:ext cx="5028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4876"/>
              </a:buClr>
              <a:buSzPts val="720"/>
              <a:buFont typeface="Arial"/>
              <a:buNone/>
            </a:pPr>
            <a:r>
              <a:rPr b="1" i="0" lang="en-US" sz="720" u="none" cap="none" strike="noStrike">
                <a:solidFill>
                  <a:srgbClr val="2D4876"/>
                </a:solidFill>
                <a:latin typeface="Arial"/>
                <a:ea typeface="Arial"/>
                <a:cs typeface="Arial"/>
                <a:sym typeface="Arial"/>
              </a:rPr>
              <a:t>Paradigm</a:t>
            </a:r>
            <a:endParaRPr b="0" i="0" sz="720" u="none" cap="none" strike="noStrike">
              <a:solidFill>
                <a:schemeClr val="dk1"/>
              </a:solidFill>
              <a:latin typeface="Arial"/>
              <a:ea typeface="Arial"/>
              <a:cs typeface="Arial"/>
              <a:sym typeface="Arial"/>
            </a:endParaRPr>
          </a:p>
        </p:txBody>
      </p:sp>
      <p:sp>
        <p:nvSpPr>
          <p:cNvPr id="97" name="Google Shape;97;p6"/>
          <p:cNvSpPr/>
          <p:nvPr/>
        </p:nvSpPr>
        <p:spPr>
          <a:xfrm>
            <a:off x="7369868" y="1956816"/>
            <a:ext cx="239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B64"/>
              </a:buClr>
              <a:buSzPts val="1600"/>
              <a:buFont typeface="Arial"/>
              <a:buNone/>
            </a:pPr>
            <a:r>
              <a:rPr b="1" i="0" lang="en-US" sz="1600" u="none" cap="none" strike="noStrike">
                <a:solidFill>
                  <a:srgbClr val="243B64"/>
                </a:solidFill>
                <a:latin typeface="Arial"/>
                <a:ea typeface="Arial"/>
                <a:cs typeface="Arial"/>
                <a:sym typeface="Arial"/>
              </a:rPr>
              <a:t>How to describe Julia</a:t>
            </a:r>
            <a:endParaRPr b="0" i="0" sz="1600" u="none" cap="none" strike="noStrike">
              <a:solidFill>
                <a:schemeClr val="dk1"/>
              </a:solidFill>
              <a:latin typeface="Arial"/>
              <a:ea typeface="Arial"/>
              <a:cs typeface="Arial"/>
              <a:sym typeface="Arial"/>
            </a:endParaRPr>
          </a:p>
        </p:txBody>
      </p:sp>
      <p:sp>
        <p:nvSpPr>
          <p:cNvPr id="98" name="Google Shape;98;p6"/>
          <p:cNvSpPr/>
          <p:nvPr/>
        </p:nvSpPr>
        <p:spPr>
          <a:xfrm>
            <a:off x="7369868" y="2487168"/>
            <a:ext cx="2359200" cy="19203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2E3B4E"/>
              </a:buClr>
              <a:buSzPts val="1150"/>
              <a:buFont typeface="Arial"/>
              <a:buChar char="•"/>
            </a:pPr>
            <a:r>
              <a:rPr b="0" i="0" lang="en-US" sz="1150" u="none" cap="none" strike="noStrike">
                <a:solidFill>
                  <a:srgbClr val="2E3B4E"/>
                </a:solidFill>
                <a:latin typeface="Arial"/>
                <a:ea typeface="Arial"/>
                <a:cs typeface="Arial"/>
                <a:sym typeface="Arial"/>
              </a:rPr>
              <a:t>Best described as a multi-paradigm language</a:t>
            </a:r>
            <a:endParaRPr b="0" i="0" sz="11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E3B4E"/>
              </a:buClr>
              <a:buSzPts val="1150"/>
              <a:buFont typeface="Arial"/>
              <a:buChar char="•"/>
            </a:pPr>
            <a:r>
              <a:rPr b="0" i="0" lang="en-US" sz="1150" u="none" cap="none" strike="noStrike">
                <a:solidFill>
                  <a:srgbClr val="2E3B4E"/>
                </a:solidFill>
                <a:latin typeface="Arial"/>
                <a:ea typeface="Arial"/>
                <a:cs typeface="Arial"/>
                <a:sym typeface="Arial"/>
              </a:rPr>
              <a:t>Not mainly object-oriented like Java or C++</a:t>
            </a:r>
            <a:endParaRPr b="0" i="0" sz="11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E3B4E"/>
              </a:buClr>
              <a:buSzPts val="1150"/>
              <a:buFont typeface="Arial"/>
              <a:buChar char="•"/>
            </a:pPr>
            <a:r>
              <a:rPr b="0" i="0" lang="en-US" sz="1150" u="none" cap="none" strike="noStrike">
                <a:solidFill>
                  <a:srgbClr val="2E3B4E"/>
                </a:solidFill>
                <a:latin typeface="Arial"/>
                <a:ea typeface="Arial"/>
                <a:cs typeface="Arial"/>
                <a:sym typeface="Arial"/>
              </a:rPr>
              <a:t>Built around functions, typed data, and multiple dispatch</a:t>
            </a:r>
            <a:endParaRPr b="0" i="0" sz="115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E3B4E"/>
              </a:buClr>
              <a:buSzPts val="1150"/>
              <a:buFont typeface="Arial"/>
              <a:buChar char="•"/>
            </a:pPr>
            <a:r>
              <a:rPr lang="en-US" sz="1150">
                <a:solidFill>
                  <a:srgbClr val="2E3B4E"/>
                </a:solidFill>
              </a:rPr>
              <a:t>Higher </a:t>
            </a:r>
            <a:r>
              <a:rPr lang="en-US" sz="1150">
                <a:solidFill>
                  <a:srgbClr val="2E3B4E"/>
                </a:solidFill>
              </a:rPr>
              <a:t>performance Python</a:t>
            </a:r>
            <a:endParaRPr b="0" i="0" sz="1150" u="none" cap="none" strike="noStrike">
              <a:solidFill>
                <a:schemeClr val="dk1"/>
              </a:solidFill>
              <a:latin typeface="Arial"/>
              <a:ea typeface="Arial"/>
              <a:cs typeface="Arial"/>
              <a:sym typeface="Arial"/>
            </a:endParaRPr>
          </a:p>
        </p:txBody>
      </p:sp>
      <p:sp>
        <p:nvSpPr>
          <p:cNvPr id="99" name="Google Shape;99;p6"/>
          <p:cNvSpPr/>
          <p:nvPr/>
        </p:nvSpPr>
        <p:spPr>
          <a:xfrm>
            <a:off x="1353276" y="4736592"/>
            <a:ext cx="8521800" cy="502800"/>
          </a:xfrm>
          <a:prstGeom prst="roundRect">
            <a:avLst>
              <a:gd fmla="val 10909" name="adj"/>
            </a:avLst>
          </a:prstGeom>
          <a:solidFill>
            <a:srgbClr val="EAF0FB"/>
          </a:solidFill>
          <a:ln cap="flat" cmpd="sng" w="12700">
            <a:solidFill>
              <a:srgbClr val="EAF0F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1280126" y="6336792"/>
            <a:ext cx="1920300" cy="10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48A"/>
              </a:buClr>
              <a:buSzPts val="700"/>
              <a:buFont typeface="Arial"/>
              <a:buNone/>
            </a:pPr>
            <a:r>
              <a:rPr b="0" i="0" lang="en-US" sz="700" u="none" cap="none" strike="noStrike">
                <a:solidFill>
                  <a:srgbClr val="63748A"/>
                </a:solidFill>
                <a:latin typeface="Arial"/>
                <a:ea typeface="Arial"/>
                <a:cs typeface="Arial"/>
                <a:sym typeface="Arial"/>
              </a:rPr>
              <a:t>ITCS 4102 / 5102 Final Project</a:t>
            </a:r>
            <a:endParaRPr b="0" i="0" sz="7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7"/>
          <p:cNvPicPr preferRelativeResize="0"/>
          <p:nvPr/>
        </p:nvPicPr>
        <p:blipFill>
          <a:blip r:embed="rId3">
            <a:alphaModFix/>
          </a:blip>
          <a:stretch>
            <a:fillRect/>
          </a:stretch>
        </p:blipFill>
        <p:spPr>
          <a:xfrm>
            <a:off x="1696950" y="0"/>
            <a:ext cx="8764925" cy="68579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11" name="Shape 111"/>
        <p:cNvGrpSpPr/>
        <p:nvPr/>
      </p:nvGrpSpPr>
      <p:grpSpPr>
        <a:xfrm>
          <a:off x="0" y="0"/>
          <a:ext cx="0" cy="0"/>
          <a:chOff x="0" y="0"/>
          <a:chExt cx="0" cy="0"/>
        </a:xfrm>
      </p:grpSpPr>
      <p:sp>
        <p:nvSpPr>
          <p:cNvPr id="112" name="Google Shape;112;p8"/>
          <p:cNvSpPr/>
          <p:nvPr/>
        </p:nvSpPr>
        <p:spPr>
          <a:xfrm>
            <a:off x="0" y="0"/>
            <a:ext cx="12191695" cy="256032"/>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8"/>
          <p:cNvSpPr/>
          <p:nvPr/>
        </p:nvSpPr>
        <p:spPr>
          <a:xfrm>
            <a:off x="548640" y="41148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400"/>
              <a:buFont typeface="Play"/>
              <a:buNone/>
            </a:pPr>
            <a:r>
              <a:rPr b="1" i="0" lang="en-US" sz="2400" u="none" cap="none" strike="noStrike">
                <a:solidFill>
                  <a:srgbClr val="1F3A5F"/>
                </a:solidFill>
                <a:latin typeface="Play"/>
                <a:ea typeface="Play"/>
                <a:cs typeface="Play"/>
                <a:sym typeface="Play"/>
              </a:rPr>
              <a:t>System architecture</a:t>
            </a:r>
            <a:endParaRPr b="0" i="0" sz="2400" u="none" cap="none" strike="noStrike">
              <a:solidFill>
                <a:schemeClr val="dk1"/>
              </a:solidFill>
              <a:latin typeface="Arial"/>
              <a:ea typeface="Arial"/>
              <a:cs typeface="Arial"/>
              <a:sym typeface="Arial"/>
            </a:endParaRPr>
          </a:p>
        </p:txBody>
      </p:sp>
      <p:sp>
        <p:nvSpPr>
          <p:cNvPr id="114" name="Google Shape;114;p8"/>
          <p:cNvSpPr/>
          <p:nvPr/>
        </p:nvSpPr>
        <p:spPr>
          <a:xfrm>
            <a:off x="566928" y="941832"/>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50"/>
              <a:buFont typeface="Arial"/>
              <a:buNone/>
            </a:pPr>
            <a:r>
              <a:rPr i="1" lang="en-US" sz="1050">
                <a:solidFill>
                  <a:schemeClr val="dk1"/>
                </a:solidFill>
              </a:rPr>
              <a:t>How our project works</a:t>
            </a:r>
            <a:endParaRPr b="0" i="1" sz="1050" u="none" cap="none" strike="noStrike">
              <a:solidFill>
                <a:schemeClr val="dk1"/>
              </a:solidFill>
              <a:latin typeface="Arial"/>
              <a:ea typeface="Arial"/>
              <a:cs typeface="Arial"/>
              <a:sym typeface="Arial"/>
            </a:endParaRPr>
          </a:p>
        </p:txBody>
      </p:sp>
      <p:sp>
        <p:nvSpPr>
          <p:cNvPr id="115" name="Google Shape;115;p8"/>
          <p:cNvSpPr/>
          <p:nvPr/>
        </p:nvSpPr>
        <p:spPr>
          <a:xfrm>
            <a:off x="566928" y="6473952"/>
            <a:ext cx="4114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900"/>
              <a:buFont typeface="Arial"/>
              <a:buNone/>
            </a:pPr>
            <a:r>
              <a:rPr b="0" i="0" lang="en-US" sz="900" u="none" cap="none" strike="noStrike">
                <a:solidFill>
                  <a:srgbClr val="5F6F82"/>
                </a:solidFill>
                <a:latin typeface="Arial"/>
                <a:ea typeface="Arial"/>
                <a:cs typeface="Arial"/>
                <a:sym typeface="Arial"/>
              </a:rPr>
              <a:t>ITCS 4102 / 5102 Final Project</a:t>
            </a:r>
            <a:endParaRPr b="0" i="0" sz="900" u="none" cap="none" strike="noStrike">
              <a:solidFill>
                <a:schemeClr val="dk1"/>
              </a:solidFill>
              <a:latin typeface="Arial"/>
              <a:ea typeface="Arial"/>
              <a:cs typeface="Arial"/>
              <a:sym typeface="Arial"/>
            </a:endParaRPr>
          </a:p>
        </p:txBody>
      </p:sp>
      <p:sp>
        <p:nvSpPr>
          <p:cNvPr id="116" name="Google Shape;116;p8"/>
          <p:cNvSpPr/>
          <p:nvPr/>
        </p:nvSpPr>
        <p:spPr>
          <a:xfrm>
            <a:off x="676655" y="2061975"/>
            <a:ext cx="2057400" cy="1645800"/>
          </a:xfrm>
          <a:prstGeom prst="roundRect">
            <a:avLst>
              <a:gd fmla="val 4444"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786384" y="2221992"/>
            <a:ext cx="1764792"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1600"/>
              <a:buFont typeface="Arial"/>
              <a:buNone/>
            </a:pPr>
            <a:r>
              <a:rPr b="1" i="0" lang="en-US" sz="1600" u="none" cap="none" strike="noStrike">
                <a:solidFill>
                  <a:srgbClr val="1F3A5F"/>
                </a:solidFill>
                <a:latin typeface="Arial"/>
                <a:ea typeface="Arial"/>
                <a:cs typeface="Arial"/>
                <a:sym typeface="Arial"/>
              </a:rPr>
              <a:t>Frontend</a:t>
            </a:r>
            <a:endParaRPr b="0" i="0" sz="1600" u="none" cap="none" strike="noStrike">
              <a:solidFill>
                <a:schemeClr val="dk1"/>
              </a:solidFill>
              <a:latin typeface="Arial"/>
              <a:ea typeface="Arial"/>
              <a:cs typeface="Arial"/>
              <a:sym typeface="Arial"/>
            </a:endParaRPr>
          </a:p>
        </p:txBody>
      </p:sp>
      <p:sp>
        <p:nvSpPr>
          <p:cNvPr id="118" name="Google Shape;118;p8"/>
          <p:cNvSpPr/>
          <p:nvPr/>
        </p:nvSpPr>
        <p:spPr>
          <a:xfrm>
            <a:off x="804672" y="2560320"/>
            <a:ext cx="1728216"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HTML/CSS/JS dashboard</a:t>
            </a:r>
            <a:endParaRPr b="0" i="0" sz="12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Run button</a:t>
            </a:r>
            <a:r>
              <a:rPr lang="en-US" sz="1250">
                <a:solidFill>
                  <a:srgbClr val="223245"/>
                </a:solidFill>
              </a:rPr>
              <a:t>→Populates</a:t>
            </a:r>
            <a:endParaRPr b="0" i="0" sz="12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Summary cards</a:t>
            </a:r>
            <a:endParaRPr b="0" i="0" sz="12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Table + chart</a:t>
            </a:r>
            <a:endParaRPr b="0" i="0" sz="1250" u="none" cap="none" strike="noStrike">
              <a:solidFill>
                <a:schemeClr val="dk1"/>
              </a:solidFill>
              <a:latin typeface="Arial"/>
              <a:ea typeface="Arial"/>
              <a:cs typeface="Arial"/>
              <a:sym typeface="Arial"/>
            </a:endParaRPr>
          </a:p>
        </p:txBody>
      </p:sp>
      <p:sp>
        <p:nvSpPr>
          <p:cNvPr id="119" name="Google Shape;119;p8"/>
          <p:cNvSpPr/>
          <p:nvPr/>
        </p:nvSpPr>
        <p:spPr>
          <a:xfrm>
            <a:off x="3611880" y="2057400"/>
            <a:ext cx="2057400" cy="1645920"/>
          </a:xfrm>
          <a:prstGeom prst="roundRect">
            <a:avLst>
              <a:gd fmla="val 4444"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3758184" y="2221992"/>
            <a:ext cx="1764792"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1600"/>
              <a:buFont typeface="Arial"/>
              <a:buNone/>
            </a:pPr>
            <a:r>
              <a:rPr b="1" i="0" lang="en-US" sz="1600" u="none" cap="none" strike="noStrike">
                <a:solidFill>
                  <a:srgbClr val="1F3A5F"/>
                </a:solidFill>
                <a:latin typeface="Arial"/>
                <a:ea typeface="Arial"/>
                <a:cs typeface="Arial"/>
                <a:sym typeface="Arial"/>
              </a:rPr>
              <a:t>Node.js backend</a:t>
            </a:r>
            <a:endParaRPr b="0" i="0" sz="1600" u="none" cap="none" strike="noStrike">
              <a:solidFill>
                <a:schemeClr val="dk1"/>
              </a:solidFill>
              <a:latin typeface="Arial"/>
              <a:ea typeface="Arial"/>
              <a:cs typeface="Arial"/>
              <a:sym typeface="Arial"/>
            </a:endParaRPr>
          </a:p>
        </p:txBody>
      </p:sp>
      <p:sp>
        <p:nvSpPr>
          <p:cNvPr id="121" name="Google Shape;121;p8"/>
          <p:cNvSpPr/>
          <p:nvPr/>
        </p:nvSpPr>
        <p:spPr>
          <a:xfrm>
            <a:off x="3776472" y="2560320"/>
            <a:ext cx="1728216"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/analyze route</a:t>
            </a:r>
            <a:endParaRPr b="0" i="0" sz="12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Runs Julia</a:t>
            </a:r>
            <a:endParaRPr b="0" i="0" sz="12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Parses output to JSON</a:t>
            </a:r>
            <a:endParaRPr b="0" i="0" sz="1250" u="none" cap="none" strike="noStrike">
              <a:solidFill>
                <a:schemeClr val="dk1"/>
              </a:solidFill>
              <a:latin typeface="Arial"/>
              <a:ea typeface="Arial"/>
              <a:cs typeface="Arial"/>
              <a:sym typeface="Arial"/>
            </a:endParaRPr>
          </a:p>
        </p:txBody>
      </p:sp>
      <p:sp>
        <p:nvSpPr>
          <p:cNvPr id="122" name="Google Shape;122;p8"/>
          <p:cNvSpPr/>
          <p:nvPr/>
        </p:nvSpPr>
        <p:spPr>
          <a:xfrm>
            <a:off x="6400800" y="2057400"/>
            <a:ext cx="2057400" cy="1645920"/>
          </a:xfrm>
          <a:prstGeom prst="roundRect">
            <a:avLst>
              <a:gd fmla="val 4444"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6547104" y="2221992"/>
            <a:ext cx="1764792"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1600"/>
              <a:buFont typeface="Arial"/>
              <a:buNone/>
            </a:pPr>
            <a:r>
              <a:rPr b="1" i="0" lang="en-US" sz="1600" u="none" cap="none" strike="noStrike">
                <a:solidFill>
                  <a:srgbClr val="1F3A5F"/>
                </a:solidFill>
                <a:latin typeface="Arial"/>
                <a:ea typeface="Arial"/>
                <a:cs typeface="Arial"/>
                <a:sym typeface="Arial"/>
              </a:rPr>
              <a:t>Julia script</a:t>
            </a:r>
            <a:endParaRPr b="0" i="0" sz="1600" u="none" cap="none" strike="noStrike">
              <a:solidFill>
                <a:schemeClr val="dk1"/>
              </a:solidFill>
              <a:latin typeface="Arial"/>
              <a:ea typeface="Arial"/>
              <a:cs typeface="Arial"/>
              <a:sym typeface="Arial"/>
            </a:endParaRPr>
          </a:p>
        </p:txBody>
      </p:sp>
      <p:sp>
        <p:nvSpPr>
          <p:cNvPr id="124" name="Google Shape;124;p8"/>
          <p:cNvSpPr/>
          <p:nvPr/>
        </p:nvSpPr>
        <p:spPr>
          <a:xfrm>
            <a:off x="6565392" y="2560320"/>
            <a:ext cx="1728216"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Loads CSV</a:t>
            </a:r>
            <a:endParaRPr b="0" i="0" sz="12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Scores transactions</a:t>
            </a:r>
            <a:endParaRPr b="0" i="0" sz="12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Prints results + metrics</a:t>
            </a:r>
            <a:endParaRPr b="0" i="0" sz="1250" u="none" cap="none" strike="noStrike">
              <a:solidFill>
                <a:schemeClr val="dk1"/>
              </a:solidFill>
              <a:latin typeface="Arial"/>
              <a:ea typeface="Arial"/>
              <a:cs typeface="Arial"/>
              <a:sym typeface="Arial"/>
            </a:endParaRPr>
          </a:p>
        </p:txBody>
      </p:sp>
      <p:sp>
        <p:nvSpPr>
          <p:cNvPr id="125" name="Google Shape;125;p8"/>
          <p:cNvSpPr/>
          <p:nvPr/>
        </p:nvSpPr>
        <p:spPr>
          <a:xfrm>
            <a:off x="9189720" y="2057400"/>
            <a:ext cx="2194560" cy="1645920"/>
          </a:xfrm>
          <a:prstGeom prst="roundRect">
            <a:avLst>
              <a:gd fmla="val 4444"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9336024" y="2221992"/>
            <a:ext cx="1901952"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1600"/>
              <a:buFont typeface="Arial"/>
              <a:buNone/>
            </a:pPr>
            <a:r>
              <a:rPr b="1" i="0" lang="en-US" sz="1600" u="none" cap="none" strike="noStrike">
                <a:solidFill>
                  <a:srgbClr val="1F3A5F"/>
                </a:solidFill>
                <a:latin typeface="Arial"/>
                <a:ea typeface="Arial"/>
                <a:cs typeface="Arial"/>
                <a:sym typeface="Arial"/>
              </a:rPr>
              <a:t>Dataset</a:t>
            </a:r>
            <a:endParaRPr b="0" i="0" sz="1600" u="none" cap="none" strike="noStrike">
              <a:solidFill>
                <a:schemeClr val="dk1"/>
              </a:solidFill>
              <a:latin typeface="Arial"/>
              <a:ea typeface="Arial"/>
              <a:cs typeface="Arial"/>
              <a:sym typeface="Arial"/>
            </a:endParaRPr>
          </a:p>
        </p:txBody>
      </p:sp>
      <p:sp>
        <p:nvSpPr>
          <p:cNvPr id="127" name="Google Shape;127;p8"/>
          <p:cNvSpPr/>
          <p:nvPr/>
        </p:nvSpPr>
        <p:spPr>
          <a:xfrm>
            <a:off x="9354312" y="2560320"/>
            <a:ext cx="1865376"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245"/>
              </a:buClr>
              <a:buSzPts val="1250"/>
              <a:buFont typeface="Arial"/>
              <a:buNone/>
            </a:pPr>
            <a:r>
              <a:rPr b="0" i="0" lang="en-US" sz="1250" u="sng" cap="none" strike="noStrike">
                <a:solidFill>
                  <a:schemeClr val="hlink"/>
                </a:solidFill>
                <a:latin typeface="Arial"/>
                <a:ea typeface="Arial"/>
                <a:cs typeface="Arial"/>
                <a:sym typeface="Arial"/>
                <a:hlinkClick r:id="rId3"/>
              </a:rPr>
              <a:t>PaySim-style CSV</a:t>
            </a:r>
            <a:endParaRPr b="0" i="0" sz="12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20,000-row test run</a:t>
            </a:r>
            <a:endParaRPr b="0" i="0" sz="12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23245"/>
              </a:buClr>
              <a:buSzPts val="1250"/>
              <a:buFont typeface="Arial"/>
              <a:buNone/>
            </a:pPr>
            <a:r>
              <a:t/>
            </a:r>
            <a:endParaRPr b="0" i="0" sz="1250" u="none" cap="none" strike="noStrike">
              <a:solidFill>
                <a:schemeClr val="dk1"/>
              </a:solidFill>
              <a:latin typeface="Arial"/>
              <a:ea typeface="Arial"/>
              <a:cs typeface="Arial"/>
              <a:sym typeface="Arial"/>
            </a:endParaRPr>
          </a:p>
        </p:txBody>
      </p:sp>
      <p:sp>
        <p:nvSpPr>
          <p:cNvPr id="128" name="Google Shape;128;p8"/>
          <p:cNvSpPr/>
          <p:nvPr/>
        </p:nvSpPr>
        <p:spPr>
          <a:xfrm>
            <a:off x="731520" y="4343400"/>
            <a:ext cx="4754880" cy="1325880"/>
          </a:xfrm>
          <a:prstGeom prst="roundRect">
            <a:avLst>
              <a:gd fmla="val 5517"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932688" y="4572000"/>
            <a:ext cx="1371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500"/>
              <a:buFont typeface="Arial"/>
              <a:buNone/>
            </a:pPr>
            <a:r>
              <a:rPr b="1" i="0" lang="en-US" sz="1500" u="none" cap="none" strike="noStrike">
                <a:solidFill>
                  <a:srgbClr val="1F3A5F"/>
                </a:solidFill>
                <a:latin typeface="Arial"/>
                <a:ea typeface="Arial"/>
                <a:cs typeface="Arial"/>
                <a:sym typeface="Arial"/>
              </a:rPr>
              <a:t>Route example</a:t>
            </a:r>
            <a:endParaRPr b="0" i="0" sz="1500" u="none" cap="none" strike="noStrike">
              <a:solidFill>
                <a:schemeClr val="dk1"/>
              </a:solidFill>
              <a:latin typeface="Arial"/>
              <a:ea typeface="Arial"/>
              <a:cs typeface="Arial"/>
              <a:sym typeface="Arial"/>
            </a:endParaRPr>
          </a:p>
        </p:txBody>
      </p:sp>
      <p:sp>
        <p:nvSpPr>
          <p:cNvPr id="130" name="Google Shape;130;p8"/>
          <p:cNvSpPr/>
          <p:nvPr/>
        </p:nvSpPr>
        <p:spPr>
          <a:xfrm>
            <a:off x="5806440" y="4343400"/>
            <a:ext cx="5486400" cy="1325880"/>
          </a:xfrm>
          <a:prstGeom prst="roundRect">
            <a:avLst>
              <a:gd fmla="val 5517"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6016752" y="4572000"/>
            <a:ext cx="21031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500"/>
              <a:buFont typeface="Arial"/>
              <a:buNone/>
            </a:pPr>
            <a:r>
              <a:rPr b="1" i="0" lang="en-US" sz="1500" u="none" cap="none" strike="noStrike">
                <a:solidFill>
                  <a:srgbClr val="1F3A5F"/>
                </a:solidFill>
                <a:latin typeface="Arial"/>
                <a:ea typeface="Arial"/>
                <a:cs typeface="Arial"/>
                <a:sym typeface="Arial"/>
              </a:rPr>
              <a:t>Data flow in one sentence</a:t>
            </a:r>
            <a:endParaRPr b="0" i="0" sz="1500" u="none" cap="none" strike="noStrike">
              <a:solidFill>
                <a:schemeClr val="dk1"/>
              </a:solidFill>
              <a:latin typeface="Arial"/>
              <a:ea typeface="Arial"/>
              <a:cs typeface="Arial"/>
              <a:sym typeface="Arial"/>
            </a:endParaRPr>
          </a:p>
        </p:txBody>
      </p:sp>
      <p:sp>
        <p:nvSpPr>
          <p:cNvPr id="132" name="Google Shape;132;p8"/>
          <p:cNvSpPr/>
          <p:nvPr/>
        </p:nvSpPr>
        <p:spPr>
          <a:xfrm>
            <a:off x="6016752" y="4882896"/>
            <a:ext cx="49834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300"/>
              <a:buFont typeface="Arial"/>
              <a:buNone/>
            </a:pPr>
            <a:r>
              <a:rPr b="0" i="0" lang="en-US" sz="1300" u="none" cap="none" strike="noStrike">
                <a:solidFill>
                  <a:srgbClr val="223245"/>
                </a:solidFill>
                <a:latin typeface="Arial"/>
                <a:ea typeface="Arial"/>
                <a:cs typeface="Arial"/>
                <a:sym typeface="Arial"/>
              </a:rPr>
              <a:t>The browser sends a request, Node runs the Julia script on the CSV, the backend parses the output into JSON, and the dashboard updates the table, metrics, and chart.</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37" name="Shape 137"/>
        <p:cNvGrpSpPr/>
        <p:nvPr/>
      </p:nvGrpSpPr>
      <p:grpSpPr>
        <a:xfrm>
          <a:off x="0" y="0"/>
          <a:ext cx="0" cy="0"/>
          <a:chOff x="0" y="0"/>
          <a:chExt cx="0" cy="0"/>
        </a:xfrm>
      </p:grpSpPr>
      <p:sp>
        <p:nvSpPr>
          <p:cNvPr id="138" name="Google Shape;138;p9"/>
          <p:cNvSpPr/>
          <p:nvPr/>
        </p:nvSpPr>
        <p:spPr>
          <a:xfrm>
            <a:off x="0" y="0"/>
            <a:ext cx="12191695" cy="256032"/>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
          <p:cNvSpPr/>
          <p:nvPr/>
        </p:nvSpPr>
        <p:spPr>
          <a:xfrm>
            <a:off x="548640" y="41148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400"/>
              <a:buFont typeface="Play"/>
              <a:buNone/>
            </a:pPr>
            <a:r>
              <a:rPr b="1" lang="en-US" sz="2400">
                <a:solidFill>
                  <a:srgbClr val="1F3A5F"/>
                </a:solidFill>
                <a:latin typeface="Play"/>
                <a:ea typeface="Play"/>
                <a:cs typeface="Play"/>
                <a:sym typeface="Play"/>
              </a:rPr>
              <a:t>How Our Project Met Course Requirements</a:t>
            </a:r>
            <a:endParaRPr b="0" i="0" sz="2400" u="none" cap="none" strike="noStrike">
              <a:solidFill>
                <a:schemeClr val="dk1"/>
              </a:solidFill>
              <a:latin typeface="Arial"/>
              <a:ea typeface="Arial"/>
              <a:cs typeface="Arial"/>
              <a:sym typeface="Arial"/>
            </a:endParaRPr>
          </a:p>
        </p:txBody>
      </p:sp>
      <p:sp>
        <p:nvSpPr>
          <p:cNvPr id="140" name="Google Shape;140;p9"/>
          <p:cNvSpPr/>
          <p:nvPr/>
        </p:nvSpPr>
        <p:spPr>
          <a:xfrm>
            <a:off x="566928" y="941832"/>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50"/>
              <a:buFont typeface="Arial"/>
              <a:buNone/>
            </a:pPr>
            <a:r>
              <a:rPr b="0" i="0" lang="en-US" sz="1050" u="none" cap="none" strike="noStrike">
                <a:solidFill>
                  <a:srgbClr val="5F6F82"/>
                </a:solidFill>
                <a:latin typeface="Arial"/>
                <a:ea typeface="Arial"/>
                <a:cs typeface="Arial"/>
                <a:sym typeface="Arial"/>
              </a:rPr>
              <a:t>The project combines the three course requirements into one system.</a:t>
            </a:r>
            <a:endParaRPr b="0" i="0" sz="1050" u="none" cap="none" strike="noStrike">
              <a:solidFill>
                <a:schemeClr val="dk1"/>
              </a:solidFill>
              <a:latin typeface="Arial"/>
              <a:ea typeface="Arial"/>
              <a:cs typeface="Arial"/>
              <a:sym typeface="Arial"/>
            </a:endParaRPr>
          </a:p>
        </p:txBody>
      </p:sp>
      <p:sp>
        <p:nvSpPr>
          <p:cNvPr id="141" name="Google Shape;141;p9"/>
          <p:cNvSpPr/>
          <p:nvPr/>
        </p:nvSpPr>
        <p:spPr>
          <a:xfrm>
            <a:off x="566928" y="6473952"/>
            <a:ext cx="4114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900"/>
              <a:buFont typeface="Arial"/>
              <a:buNone/>
            </a:pPr>
            <a:r>
              <a:rPr b="0" i="0" lang="en-US" sz="900" u="none" cap="none" strike="noStrike">
                <a:solidFill>
                  <a:srgbClr val="5F6F82"/>
                </a:solidFill>
                <a:latin typeface="Arial"/>
                <a:ea typeface="Arial"/>
                <a:cs typeface="Arial"/>
                <a:sym typeface="Arial"/>
              </a:rPr>
              <a:t>ITCS 4102 / 5102 Final Project</a:t>
            </a:r>
            <a:endParaRPr b="0" i="0" sz="900" u="none" cap="none" strike="noStrike">
              <a:solidFill>
                <a:schemeClr val="dk1"/>
              </a:solidFill>
              <a:latin typeface="Arial"/>
              <a:ea typeface="Arial"/>
              <a:cs typeface="Arial"/>
              <a:sym typeface="Arial"/>
            </a:endParaRPr>
          </a:p>
        </p:txBody>
      </p:sp>
      <p:sp>
        <p:nvSpPr>
          <p:cNvPr id="142" name="Google Shape;142;p9"/>
          <p:cNvSpPr/>
          <p:nvPr/>
        </p:nvSpPr>
        <p:spPr>
          <a:xfrm>
            <a:off x="640075" y="1417326"/>
            <a:ext cx="2834700" cy="4960800"/>
          </a:xfrm>
          <a:prstGeom prst="roundRect">
            <a:avLst>
              <a:gd fmla="val 2581"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
          <p:cNvSpPr/>
          <p:nvPr/>
        </p:nvSpPr>
        <p:spPr>
          <a:xfrm>
            <a:off x="786384" y="1591056"/>
            <a:ext cx="868680" cy="274320"/>
          </a:xfrm>
          <a:prstGeom prst="roundRect">
            <a:avLst>
              <a:gd fmla="val 26667" name="adj"/>
            </a:avLst>
          </a:prstGeom>
          <a:solidFill>
            <a:srgbClr val="EAF1FF"/>
          </a:solidFill>
          <a:ln cap="flat" cmpd="sng" w="12700">
            <a:solidFill>
              <a:srgbClr val="EAF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9"/>
          <p:cNvSpPr/>
          <p:nvPr/>
        </p:nvSpPr>
        <p:spPr>
          <a:xfrm>
            <a:off x="859536" y="1636776"/>
            <a:ext cx="72237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900"/>
              <a:buFont typeface="Arial"/>
              <a:buNone/>
            </a:pPr>
            <a:r>
              <a:rPr b="1" i="0" lang="en-US" sz="900" u="none" cap="none" strike="noStrike">
                <a:solidFill>
                  <a:srgbClr val="1F3A5F"/>
                </a:solidFill>
                <a:latin typeface="Arial"/>
                <a:ea typeface="Arial"/>
                <a:cs typeface="Arial"/>
                <a:sym typeface="Arial"/>
              </a:rPr>
              <a:t>Program 1</a:t>
            </a:r>
            <a:endParaRPr b="0" i="0" sz="900" u="none" cap="none" strike="noStrike">
              <a:solidFill>
                <a:schemeClr val="dk1"/>
              </a:solidFill>
              <a:latin typeface="Arial"/>
              <a:ea typeface="Arial"/>
              <a:cs typeface="Arial"/>
              <a:sym typeface="Arial"/>
            </a:endParaRPr>
          </a:p>
        </p:txBody>
      </p:sp>
      <p:sp>
        <p:nvSpPr>
          <p:cNvPr id="145" name="Google Shape;145;p9"/>
          <p:cNvSpPr/>
          <p:nvPr/>
        </p:nvSpPr>
        <p:spPr>
          <a:xfrm>
            <a:off x="786384" y="1965960"/>
            <a:ext cx="2514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600"/>
              <a:buFont typeface="Arial"/>
              <a:buNone/>
            </a:pPr>
            <a:r>
              <a:rPr b="1" i="0" lang="en-US" sz="1600" u="none" cap="none" strike="noStrike">
                <a:solidFill>
                  <a:srgbClr val="1F3A5F"/>
                </a:solidFill>
                <a:latin typeface="Arial"/>
                <a:ea typeface="Arial"/>
                <a:cs typeface="Arial"/>
                <a:sym typeface="Arial"/>
              </a:rPr>
              <a:t>Data types + built-in methods</a:t>
            </a:r>
            <a:endParaRPr b="1" i="0" sz="1600" u="none" cap="none" strike="noStrike">
              <a:solidFill>
                <a:schemeClr val="dk1"/>
              </a:solidFill>
            </a:endParaRPr>
          </a:p>
        </p:txBody>
      </p:sp>
      <p:sp>
        <p:nvSpPr>
          <p:cNvPr id="146" name="Google Shape;146;p9"/>
          <p:cNvSpPr/>
          <p:nvPr/>
        </p:nvSpPr>
        <p:spPr>
          <a:xfrm>
            <a:off x="800034" y="2327150"/>
            <a:ext cx="24873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50"/>
              <a:buFont typeface="Arial"/>
              <a:buNone/>
            </a:pPr>
            <a:r>
              <a:rPr lang="en-US" sz="1250">
                <a:solidFill>
                  <a:srgbClr val="0E0E0E"/>
                </a:solidFill>
              </a:rPr>
              <a:t>D</a:t>
            </a:r>
            <a:r>
              <a:rPr b="0" i="0" lang="en-US" sz="1250" u="none" cap="none" strike="noStrike">
                <a:solidFill>
                  <a:srgbClr val="0E0E0E"/>
                </a:solidFill>
                <a:latin typeface="Arial"/>
                <a:ea typeface="Arial"/>
                <a:cs typeface="Arial"/>
                <a:sym typeface="Arial"/>
              </a:rPr>
              <a:t>emonstrates Int, Float64, String, and Bool, along with built-in methods like abs, round, replace, xor, sum, and mean.</a:t>
            </a:r>
            <a:endParaRPr b="0" i="0" sz="1250" u="none" cap="none" strike="noStrike">
              <a:solidFill>
                <a:srgbClr val="0E0E0E"/>
              </a:solidFill>
              <a:latin typeface="Arial"/>
              <a:ea typeface="Arial"/>
              <a:cs typeface="Arial"/>
              <a:sym typeface="Arial"/>
            </a:endParaRPr>
          </a:p>
        </p:txBody>
      </p:sp>
      <p:sp>
        <p:nvSpPr>
          <p:cNvPr id="147" name="Google Shape;147;p9"/>
          <p:cNvSpPr/>
          <p:nvPr/>
        </p:nvSpPr>
        <p:spPr>
          <a:xfrm>
            <a:off x="4069075" y="1417326"/>
            <a:ext cx="2834700" cy="4960800"/>
          </a:xfrm>
          <a:prstGeom prst="roundRect">
            <a:avLst>
              <a:gd fmla="val 2581"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
          <p:cNvSpPr/>
          <p:nvPr/>
        </p:nvSpPr>
        <p:spPr>
          <a:xfrm>
            <a:off x="4215384" y="1591056"/>
            <a:ext cx="868680" cy="274320"/>
          </a:xfrm>
          <a:prstGeom prst="roundRect">
            <a:avLst>
              <a:gd fmla="val 26667" name="adj"/>
            </a:avLst>
          </a:prstGeom>
          <a:solidFill>
            <a:srgbClr val="EAF1FF"/>
          </a:solidFill>
          <a:ln cap="flat" cmpd="sng" w="12700">
            <a:solidFill>
              <a:srgbClr val="EAF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p:nvPr/>
        </p:nvSpPr>
        <p:spPr>
          <a:xfrm>
            <a:off x="4288536" y="1636776"/>
            <a:ext cx="72237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900"/>
              <a:buFont typeface="Arial"/>
              <a:buNone/>
            </a:pPr>
            <a:r>
              <a:rPr b="1" i="0" lang="en-US" sz="900" u="none" cap="none" strike="noStrike">
                <a:solidFill>
                  <a:srgbClr val="1F3A5F"/>
                </a:solidFill>
                <a:latin typeface="Arial"/>
                <a:ea typeface="Arial"/>
                <a:cs typeface="Arial"/>
                <a:sym typeface="Arial"/>
              </a:rPr>
              <a:t>Program 2</a:t>
            </a:r>
            <a:endParaRPr b="0" i="0" sz="900" u="none" cap="none" strike="noStrike">
              <a:solidFill>
                <a:schemeClr val="dk1"/>
              </a:solidFill>
              <a:latin typeface="Arial"/>
              <a:ea typeface="Arial"/>
              <a:cs typeface="Arial"/>
              <a:sym typeface="Arial"/>
            </a:endParaRPr>
          </a:p>
        </p:txBody>
      </p:sp>
      <p:sp>
        <p:nvSpPr>
          <p:cNvPr id="150" name="Google Shape;150;p9"/>
          <p:cNvSpPr/>
          <p:nvPr/>
        </p:nvSpPr>
        <p:spPr>
          <a:xfrm>
            <a:off x="4215384" y="1965960"/>
            <a:ext cx="2514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600"/>
              <a:buFont typeface="Arial"/>
              <a:buNone/>
            </a:pPr>
            <a:r>
              <a:rPr b="1" i="0" lang="en-US" sz="1600" u="none" cap="none" strike="noStrike">
                <a:solidFill>
                  <a:srgbClr val="1F3A5F"/>
                </a:solidFill>
                <a:latin typeface="Arial"/>
                <a:ea typeface="Arial"/>
                <a:cs typeface="Arial"/>
                <a:sym typeface="Arial"/>
              </a:rPr>
              <a:t>Data structures + control structures</a:t>
            </a:r>
            <a:endParaRPr b="0" i="0" sz="1600" u="none" cap="none" strike="noStrike">
              <a:solidFill>
                <a:schemeClr val="dk1"/>
              </a:solidFill>
              <a:latin typeface="Arial"/>
              <a:ea typeface="Arial"/>
              <a:cs typeface="Arial"/>
              <a:sym typeface="Arial"/>
            </a:endParaRPr>
          </a:p>
        </p:txBody>
      </p:sp>
      <p:sp>
        <p:nvSpPr>
          <p:cNvPr id="151" name="Google Shape;151;p9"/>
          <p:cNvSpPr/>
          <p:nvPr/>
        </p:nvSpPr>
        <p:spPr>
          <a:xfrm>
            <a:off x="4215384" y="2514600"/>
            <a:ext cx="2487168"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50"/>
              <a:buFont typeface="Arial"/>
              <a:buNone/>
            </a:pPr>
            <a:r>
              <a:rPr b="0" i="0" lang="en-US" sz="1250" u="none" cap="none" strike="noStrike">
                <a:solidFill>
                  <a:schemeClr val="dk1"/>
                </a:solidFill>
                <a:latin typeface="Arial"/>
                <a:ea typeface="Arial"/>
                <a:cs typeface="Arial"/>
                <a:sym typeface="Arial"/>
              </a:rPr>
              <a:t>The main program uses structs, mutable structs, vectors, dictionaries, loops, conditionals, and helper functions to manage transactions and account history.</a:t>
            </a:r>
            <a:endParaRPr b="0" i="0" sz="1250" u="none" cap="none" strike="noStrike">
              <a:solidFill>
                <a:schemeClr val="dk1"/>
              </a:solidFill>
              <a:latin typeface="Arial"/>
              <a:ea typeface="Arial"/>
              <a:cs typeface="Arial"/>
              <a:sym typeface="Arial"/>
            </a:endParaRPr>
          </a:p>
        </p:txBody>
      </p:sp>
      <p:sp>
        <p:nvSpPr>
          <p:cNvPr id="152" name="Google Shape;152;p9"/>
          <p:cNvSpPr/>
          <p:nvPr/>
        </p:nvSpPr>
        <p:spPr>
          <a:xfrm>
            <a:off x="7498075" y="1417326"/>
            <a:ext cx="2834700" cy="4960800"/>
          </a:xfrm>
          <a:prstGeom prst="roundRect">
            <a:avLst>
              <a:gd fmla="val 2581"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7644384" y="1591056"/>
            <a:ext cx="868680" cy="274320"/>
          </a:xfrm>
          <a:prstGeom prst="roundRect">
            <a:avLst>
              <a:gd fmla="val 26667" name="adj"/>
            </a:avLst>
          </a:prstGeom>
          <a:solidFill>
            <a:srgbClr val="EAF1FF"/>
          </a:solidFill>
          <a:ln cap="flat" cmpd="sng" w="12700">
            <a:solidFill>
              <a:srgbClr val="EAF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p:nvPr/>
        </p:nvSpPr>
        <p:spPr>
          <a:xfrm>
            <a:off x="7717536" y="1636776"/>
            <a:ext cx="72237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900"/>
              <a:buFont typeface="Arial"/>
              <a:buNone/>
            </a:pPr>
            <a:r>
              <a:rPr b="1" i="0" lang="en-US" sz="900" u="none" cap="none" strike="noStrike">
                <a:solidFill>
                  <a:srgbClr val="1F3A5F"/>
                </a:solidFill>
                <a:latin typeface="Arial"/>
                <a:ea typeface="Arial"/>
                <a:cs typeface="Arial"/>
                <a:sym typeface="Arial"/>
              </a:rPr>
              <a:t>Program 3</a:t>
            </a:r>
            <a:endParaRPr b="0" i="0" sz="900" u="none" cap="none" strike="noStrike">
              <a:solidFill>
                <a:schemeClr val="dk1"/>
              </a:solidFill>
              <a:latin typeface="Arial"/>
              <a:ea typeface="Arial"/>
              <a:cs typeface="Arial"/>
              <a:sym typeface="Arial"/>
            </a:endParaRPr>
          </a:p>
        </p:txBody>
      </p:sp>
      <p:sp>
        <p:nvSpPr>
          <p:cNvPr id="155" name="Google Shape;155;p9"/>
          <p:cNvSpPr/>
          <p:nvPr/>
        </p:nvSpPr>
        <p:spPr>
          <a:xfrm>
            <a:off x="7644384" y="1965960"/>
            <a:ext cx="2514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600"/>
              <a:buFont typeface="Arial"/>
              <a:buNone/>
            </a:pPr>
            <a:r>
              <a:rPr b="1" i="0" lang="en-US" sz="1600" u="none" cap="none" strike="noStrike">
                <a:solidFill>
                  <a:srgbClr val="1F3A5F"/>
                </a:solidFill>
                <a:latin typeface="Arial"/>
                <a:ea typeface="Arial"/>
                <a:cs typeface="Arial"/>
                <a:sym typeface="Arial"/>
              </a:rPr>
              <a:t>Exception handling</a:t>
            </a:r>
            <a:endParaRPr b="0" i="0" sz="1600" u="none" cap="none" strike="noStrike">
              <a:solidFill>
                <a:schemeClr val="dk1"/>
              </a:solidFill>
              <a:latin typeface="Arial"/>
              <a:ea typeface="Arial"/>
              <a:cs typeface="Arial"/>
              <a:sym typeface="Arial"/>
            </a:endParaRPr>
          </a:p>
        </p:txBody>
      </p:sp>
      <p:sp>
        <p:nvSpPr>
          <p:cNvPr id="156" name="Google Shape;156;p9"/>
          <p:cNvSpPr/>
          <p:nvPr/>
        </p:nvSpPr>
        <p:spPr>
          <a:xfrm>
            <a:off x="7644384" y="2514600"/>
            <a:ext cx="2487168"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50"/>
              <a:buFont typeface="Arial"/>
              <a:buNone/>
            </a:pPr>
            <a:r>
              <a:rPr b="0" i="0" lang="en-US" sz="1250" u="none" cap="none" strike="noStrike">
                <a:solidFill>
                  <a:schemeClr val="dk1"/>
                </a:solidFill>
                <a:latin typeface="Arial"/>
                <a:ea typeface="Arial"/>
                <a:cs typeface="Arial"/>
                <a:sym typeface="Arial"/>
              </a:rPr>
              <a:t>CSV lines are parsed inside a try/catch block so malformed rows can be skipped without stopping the entire run.</a:t>
            </a:r>
            <a:endParaRPr b="0" i="0" sz="1250" u="none" cap="none" strike="noStrike">
              <a:solidFill>
                <a:schemeClr val="dk1"/>
              </a:solidFill>
              <a:latin typeface="Arial"/>
              <a:ea typeface="Arial"/>
              <a:cs typeface="Arial"/>
              <a:sym typeface="Arial"/>
            </a:endParaRPr>
          </a:p>
        </p:txBody>
      </p:sp>
      <p:sp>
        <p:nvSpPr>
          <p:cNvPr id="157" name="Google Shape;157;p9"/>
          <p:cNvSpPr/>
          <p:nvPr/>
        </p:nvSpPr>
        <p:spPr>
          <a:xfrm>
            <a:off x="767875" y="3372275"/>
            <a:ext cx="2652000" cy="2919000"/>
          </a:xfrm>
          <a:prstGeom prst="rect">
            <a:avLst/>
          </a:prstGeom>
          <a:solidFill>
            <a:srgbClr val="F7F9FC"/>
          </a:solidFill>
          <a:ln cap="flat" cmpd="sng" w="9525">
            <a:solidFill>
              <a:srgbClr val="D6DEE8"/>
            </a:solidFill>
            <a:prstDash val="solid"/>
            <a:round/>
            <a:headEnd len="sm" w="sm" type="none"/>
            <a:tailEnd len="sm" w="sm" type="none"/>
          </a:ln>
        </p:spPr>
        <p:txBody>
          <a:bodyPr anchorCtr="0" anchor="ctr" bIns="625" lIns="625" spcFirstLastPara="1" rIns="625" wrap="square" tIns="625">
            <a:noAutofit/>
          </a:bodyPr>
          <a:lstStyle/>
          <a:p>
            <a:pPr indent="0" lvl="0" marL="0" rtl="0" algn="l">
              <a:lnSpc>
                <a:spcPct val="150000"/>
              </a:lnSpc>
              <a:spcBef>
                <a:spcPts val="0"/>
              </a:spcBef>
              <a:spcAft>
                <a:spcPts val="0"/>
              </a:spcAft>
              <a:buClr>
                <a:schemeClr val="dk1"/>
              </a:buClr>
              <a:buSzPts val="1100"/>
              <a:buFont typeface="Arial"/>
              <a:buNone/>
            </a:pPr>
            <a:r>
              <a:rPr lang="en-US" sz="900">
                <a:solidFill>
                  <a:srgbClr val="0E0E0E"/>
                </a:solidFill>
                <a:latin typeface="Courier New"/>
                <a:ea typeface="Courier New"/>
                <a:cs typeface="Courier New"/>
                <a:sym typeface="Courier New"/>
              </a:rPr>
              <a:t> # Int</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E0E0E"/>
                </a:solidFill>
                <a:latin typeface="Courier New"/>
                <a:ea typeface="Courier New"/>
                <a:cs typeface="Courier New"/>
                <a:sym typeface="Courier New"/>
              </a:rPr>
              <a:t>   i::</a:t>
            </a:r>
            <a:r>
              <a:rPr i="1" lang="en-US" sz="900">
                <a:solidFill>
                  <a:srgbClr val="0E0E0E"/>
                </a:solidFill>
                <a:latin typeface="Courier New"/>
                <a:ea typeface="Courier New"/>
                <a:cs typeface="Courier New"/>
                <a:sym typeface="Courier New"/>
              </a:rPr>
              <a:t>Int</a:t>
            </a:r>
            <a:r>
              <a:rPr lang="en-US" sz="900">
                <a:solidFill>
                  <a:srgbClr val="0E0E0E"/>
                </a:solidFill>
                <a:latin typeface="Courier New"/>
                <a:ea typeface="Courier New"/>
                <a:cs typeface="Courier New"/>
                <a:sym typeface="Courier New"/>
              </a:rPr>
              <a:t> = -42</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E0E0E"/>
                </a:solidFill>
                <a:latin typeface="Courier New"/>
                <a:ea typeface="Courier New"/>
                <a:cs typeface="Courier New"/>
                <a:sym typeface="Courier New"/>
              </a:rPr>
              <a:t>   println("\n[Int] i = ", i)</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E0E0E"/>
                </a:solidFill>
                <a:latin typeface="Courier New"/>
                <a:ea typeface="Courier New"/>
                <a:cs typeface="Courier New"/>
                <a:sym typeface="Courier New"/>
              </a:rPr>
              <a:t>   println("  abs(i) = ", abs(i))                 # method 1</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E0E0E"/>
                </a:solidFill>
                <a:latin typeface="Courier New"/>
                <a:ea typeface="Courier New"/>
                <a:cs typeface="Courier New"/>
                <a:sym typeface="Courier New"/>
              </a:rPr>
              <a:t>   println("  iseven(abs(i)) = ", iseven(abs(i))) # method 2</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E0E0E"/>
                </a:solidFill>
                <a:latin typeface="Courier New"/>
                <a:ea typeface="Courier New"/>
                <a:cs typeface="Courier New"/>
                <a:sym typeface="Courier New"/>
              </a:rPr>
              <a:t>   # Float64</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E0E0E"/>
                </a:solidFill>
                <a:latin typeface="Courier New"/>
                <a:ea typeface="Courier New"/>
                <a:cs typeface="Courier New"/>
                <a:sym typeface="Courier New"/>
              </a:rPr>
              <a:t>   x::</a:t>
            </a:r>
            <a:r>
              <a:rPr i="1" lang="en-US" sz="900">
                <a:solidFill>
                  <a:srgbClr val="0E0E0E"/>
                </a:solidFill>
                <a:latin typeface="Courier New"/>
                <a:ea typeface="Courier New"/>
                <a:cs typeface="Courier New"/>
                <a:sym typeface="Courier New"/>
              </a:rPr>
              <a:t>Float64</a:t>
            </a:r>
            <a:r>
              <a:rPr lang="en-US" sz="900">
                <a:solidFill>
                  <a:srgbClr val="0E0E0E"/>
                </a:solidFill>
                <a:latin typeface="Courier New"/>
                <a:ea typeface="Courier New"/>
                <a:cs typeface="Courier New"/>
                <a:sym typeface="Courier New"/>
              </a:rPr>
              <a:t> = 123.456</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E0E0E"/>
                </a:solidFill>
                <a:latin typeface="Courier New"/>
                <a:ea typeface="Courier New"/>
                <a:cs typeface="Courier New"/>
                <a:sym typeface="Courier New"/>
              </a:rPr>
              <a:t>   println("\n[Float64] x = ", x)</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E0E0E"/>
                </a:solidFill>
                <a:latin typeface="Courier New"/>
                <a:ea typeface="Courier New"/>
                <a:cs typeface="Courier New"/>
                <a:sym typeface="Courier New"/>
              </a:rPr>
              <a:t>   println("  round(x, digits=1) = ", round(x, digits=1)) # method 1</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rgbClr val="0E0E0E"/>
                </a:solidFill>
                <a:latin typeface="Courier New"/>
                <a:ea typeface="Courier New"/>
                <a:cs typeface="Courier New"/>
                <a:sym typeface="Courier New"/>
              </a:rPr>
              <a:t>   println("  ceil(x) = ", ceil(x))    </a:t>
            </a:r>
            <a:endParaRPr sz="900">
              <a:solidFill>
                <a:srgbClr val="0E0E0E"/>
              </a:solidFill>
              <a:latin typeface="Courier New"/>
              <a:ea typeface="Courier New"/>
              <a:cs typeface="Courier New"/>
              <a:sym typeface="Courier New"/>
            </a:endParaRPr>
          </a:p>
          <a:p>
            <a:pPr indent="0" lvl="0" marL="0" marR="0" rtl="0" algn="l">
              <a:spcBef>
                <a:spcPts val="0"/>
              </a:spcBef>
              <a:spcAft>
                <a:spcPts val="0"/>
              </a:spcAft>
              <a:buClr>
                <a:srgbClr val="8292A2"/>
              </a:buClr>
              <a:buSzPts val="1400"/>
              <a:buFont typeface="Consolas"/>
              <a:buNone/>
            </a:pPr>
            <a:r>
              <a:t/>
            </a:r>
            <a:endParaRPr sz="900">
              <a:solidFill>
                <a:srgbClr val="0E0E0E"/>
              </a:solidFill>
              <a:latin typeface="Courier New"/>
              <a:ea typeface="Courier New"/>
              <a:cs typeface="Courier New"/>
              <a:sym typeface="Courier New"/>
            </a:endParaRPr>
          </a:p>
        </p:txBody>
      </p:sp>
      <p:sp>
        <p:nvSpPr>
          <p:cNvPr id="158" name="Google Shape;158;p9"/>
          <p:cNvSpPr/>
          <p:nvPr/>
        </p:nvSpPr>
        <p:spPr>
          <a:xfrm>
            <a:off x="4160338" y="3931925"/>
            <a:ext cx="2652000" cy="2359200"/>
          </a:xfrm>
          <a:prstGeom prst="rect">
            <a:avLst/>
          </a:prstGeom>
          <a:solidFill>
            <a:srgbClr val="F7F9FC"/>
          </a:solidFill>
          <a:ln cap="flat" cmpd="sng" w="9525">
            <a:solidFill>
              <a:srgbClr val="D6DEE8"/>
            </a:solidFill>
            <a:prstDash val="solid"/>
            <a:round/>
            <a:headEnd len="sm" w="sm" type="none"/>
            <a:tailEnd len="sm" w="sm" type="none"/>
          </a:ln>
        </p:spPr>
        <p:txBody>
          <a:bodyPr anchorCtr="0" anchor="ctr" bIns="625" lIns="625" spcFirstLastPara="1" rIns="625" wrap="square" tIns="625">
            <a:noAutofit/>
          </a:bodyPr>
          <a:lstStyle/>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Structure customer stats</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mutable struct CustomerStats</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count::</a:t>
            </a:r>
            <a:r>
              <a:rPr i="1" lang="en-US" sz="900">
                <a:solidFill>
                  <a:schemeClr val="dk1"/>
                </a:solidFill>
                <a:latin typeface="Courier New"/>
                <a:ea typeface="Courier New"/>
                <a:cs typeface="Courier New"/>
                <a:sym typeface="Courier New"/>
              </a:rPr>
              <a:t>Int</a:t>
            </a:r>
            <a:endParaRPr i="1"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total_amount::</a:t>
            </a:r>
            <a:r>
              <a:rPr i="1" lang="en-US" sz="900">
                <a:solidFill>
                  <a:schemeClr val="dk1"/>
                </a:solidFill>
                <a:latin typeface="Courier New"/>
                <a:ea typeface="Courier New"/>
                <a:cs typeface="Courier New"/>
                <a:sym typeface="Courier New"/>
              </a:rPr>
              <a:t>Float64</a:t>
            </a:r>
            <a:endParaRPr i="1"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risky_count::</a:t>
            </a:r>
            <a:r>
              <a:rPr i="1" lang="en-US" sz="900">
                <a:solidFill>
                  <a:schemeClr val="dk1"/>
                </a:solidFill>
                <a:latin typeface="Courier New"/>
                <a:ea typeface="Courier New"/>
                <a:cs typeface="Courier New"/>
                <a:sym typeface="Courier New"/>
              </a:rPr>
              <a:t>Int</a:t>
            </a:r>
            <a:endParaRPr i="1"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end</a:t>
            </a:r>
            <a:endParaRPr sz="900">
              <a:solidFill>
                <a:schemeClr val="dk1"/>
              </a:solidFill>
              <a:latin typeface="Courier New"/>
              <a:ea typeface="Courier New"/>
              <a:cs typeface="Courier New"/>
              <a:sym typeface="Courier New"/>
            </a:endParaRPr>
          </a:p>
          <a:p>
            <a:pPr indent="0" lvl="0" marL="0" marR="0" rtl="0" algn="l">
              <a:spcBef>
                <a:spcPts val="0"/>
              </a:spcBef>
              <a:spcAft>
                <a:spcPts val="0"/>
              </a:spcAft>
              <a:buClr>
                <a:srgbClr val="8292A2"/>
              </a:buClr>
              <a:buSzPts val="1400"/>
              <a:buFont typeface="Consolas"/>
              <a:buNone/>
            </a:pPr>
            <a:r>
              <a:t/>
            </a:r>
            <a:endParaRPr sz="900">
              <a:solidFill>
                <a:schemeClr val="dk1"/>
              </a:solidFill>
              <a:latin typeface="Courier New"/>
              <a:ea typeface="Courier New"/>
              <a:cs typeface="Courier New"/>
              <a:sym typeface="Courier New"/>
            </a:endParaRPr>
          </a:p>
        </p:txBody>
      </p:sp>
      <p:sp>
        <p:nvSpPr>
          <p:cNvPr id="159" name="Google Shape;159;p9"/>
          <p:cNvSpPr/>
          <p:nvPr/>
        </p:nvSpPr>
        <p:spPr>
          <a:xfrm>
            <a:off x="7644375" y="3931925"/>
            <a:ext cx="2514600" cy="2359200"/>
          </a:xfrm>
          <a:prstGeom prst="rect">
            <a:avLst/>
          </a:prstGeom>
          <a:solidFill>
            <a:srgbClr val="F7F9FC"/>
          </a:solidFill>
          <a:ln cap="flat" cmpd="sng" w="9525">
            <a:solidFill>
              <a:srgbClr val="D6DEE8"/>
            </a:solidFill>
            <a:prstDash val="solid"/>
            <a:round/>
            <a:headEnd len="sm" w="sm" type="none"/>
            <a:tailEnd len="sm" w="sm" type="none"/>
          </a:ln>
        </p:spPr>
        <p:txBody>
          <a:bodyPr anchorCtr="0" anchor="ctr" bIns="625" lIns="625" spcFirstLastPara="1" rIns="625" wrap="square" tIns="625">
            <a:noAutofit/>
          </a:bodyPr>
          <a:lstStyle/>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try</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push!(txns, parse_paysim_line(line))</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catch e</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println("Skipping bad line: ", e)</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end</a:t>
            </a:r>
            <a:endParaRPr sz="900">
              <a:solidFill>
                <a:schemeClr val="dk1"/>
              </a:solidFill>
              <a:latin typeface="Courier New"/>
              <a:ea typeface="Courier New"/>
              <a:cs typeface="Courier New"/>
              <a:sym typeface="Courier New"/>
            </a:endParaRPr>
          </a:p>
          <a:p>
            <a:pPr indent="0" lvl="0" marL="0" marR="0" rtl="0" algn="l">
              <a:spcBef>
                <a:spcPts val="0"/>
              </a:spcBef>
              <a:spcAft>
                <a:spcPts val="0"/>
              </a:spcAft>
              <a:buClr>
                <a:srgbClr val="8292A2"/>
              </a:buClr>
              <a:buSzPts val="1400"/>
              <a:buFont typeface="Consolas"/>
              <a:buNone/>
            </a:pPr>
            <a:r>
              <a:t/>
            </a:r>
            <a:endParaRPr sz="900">
              <a:solidFill>
                <a:schemeClr val="dk1"/>
              </a:solidFill>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64" name="Shape 164"/>
        <p:cNvGrpSpPr/>
        <p:nvPr/>
      </p:nvGrpSpPr>
      <p:grpSpPr>
        <a:xfrm>
          <a:off x="0" y="0"/>
          <a:ext cx="0" cy="0"/>
          <a:chOff x="0" y="0"/>
          <a:chExt cx="0" cy="0"/>
        </a:xfrm>
      </p:grpSpPr>
      <p:sp>
        <p:nvSpPr>
          <p:cNvPr id="165" name="Google Shape;165;p10"/>
          <p:cNvSpPr/>
          <p:nvPr/>
        </p:nvSpPr>
        <p:spPr>
          <a:xfrm>
            <a:off x="0" y="0"/>
            <a:ext cx="12191695" cy="256032"/>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0"/>
          <p:cNvSpPr/>
          <p:nvPr/>
        </p:nvSpPr>
        <p:spPr>
          <a:xfrm>
            <a:off x="548640" y="41148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400"/>
              <a:buFont typeface="Play"/>
              <a:buNone/>
            </a:pPr>
            <a:r>
              <a:rPr b="1" i="0" lang="en-US" sz="2400" u="none" cap="none" strike="noStrike">
                <a:solidFill>
                  <a:srgbClr val="1F3A5F"/>
                </a:solidFill>
                <a:latin typeface="Play"/>
                <a:ea typeface="Play"/>
                <a:cs typeface="Play"/>
                <a:sym typeface="Play"/>
              </a:rPr>
              <a:t>Fraud scoring model</a:t>
            </a:r>
            <a:endParaRPr b="0" i="0" sz="2400" u="none" cap="none" strike="noStrike">
              <a:solidFill>
                <a:schemeClr val="dk1"/>
              </a:solidFill>
              <a:latin typeface="Arial"/>
              <a:ea typeface="Arial"/>
              <a:cs typeface="Arial"/>
              <a:sym typeface="Arial"/>
            </a:endParaRPr>
          </a:p>
        </p:txBody>
      </p:sp>
      <p:sp>
        <p:nvSpPr>
          <p:cNvPr id="167" name="Google Shape;167;p10"/>
          <p:cNvSpPr/>
          <p:nvPr/>
        </p:nvSpPr>
        <p:spPr>
          <a:xfrm>
            <a:off x="566928" y="941832"/>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50"/>
              <a:buFont typeface="Arial"/>
              <a:buNone/>
            </a:pPr>
            <a:r>
              <a:rPr lang="en-US" sz="1050">
                <a:solidFill>
                  <a:srgbClr val="5F6F82"/>
                </a:solidFill>
              </a:rPr>
              <a:t>Scores </a:t>
            </a:r>
            <a:r>
              <a:rPr lang="en-US" sz="1050">
                <a:solidFill>
                  <a:srgbClr val="5F6F82"/>
                </a:solidFill>
              </a:rPr>
              <a:t>based</a:t>
            </a:r>
            <a:r>
              <a:rPr lang="en-US" sz="1050">
                <a:solidFill>
                  <a:srgbClr val="5F6F82"/>
                </a:solidFill>
              </a:rPr>
              <a:t> on weighted </a:t>
            </a:r>
            <a:r>
              <a:rPr lang="en-US" sz="1050">
                <a:solidFill>
                  <a:srgbClr val="5F6F82"/>
                </a:solidFill>
              </a:rPr>
              <a:t>signals</a:t>
            </a:r>
            <a:r>
              <a:rPr lang="en-US" sz="1050">
                <a:solidFill>
                  <a:srgbClr val="5F6F82"/>
                </a:solidFill>
              </a:rPr>
              <a:t>, then classifies</a:t>
            </a:r>
            <a:endParaRPr b="0" i="0" sz="1050" u="none" cap="none" strike="noStrike">
              <a:solidFill>
                <a:schemeClr val="dk1"/>
              </a:solidFill>
              <a:latin typeface="Arial"/>
              <a:ea typeface="Arial"/>
              <a:cs typeface="Arial"/>
              <a:sym typeface="Arial"/>
            </a:endParaRPr>
          </a:p>
        </p:txBody>
      </p:sp>
      <p:sp>
        <p:nvSpPr>
          <p:cNvPr id="168" name="Google Shape;168;p10"/>
          <p:cNvSpPr/>
          <p:nvPr/>
        </p:nvSpPr>
        <p:spPr>
          <a:xfrm>
            <a:off x="566928" y="6473952"/>
            <a:ext cx="4114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900"/>
              <a:buFont typeface="Arial"/>
              <a:buNone/>
            </a:pPr>
            <a:r>
              <a:rPr b="0" i="0" lang="en-US" sz="900" u="none" cap="none" strike="noStrike">
                <a:solidFill>
                  <a:srgbClr val="5F6F82"/>
                </a:solidFill>
                <a:latin typeface="Arial"/>
                <a:ea typeface="Arial"/>
                <a:cs typeface="Arial"/>
                <a:sym typeface="Arial"/>
              </a:rPr>
              <a:t>ITCS 4102 / 5102 Final Project</a:t>
            </a:r>
            <a:endParaRPr b="0" i="0" sz="900" u="none" cap="none" strike="noStrike">
              <a:solidFill>
                <a:schemeClr val="dk1"/>
              </a:solidFill>
              <a:latin typeface="Arial"/>
              <a:ea typeface="Arial"/>
              <a:cs typeface="Arial"/>
              <a:sym typeface="Arial"/>
            </a:endParaRPr>
          </a:p>
        </p:txBody>
      </p:sp>
      <p:sp>
        <p:nvSpPr>
          <p:cNvPr id="169" name="Google Shape;169;p10"/>
          <p:cNvSpPr/>
          <p:nvPr/>
        </p:nvSpPr>
        <p:spPr>
          <a:xfrm>
            <a:off x="640080" y="1325880"/>
            <a:ext cx="4983600" cy="4526400"/>
          </a:xfrm>
          <a:prstGeom prst="roundRect">
            <a:avLst>
              <a:gd fmla="val 1616"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0"/>
          <p:cNvSpPr/>
          <p:nvPr/>
        </p:nvSpPr>
        <p:spPr>
          <a:xfrm>
            <a:off x="868680" y="1572768"/>
            <a:ext cx="2560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rPr b="1" i="0" lang="en-US" sz="1700" u="none" cap="none" strike="noStrike">
                <a:solidFill>
                  <a:srgbClr val="1F3A5F"/>
                </a:solidFill>
                <a:latin typeface="Arial"/>
                <a:ea typeface="Arial"/>
                <a:cs typeface="Arial"/>
                <a:sym typeface="Arial"/>
              </a:rPr>
              <a:t>Signals used in scoring</a:t>
            </a:r>
            <a:endParaRPr b="0" i="0" sz="1700" u="none" cap="none" strike="noStrike">
              <a:solidFill>
                <a:schemeClr val="dk1"/>
              </a:solidFill>
              <a:latin typeface="Arial"/>
              <a:ea typeface="Arial"/>
              <a:cs typeface="Arial"/>
              <a:sym typeface="Arial"/>
            </a:endParaRPr>
          </a:p>
        </p:txBody>
      </p:sp>
      <p:sp>
        <p:nvSpPr>
          <p:cNvPr id="171" name="Google Shape;171;p10"/>
          <p:cNvSpPr/>
          <p:nvPr/>
        </p:nvSpPr>
        <p:spPr>
          <a:xfrm>
            <a:off x="868680" y="1920240"/>
            <a:ext cx="4206240" cy="1426464"/>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Risky transaction type: TRANSFER or CASH_OUT</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Large or medium-large transaction amount</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Drains origin balance</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Exact balance drain</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Destination balance anomaly</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Prior sender behavior and limited history</a:t>
            </a:r>
            <a:endParaRPr b="0" i="0" sz="1300" u="none" cap="none" strike="noStrike">
              <a:solidFill>
                <a:schemeClr val="dk1"/>
              </a:solidFill>
              <a:latin typeface="Arial"/>
              <a:ea typeface="Arial"/>
              <a:cs typeface="Arial"/>
              <a:sym typeface="Arial"/>
            </a:endParaRPr>
          </a:p>
        </p:txBody>
      </p:sp>
      <p:sp>
        <p:nvSpPr>
          <p:cNvPr id="172" name="Google Shape;172;p10"/>
          <p:cNvSpPr/>
          <p:nvPr/>
        </p:nvSpPr>
        <p:spPr>
          <a:xfrm>
            <a:off x="5897880" y="1325880"/>
            <a:ext cx="5623500" cy="4526400"/>
          </a:xfrm>
          <a:prstGeom prst="roundRect">
            <a:avLst>
              <a:gd fmla="val 1616"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
          <p:cNvSpPr/>
          <p:nvPr/>
        </p:nvSpPr>
        <p:spPr>
          <a:xfrm>
            <a:off x="6144768" y="1572768"/>
            <a:ext cx="2194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rPr b="1" i="0" lang="en-US" sz="1700" u="none" cap="none" strike="noStrike">
                <a:solidFill>
                  <a:srgbClr val="1F3A5F"/>
                </a:solidFill>
                <a:latin typeface="Arial"/>
                <a:ea typeface="Arial"/>
                <a:cs typeface="Arial"/>
                <a:sym typeface="Arial"/>
              </a:rPr>
              <a:t>Ranking logic</a:t>
            </a:r>
            <a:endParaRPr b="0" i="0" sz="1700" u="none" cap="none" strike="noStrike">
              <a:solidFill>
                <a:schemeClr val="dk1"/>
              </a:solidFill>
              <a:latin typeface="Arial"/>
              <a:ea typeface="Arial"/>
              <a:cs typeface="Arial"/>
              <a:sym typeface="Arial"/>
            </a:endParaRPr>
          </a:p>
        </p:txBody>
      </p:sp>
      <p:sp>
        <p:nvSpPr>
          <p:cNvPr id="174" name="Google Shape;174;p10"/>
          <p:cNvSpPr/>
          <p:nvPr/>
        </p:nvSpPr>
        <p:spPr>
          <a:xfrm>
            <a:off x="6144768" y="1920240"/>
            <a:ext cx="2743200" cy="1691700"/>
          </a:xfrm>
          <a:prstGeom prst="rect">
            <a:avLst/>
          </a:prstGeom>
          <a:solidFill>
            <a:schemeClr val="dk2"/>
          </a:solidFill>
          <a:ln cap="flat" cmpd="sng" w="9525">
            <a:solidFill>
              <a:srgbClr val="D6DEE8"/>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8292A2"/>
              </a:buClr>
              <a:buSzPts val="1400"/>
              <a:buFont typeface="Consolas"/>
              <a:buNone/>
            </a:pPr>
            <a:r>
              <a:t/>
            </a:r>
            <a:endParaRPr b="0" i="0" sz="1050" u="none" cap="none" strike="noStrike">
              <a:solidFill>
                <a:schemeClr val="dk1"/>
              </a:solidFill>
              <a:latin typeface="Arial"/>
              <a:ea typeface="Arial"/>
              <a:cs typeface="Arial"/>
              <a:sym typeface="Arial"/>
            </a:endParaRPr>
          </a:p>
        </p:txBody>
      </p:sp>
      <p:sp>
        <p:nvSpPr>
          <p:cNvPr id="175" name="Google Shape;175;p10"/>
          <p:cNvSpPr/>
          <p:nvPr/>
        </p:nvSpPr>
        <p:spPr>
          <a:xfrm>
            <a:off x="9125712" y="1920240"/>
            <a:ext cx="1920240" cy="914400"/>
          </a:xfrm>
          <a:prstGeom prst="rect">
            <a:avLst/>
          </a:prstGeom>
          <a:solidFill>
            <a:srgbClr val="F7F9FC"/>
          </a:solidFill>
          <a:ln cap="flat" cmpd="sng" w="9525">
            <a:solidFill>
              <a:srgbClr val="D6DEE8"/>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8292A2"/>
              </a:buClr>
              <a:buSzPts val="1400"/>
              <a:buFont typeface="Consolas"/>
              <a:buNone/>
            </a:pPr>
            <a:r>
              <a:t/>
            </a:r>
            <a:endParaRPr b="0" i="0" sz="1050" u="none" cap="none" strike="noStrike">
              <a:solidFill>
                <a:schemeClr val="dk1"/>
              </a:solidFill>
              <a:latin typeface="Arial"/>
              <a:ea typeface="Arial"/>
              <a:cs typeface="Arial"/>
              <a:sym typeface="Arial"/>
            </a:endParaRPr>
          </a:p>
        </p:txBody>
      </p:sp>
      <p:sp>
        <p:nvSpPr>
          <p:cNvPr id="176" name="Google Shape;176;p10"/>
          <p:cNvSpPr/>
          <p:nvPr/>
        </p:nvSpPr>
        <p:spPr>
          <a:xfrm>
            <a:off x="9253728" y="3246120"/>
            <a:ext cx="166420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t/>
            </a:r>
            <a:endParaRPr b="0" i="0" sz="1150" u="none" cap="none" strike="noStrike">
              <a:solidFill>
                <a:schemeClr val="dk1"/>
              </a:solidFill>
              <a:latin typeface="Arial"/>
              <a:ea typeface="Arial"/>
              <a:cs typeface="Arial"/>
              <a:sym typeface="Arial"/>
            </a:endParaRPr>
          </a:p>
        </p:txBody>
      </p:sp>
      <p:sp>
        <p:nvSpPr>
          <p:cNvPr id="177" name="Google Shape;177;p10"/>
          <p:cNvSpPr/>
          <p:nvPr/>
        </p:nvSpPr>
        <p:spPr>
          <a:xfrm>
            <a:off x="6217925" y="4896348"/>
            <a:ext cx="2286000" cy="702600"/>
          </a:xfrm>
          <a:prstGeom prst="roundRect">
            <a:avLst>
              <a:gd fmla="val 26667" name="adj"/>
            </a:avLst>
          </a:prstGeom>
          <a:solidFill>
            <a:srgbClr val="FDECEF"/>
          </a:solidFill>
          <a:ln cap="flat" cmpd="sng" w="12700">
            <a:solidFill>
              <a:srgbClr val="FDEC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
          <p:cNvSpPr/>
          <p:nvPr/>
        </p:nvSpPr>
        <p:spPr>
          <a:xfrm>
            <a:off x="6291125" y="5060139"/>
            <a:ext cx="2139600" cy="37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3A4B"/>
              </a:buClr>
              <a:buSzPts val="900"/>
              <a:buFont typeface="Arial"/>
              <a:buNone/>
            </a:pPr>
            <a:r>
              <a:rPr b="1" i="0" lang="en-US" sz="900" u="none" cap="none" strike="noStrike">
                <a:solidFill>
                  <a:srgbClr val="C73A4B"/>
                </a:solidFill>
                <a:latin typeface="Arial"/>
                <a:ea typeface="Arial"/>
                <a:cs typeface="Arial"/>
                <a:sym typeface="Arial"/>
              </a:rPr>
              <a:t>HIGH = strongest </a:t>
            </a:r>
            <a:r>
              <a:rPr b="1" lang="en-US" sz="900">
                <a:solidFill>
                  <a:srgbClr val="C73A4B"/>
                </a:solidFill>
              </a:rPr>
              <a:t>Fr</a:t>
            </a:r>
            <a:r>
              <a:rPr b="1" i="0" lang="en-US" sz="900" u="none" cap="none" strike="noStrike">
                <a:solidFill>
                  <a:srgbClr val="C73A4B"/>
                </a:solidFill>
                <a:latin typeface="Arial"/>
                <a:ea typeface="Arial"/>
                <a:cs typeface="Arial"/>
                <a:sym typeface="Arial"/>
              </a:rPr>
              <a:t>aud </a:t>
            </a:r>
            <a:r>
              <a:rPr b="1" lang="en-US" sz="900">
                <a:solidFill>
                  <a:srgbClr val="C73A4B"/>
                </a:solidFill>
              </a:rPr>
              <a:t>P</a:t>
            </a:r>
            <a:r>
              <a:rPr b="1" i="0" lang="en-US" sz="900" u="none" cap="none" strike="noStrike">
                <a:solidFill>
                  <a:srgbClr val="C73A4B"/>
                </a:solidFill>
                <a:latin typeface="Arial"/>
                <a:ea typeface="Arial"/>
                <a:cs typeface="Arial"/>
                <a:sym typeface="Arial"/>
              </a:rPr>
              <a:t>rediction</a:t>
            </a:r>
            <a:endParaRPr b="0" i="0" sz="900" u="none" cap="none" strike="noStrike">
              <a:solidFill>
                <a:schemeClr val="dk1"/>
              </a:solidFill>
              <a:latin typeface="Arial"/>
              <a:ea typeface="Arial"/>
              <a:cs typeface="Arial"/>
              <a:sym typeface="Arial"/>
            </a:endParaRPr>
          </a:p>
        </p:txBody>
      </p:sp>
      <p:sp>
        <p:nvSpPr>
          <p:cNvPr id="179" name="Google Shape;179;p10"/>
          <p:cNvSpPr/>
          <p:nvPr/>
        </p:nvSpPr>
        <p:spPr>
          <a:xfrm>
            <a:off x="8641075" y="4910750"/>
            <a:ext cx="2404800" cy="673800"/>
          </a:xfrm>
          <a:prstGeom prst="roundRect">
            <a:avLst>
              <a:gd fmla="val 26667" name="adj"/>
            </a:avLst>
          </a:prstGeom>
          <a:solidFill>
            <a:srgbClr val="FFF4DE"/>
          </a:solidFill>
          <a:ln cap="flat" cmpd="sng" w="12700">
            <a:solidFill>
              <a:srgbClr val="FFF4D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BF9000"/>
                </a:solidFill>
              </a:rPr>
              <a:t>MEDIUM</a:t>
            </a:r>
            <a:r>
              <a:rPr lang="en-US" sz="1100">
                <a:solidFill>
                  <a:srgbClr val="BF9000"/>
                </a:solidFill>
              </a:rPr>
              <a:t> = suspicious and worth review, but not strong enough for direct fraud prediction</a:t>
            </a:r>
            <a:endParaRPr>
              <a:solidFill>
                <a:srgbClr val="BF9000"/>
              </a:solidFill>
            </a:endParaRPr>
          </a:p>
        </p:txBody>
      </p:sp>
      <p:sp>
        <p:nvSpPr>
          <p:cNvPr id="180" name="Google Shape;180;p10"/>
          <p:cNvSpPr/>
          <p:nvPr/>
        </p:nvSpPr>
        <p:spPr>
          <a:xfrm>
            <a:off x="6101350" y="1883675"/>
            <a:ext cx="5376600" cy="2812500"/>
          </a:xfrm>
          <a:prstGeom prst="rect">
            <a:avLst/>
          </a:prstGeom>
          <a:solidFill>
            <a:srgbClr val="F7F9FC"/>
          </a:solidFill>
          <a:ln cap="flat" cmpd="sng" w="9525">
            <a:solidFill>
              <a:srgbClr val="D6DEE8"/>
            </a:solidFill>
            <a:prstDash val="solid"/>
            <a:round/>
            <a:headEnd len="sm" w="sm" type="none"/>
            <a:tailEnd len="sm" w="sm" type="none"/>
          </a:ln>
        </p:spPr>
        <p:txBody>
          <a:bodyPr anchorCtr="0" anchor="ctr" bIns="625" lIns="625" spcFirstLastPara="1" rIns="625" wrap="square" tIns="625">
            <a:noAutofit/>
          </a:bodyPr>
          <a:lstStyle/>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sender_avg = sender.count &gt; 0 ? sender.total_amount / sender.count : 0.0</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risky_type = (t.ttype == "TRANSFER" || t.ttype == "CASH_OUT")</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large_amount = t.amount &gt;= threshold</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medium_large_amount = t.amount &gt;= threshold * 0.5</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drains_origin = t.oldbalanceOrg &gt; 0 &amp;&amp; t.newbalanceOrig &lt;= t.oldbalanceOrg * 0.1 &amp;&amp; t.amount &gt; 0</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exact_balance_drain = t.oldbalanceOrg &gt; 0 &amp;&amp; approx_equal(t.oldbalanceOrg, t.amount) &amp;&amp; approx_equal(t.newbalanceOrig, 0.0)</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above_sender_average = sender_avg &gt; 0 &amp;&amp; t.amount &gt;= sender_avg * 3</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repeated_risky_sender = sender.risky_count &gt;= 2 &amp;&amp; risky_type</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suspicious_dest_balance = risky_type &amp;&amp; t.oldbalanceDest == 0.0 &amp;&amp; t.newbalanceDest == 0.0</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low_history_sender = sender.count &lt;= 1</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900">
              <a:solidFill>
                <a:srgbClr val="F8F8F2"/>
              </a:solidFill>
              <a:highlight>
                <a:srgbClr val="272822"/>
              </a:highlight>
              <a:latin typeface="Courier New"/>
              <a:ea typeface="Courier New"/>
              <a:cs typeface="Courier New"/>
              <a:sym typeface="Courier New"/>
            </a:endParaRPr>
          </a:p>
        </p:txBody>
      </p:sp>
      <p:sp>
        <p:nvSpPr>
          <p:cNvPr id="181" name="Google Shape;181;p10"/>
          <p:cNvSpPr txBox="1"/>
          <p:nvPr/>
        </p:nvSpPr>
        <p:spPr>
          <a:xfrm>
            <a:off x="803000" y="3155250"/>
            <a:ext cx="4114800" cy="2609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if risky_type</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score += 3</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push!(reasons, "risky_type")</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end</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if risky_type &amp;&amp; large_amount</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score += 2</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push!(reasons, "large_amount")</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elseif risky_type &amp;&amp; medium_large_amount</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score += 1</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push!(reasons, "medium_large_amount")</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end</a:t>
            </a:r>
            <a:endParaRPr sz="900">
              <a:solidFill>
                <a:schemeClr val="dk1"/>
              </a:solidFill>
              <a:latin typeface="Courier New"/>
              <a:ea typeface="Courier New"/>
              <a:cs typeface="Courier New"/>
              <a:sym typeface="Courier New"/>
            </a:endParaRPr>
          </a:p>
        </p:txBody>
      </p:sp>
      <p:pic>
        <p:nvPicPr>
          <p:cNvPr id="182" name="Google Shape;182;p10" title="Screenshot 2026-04-20 at 16.34.15.png"/>
          <p:cNvPicPr preferRelativeResize="0"/>
          <p:nvPr/>
        </p:nvPicPr>
        <p:blipFill rotWithShape="1">
          <a:blip r:embed="rId3">
            <a:alphaModFix/>
          </a:blip>
          <a:srcRect b="14414" l="3780" r="56891" t="13043"/>
          <a:stretch/>
        </p:blipFill>
        <p:spPr>
          <a:xfrm>
            <a:off x="5535300" y="1024125"/>
            <a:ext cx="4794952" cy="4837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2"/>
                                        </p:tgtEl>
                                        <p:attrNameLst>
                                          <p:attrName>style.visibility</p:attrName>
                                        </p:attrNameLst>
                                      </p:cBhvr>
                                      <p:to>
                                        <p:strVal val="visible"/>
                                      </p:to>
                                    </p:set>
                                    <p:anim calcmode="lin" valueType="num">
                                      <p:cBhvr additive="base">
                                        <p:cTn dur="1000"/>
                                        <p:tgtEl>
                                          <p:spTgt spid="182"/>
                                        </p:tgtEl>
                                        <p:attrNameLst>
                                          <p:attrName>ppt_w</p:attrName>
                                        </p:attrNameLst>
                                      </p:cBhvr>
                                      <p:tavLst>
                                        <p:tav fmla="" tm="0">
                                          <p:val>
                                            <p:strVal val="0"/>
                                          </p:val>
                                        </p:tav>
                                        <p:tav fmla="" tm="100000">
                                          <p:val>
                                            <p:strVal val="#ppt_w"/>
                                          </p:val>
                                        </p:tav>
                                      </p:tavLst>
                                    </p:anim>
                                    <p:anim calcmode="lin" valueType="num">
                                      <p:cBhvr additive="base">
                                        <p:cTn dur="1000"/>
                                        <p:tgtEl>
                                          <p:spTgt spid="18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87" name="Shape 187"/>
        <p:cNvGrpSpPr/>
        <p:nvPr/>
      </p:nvGrpSpPr>
      <p:grpSpPr>
        <a:xfrm>
          <a:off x="0" y="0"/>
          <a:ext cx="0" cy="0"/>
          <a:chOff x="0" y="0"/>
          <a:chExt cx="0" cy="0"/>
        </a:xfrm>
      </p:grpSpPr>
      <p:sp>
        <p:nvSpPr>
          <p:cNvPr id="188" name="Google Shape;188;p11"/>
          <p:cNvSpPr/>
          <p:nvPr/>
        </p:nvSpPr>
        <p:spPr>
          <a:xfrm>
            <a:off x="0" y="0"/>
            <a:ext cx="12191695" cy="256032"/>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1"/>
          <p:cNvSpPr/>
          <p:nvPr/>
        </p:nvSpPr>
        <p:spPr>
          <a:xfrm>
            <a:off x="548640" y="41148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400"/>
              <a:buFont typeface="Play"/>
              <a:buNone/>
            </a:pPr>
            <a:r>
              <a:rPr b="1" i="0" lang="en-US" sz="2400" u="none" cap="none" strike="noStrike">
                <a:solidFill>
                  <a:srgbClr val="1F3A5F"/>
                </a:solidFill>
                <a:latin typeface="Play"/>
                <a:ea typeface="Play"/>
                <a:cs typeface="Play"/>
                <a:sym typeface="Play"/>
              </a:rPr>
              <a:t>Current results from the </a:t>
            </a:r>
            <a:r>
              <a:rPr b="1" lang="en-US" sz="2400">
                <a:solidFill>
                  <a:srgbClr val="1F3A5F"/>
                </a:solidFill>
                <a:latin typeface="Play"/>
                <a:ea typeface="Play"/>
                <a:cs typeface="Play"/>
                <a:sym typeface="Play"/>
              </a:rPr>
              <a:t>final iteration</a:t>
            </a:r>
            <a:endParaRPr b="0" i="0" sz="2400" u="none" cap="none" strike="noStrike">
              <a:solidFill>
                <a:schemeClr val="dk1"/>
              </a:solidFill>
              <a:latin typeface="Arial"/>
              <a:ea typeface="Arial"/>
              <a:cs typeface="Arial"/>
              <a:sym typeface="Arial"/>
            </a:endParaRPr>
          </a:p>
        </p:txBody>
      </p:sp>
      <p:sp>
        <p:nvSpPr>
          <p:cNvPr id="190" name="Google Shape;190;p11"/>
          <p:cNvSpPr/>
          <p:nvPr/>
        </p:nvSpPr>
        <p:spPr>
          <a:xfrm>
            <a:off x="566928" y="941832"/>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50"/>
              <a:buFont typeface="Arial"/>
              <a:buNone/>
            </a:pPr>
            <a:r>
              <a:rPr b="0" i="0" lang="en-US" sz="1050" u="none" cap="none" strike="noStrike">
                <a:solidFill>
                  <a:srgbClr val="5F6F82"/>
                </a:solidFill>
                <a:latin typeface="Arial"/>
                <a:ea typeface="Arial"/>
                <a:cs typeface="Arial"/>
                <a:sym typeface="Arial"/>
              </a:rPr>
              <a:t>20,000 transactions processed from the PaySim dataset.</a:t>
            </a:r>
            <a:endParaRPr b="0" i="0" sz="1050" u="none" cap="none" strike="noStrike">
              <a:solidFill>
                <a:schemeClr val="dk1"/>
              </a:solidFill>
              <a:latin typeface="Arial"/>
              <a:ea typeface="Arial"/>
              <a:cs typeface="Arial"/>
              <a:sym typeface="Arial"/>
            </a:endParaRPr>
          </a:p>
        </p:txBody>
      </p:sp>
      <p:sp>
        <p:nvSpPr>
          <p:cNvPr id="191" name="Google Shape;191;p11"/>
          <p:cNvSpPr/>
          <p:nvPr/>
        </p:nvSpPr>
        <p:spPr>
          <a:xfrm>
            <a:off x="566928" y="6473952"/>
            <a:ext cx="4114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900"/>
              <a:buFont typeface="Arial"/>
              <a:buNone/>
            </a:pPr>
            <a:r>
              <a:rPr b="0" i="0" lang="en-US" sz="900" u="none" cap="none" strike="noStrike">
                <a:solidFill>
                  <a:srgbClr val="5F6F82"/>
                </a:solidFill>
                <a:latin typeface="Arial"/>
                <a:ea typeface="Arial"/>
                <a:cs typeface="Arial"/>
                <a:sym typeface="Arial"/>
              </a:rPr>
              <a:t>ITCS 4102 / 5102 Final Project</a:t>
            </a:r>
            <a:endParaRPr b="0" i="0" sz="900" u="none" cap="none" strike="noStrike">
              <a:solidFill>
                <a:schemeClr val="dk1"/>
              </a:solidFill>
              <a:latin typeface="Arial"/>
              <a:ea typeface="Arial"/>
              <a:cs typeface="Arial"/>
              <a:sym typeface="Arial"/>
            </a:endParaRPr>
          </a:p>
        </p:txBody>
      </p:sp>
      <p:sp>
        <p:nvSpPr>
          <p:cNvPr id="192" name="Google Shape;192;p11"/>
          <p:cNvSpPr/>
          <p:nvPr/>
        </p:nvSpPr>
        <p:spPr>
          <a:xfrm>
            <a:off x="658368" y="1325880"/>
            <a:ext cx="1508760" cy="960120"/>
          </a:xfrm>
          <a:prstGeom prst="roundRect">
            <a:avLst>
              <a:gd fmla="val 7619"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804672" y="1472184"/>
            <a:ext cx="121615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00"/>
              <a:buFont typeface="Arial"/>
              <a:buNone/>
            </a:pPr>
            <a:r>
              <a:rPr b="0" i="0" lang="en-US" sz="1000" u="none" cap="none" strike="noStrike">
                <a:solidFill>
                  <a:srgbClr val="5F6F82"/>
                </a:solidFill>
                <a:latin typeface="Arial"/>
                <a:ea typeface="Arial"/>
                <a:cs typeface="Arial"/>
                <a:sym typeface="Arial"/>
              </a:rPr>
              <a:t>Transactions</a:t>
            </a:r>
            <a:endParaRPr b="0" i="0" sz="1000" u="none" cap="none" strike="noStrike">
              <a:solidFill>
                <a:schemeClr val="dk1"/>
              </a:solidFill>
              <a:latin typeface="Arial"/>
              <a:ea typeface="Arial"/>
              <a:cs typeface="Arial"/>
              <a:sym typeface="Arial"/>
            </a:endParaRPr>
          </a:p>
        </p:txBody>
      </p:sp>
      <p:sp>
        <p:nvSpPr>
          <p:cNvPr id="194" name="Google Shape;194;p11"/>
          <p:cNvSpPr/>
          <p:nvPr/>
        </p:nvSpPr>
        <p:spPr>
          <a:xfrm>
            <a:off x="804672" y="1709928"/>
            <a:ext cx="121615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000"/>
              <a:buFont typeface="Play"/>
              <a:buNone/>
            </a:pPr>
            <a:r>
              <a:rPr b="1" i="0" lang="en-US" sz="2000" u="none" cap="none" strike="noStrike">
                <a:solidFill>
                  <a:srgbClr val="1F3A5F"/>
                </a:solidFill>
                <a:latin typeface="Play"/>
                <a:ea typeface="Play"/>
                <a:cs typeface="Play"/>
                <a:sym typeface="Play"/>
              </a:rPr>
              <a:t>20,000</a:t>
            </a:r>
            <a:endParaRPr b="0" i="0" sz="2000" u="none" cap="none" strike="noStrike">
              <a:solidFill>
                <a:schemeClr val="dk1"/>
              </a:solidFill>
              <a:latin typeface="Arial"/>
              <a:ea typeface="Arial"/>
              <a:cs typeface="Arial"/>
              <a:sym typeface="Arial"/>
            </a:endParaRPr>
          </a:p>
        </p:txBody>
      </p:sp>
      <p:sp>
        <p:nvSpPr>
          <p:cNvPr id="195" name="Google Shape;195;p11"/>
          <p:cNvSpPr/>
          <p:nvPr/>
        </p:nvSpPr>
        <p:spPr>
          <a:xfrm>
            <a:off x="2350008" y="1325880"/>
            <a:ext cx="1371600" cy="960120"/>
          </a:xfrm>
          <a:prstGeom prst="roundRect">
            <a:avLst>
              <a:gd fmla="val 7619"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2496312" y="1472184"/>
            <a:ext cx="107899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00"/>
              <a:buFont typeface="Arial"/>
              <a:buNone/>
            </a:pPr>
            <a:r>
              <a:rPr b="0" i="0" lang="en-US" sz="1000" u="none" cap="none" strike="noStrike">
                <a:solidFill>
                  <a:srgbClr val="5F6F82"/>
                </a:solidFill>
                <a:latin typeface="Arial"/>
                <a:ea typeface="Arial"/>
                <a:cs typeface="Arial"/>
                <a:sym typeface="Arial"/>
              </a:rPr>
              <a:t>Fraud labels</a:t>
            </a:r>
            <a:endParaRPr b="0" i="0" sz="1000" u="none" cap="none" strike="noStrike">
              <a:solidFill>
                <a:schemeClr val="dk1"/>
              </a:solidFill>
              <a:latin typeface="Arial"/>
              <a:ea typeface="Arial"/>
              <a:cs typeface="Arial"/>
              <a:sym typeface="Arial"/>
            </a:endParaRPr>
          </a:p>
        </p:txBody>
      </p:sp>
      <p:sp>
        <p:nvSpPr>
          <p:cNvPr id="197" name="Google Shape;197;p11"/>
          <p:cNvSpPr/>
          <p:nvPr/>
        </p:nvSpPr>
        <p:spPr>
          <a:xfrm>
            <a:off x="2496312" y="1709928"/>
            <a:ext cx="107899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3A4B"/>
              </a:buClr>
              <a:buSzPts val="2000"/>
              <a:buFont typeface="Play"/>
              <a:buNone/>
            </a:pPr>
            <a:r>
              <a:rPr b="1" i="0" lang="en-US" sz="2000" u="none" cap="none" strike="noStrike">
                <a:solidFill>
                  <a:srgbClr val="C73A4B"/>
                </a:solidFill>
                <a:latin typeface="Play"/>
                <a:ea typeface="Play"/>
                <a:cs typeface="Play"/>
                <a:sym typeface="Play"/>
              </a:rPr>
              <a:t>81</a:t>
            </a:r>
            <a:endParaRPr b="0" i="0" sz="2000" u="none" cap="none" strike="noStrike">
              <a:solidFill>
                <a:schemeClr val="dk1"/>
              </a:solidFill>
              <a:latin typeface="Arial"/>
              <a:ea typeface="Arial"/>
              <a:cs typeface="Arial"/>
              <a:sym typeface="Arial"/>
            </a:endParaRPr>
          </a:p>
        </p:txBody>
      </p:sp>
      <p:sp>
        <p:nvSpPr>
          <p:cNvPr id="198" name="Google Shape;198;p11"/>
          <p:cNvSpPr/>
          <p:nvPr/>
        </p:nvSpPr>
        <p:spPr>
          <a:xfrm>
            <a:off x="3904488" y="1325880"/>
            <a:ext cx="1371600" cy="960120"/>
          </a:xfrm>
          <a:prstGeom prst="roundRect">
            <a:avLst>
              <a:gd fmla="val 7619"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
          <p:cNvSpPr/>
          <p:nvPr/>
        </p:nvSpPr>
        <p:spPr>
          <a:xfrm>
            <a:off x="4050792" y="1472184"/>
            <a:ext cx="107899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00"/>
              <a:buFont typeface="Arial"/>
              <a:buNone/>
            </a:pPr>
            <a:r>
              <a:rPr b="0" i="0" lang="en-US" sz="1000" u="none" cap="none" strike="noStrike">
                <a:solidFill>
                  <a:srgbClr val="5F6F82"/>
                </a:solidFill>
                <a:latin typeface="Arial"/>
                <a:ea typeface="Arial"/>
                <a:cs typeface="Arial"/>
                <a:sym typeface="Arial"/>
              </a:rPr>
              <a:t>High risk</a:t>
            </a:r>
            <a:endParaRPr b="0" i="0" sz="1000" u="none" cap="none" strike="noStrike">
              <a:solidFill>
                <a:schemeClr val="dk1"/>
              </a:solidFill>
              <a:latin typeface="Arial"/>
              <a:ea typeface="Arial"/>
              <a:cs typeface="Arial"/>
              <a:sym typeface="Arial"/>
            </a:endParaRPr>
          </a:p>
        </p:txBody>
      </p:sp>
      <p:sp>
        <p:nvSpPr>
          <p:cNvPr id="200" name="Google Shape;200;p11"/>
          <p:cNvSpPr/>
          <p:nvPr/>
        </p:nvSpPr>
        <p:spPr>
          <a:xfrm>
            <a:off x="4050792" y="1709928"/>
            <a:ext cx="107899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3A4B"/>
              </a:buClr>
              <a:buSzPts val="2000"/>
              <a:buFont typeface="Play"/>
              <a:buNone/>
            </a:pPr>
            <a:r>
              <a:rPr b="1" i="0" lang="en-US" sz="2000" u="none" cap="none" strike="noStrike">
                <a:solidFill>
                  <a:srgbClr val="C73A4B"/>
                </a:solidFill>
                <a:latin typeface="Play"/>
                <a:ea typeface="Play"/>
                <a:cs typeface="Play"/>
                <a:sym typeface="Play"/>
              </a:rPr>
              <a:t>65</a:t>
            </a:r>
            <a:endParaRPr b="0" i="0" sz="2000" u="none" cap="none" strike="noStrike">
              <a:solidFill>
                <a:schemeClr val="dk1"/>
              </a:solidFill>
              <a:latin typeface="Arial"/>
              <a:ea typeface="Arial"/>
              <a:cs typeface="Arial"/>
              <a:sym typeface="Arial"/>
            </a:endParaRPr>
          </a:p>
        </p:txBody>
      </p:sp>
      <p:sp>
        <p:nvSpPr>
          <p:cNvPr id="201" name="Google Shape;201;p11"/>
          <p:cNvSpPr/>
          <p:nvPr/>
        </p:nvSpPr>
        <p:spPr>
          <a:xfrm>
            <a:off x="5458968" y="1325880"/>
            <a:ext cx="1554480" cy="960120"/>
          </a:xfrm>
          <a:prstGeom prst="roundRect">
            <a:avLst>
              <a:gd fmla="val 7619"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a:off x="5605272" y="1472184"/>
            <a:ext cx="126187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00"/>
              <a:buFont typeface="Arial"/>
              <a:buNone/>
            </a:pPr>
            <a:r>
              <a:rPr b="0" i="0" lang="en-US" sz="1000" u="none" cap="none" strike="noStrike">
                <a:solidFill>
                  <a:srgbClr val="5F6F82"/>
                </a:solidFill>
                <a:latin typeface="Arial"/>
                <a:ea typeface="Arial"/>
                <a:cs typeface="Arial"/>
                <a:sym typeface="Arial"/>
              </a:rPr>
              <a:t>Medium risk</a:t>
            </a:r>
            <a:endParaRPr b="0" i="0" sz="1000" u="none" cap="none" strike="noStrike">
              <a:solidFill>
                <a:schemeClr val="dk1"/>
              </a:solidFill>
              <a:latin typeface="Arial"/>
              <a:ea typeface="Arial"/>
              <a:cs typeface="Arial"/>
              <a:sym typeface="Arial"/>
            </a:endParaRPr>
          </a:p>
        </p:txBody>
      </p:sp>
      <p:sp>
        <p:nvSpPr>
          <p:cNvPr id="203" name="Google Shape;203;p11"/>
          <p:cNvSpPr/>
          <p:nvPr/>
        </p:nvSpPr>
        <p:spPr>
          <a:xfrm>
            <a:off x="5605272" y="1709928"/>
            <a:ext cx="126187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791F"/>
              </a:buClr>
              <a:buSzPts val="2000"/>
              <a:buFont typeface="Play"/>
              <a:buNone/>
            </a:pPr>
            <a:r>
              <a:rPr b="1" i="0" lang="en-US" sz="2000" u="none" cap="none" strike="noStrike">
                <a:solidFill>
                  <a:srgbClr val="B7791F"/>
                </a:solidFill>
                <a:latin typeface="Play"/>
                <a:ea typeface="Play"/>
                <a:cs typeface="Play"/>
                <a:sym typeface="Play"/>
              </a:rPr>
              <a:t>4,341</a:t>
            </a:r>
            <a:endParaRPr b="0" i="0" sz="2000" u="none" cap="none" strike="noStrike">
              <a:solidFill>
                <a:schemeClr val="dk1"/>
              </a:solidFill>
              <a:latin typeface="Arial"/>
              <a:ea typeface="Arial"/>
              <a:cs typeface="Arial"/>
              <a:sym typeface="Arial"/>
            </a:endParaRPr>
          </a:p>
        </p:txBody>
      </p:sp>
      <p:sp>
        <p:nvSpPr>
          <p:cNvPr id="204" name="Google Shape;204;p11"/>
          <p:cNvSpPr/>
          <p:nvPr/>
        </p:nvSpPr>
        <p:spPr>
          <a:xfrm>
            <a:off x="7196328" y="1325880"/>
            <a:ext cx="1554480" cy="960120"/>
          </a:xfrm>
          <a:prstGeom prst="roundRect">
            <a:avLst>
              <a:gd fmla="val 7619"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a:off x="7342632" y="1472184"/>
            <a:ext cx="126187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00"/>
              <a:buFont typeface="Arial"/>
              <a:buNone/>
            </a:pPr>
            <a:r>
              <a:rPr b="0" i="0" lang="en-US" sz="1000" u="none" cap="none" strike="noStrike">
                <a:solidFill>
                  <a:srgbClr val="5F6F82"/>
                </a:solidFill>
                <a:latin typeface="Arial"/>
                <a:ea typeface="Arial"/>
                <a:cs typeface="Arial"/>
                <a:sym typeface="Arial"/>
              </a:rPr>
              <a:t>Low risk</a:t>
            </a:r>
            <a:endParaRPr b="0" i="0" sz="1000" u="none" cap="none" strike="noStrike">
              <a:solidFill>
                <a:schemeClr val="dk1"/>
              </a:solidFill>
              <a:latin typeface="Arial"/>
              <a:ea typeface="Arial"/>
              <a:cs typeface="Arial"/>
              <a:sym typeface="Arial"/>
            </a:endParaRPr>
          </a:p>
        </p:txBody>
      </p:sp>
      <p:sp>
        <p:nvSpPr>
          <p:cNvPr id="206" name="Google Shape;206;p11"/>
          <p:cNvSpPr/>
          <p:nvPr/>
        </p:nvSpPr>
        <p:spPr>
          <a:xfrm>
            <a:off x="7342632" y="1709928"/>
            <a:ext cx="126187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8F5F"/>
              </a:buClr>
              <a:buSzPts val="2000"/>
              <a:buFont typeface="Play"/>
              <a:buNone/>
            </a:pPr>
            <a:r>
              <a:rPr b="1" i="0" lang="en-US" sz="2000" u="none" cap="none" strike="noStrike">
                <a:solidFill>
                  <a:srgbClr val="1F8F5F"/>
                </a:solidFill>
                <a:latin typeface="Play"/>
                <a:ea typeface="Play"/>
                <a:cs typeface="Play"/>
                <a:sym typeface="Play"/>
              </a:rPr>
              <a:t>15,594</a:t>
            </a:r>
            <a:endParaRPr b="0" i="0" sz="2000" u="none" cap="none" strike="noStrike">
              <a:solidFill>
                <a:schemeClr val="dk1"/>
              </a:solidFill>
              <a:latin typeface="Arial"/>
              <a:ea typeface="Arial"/>
              <a:cs typeface="Arial"/>
              <a:sym typeface="Arial"/>
            </a:endParaRPr>
          </a:p>
        </p:txBody>
      </p:sp>
      <p:sp>
        <p:nvSpPr>
          <p:cNvPr id="207" name="Google Shape;207;p11"/>
          <p:cNvSpPr/>
          <p:nvPr/>
        </p:nvSpPr>
        <p:spPr>
          <a:xfrm>
            <a:off x="8933688" y="1325880"/>
            <a:ext cx="1097280" cy="960120"/>
          </a:xfrm>
          <a:prstGeom prst="roundRect">
            <a:avLst>
              <a:gd fmla="val 7619"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a:off x="9079992" y="1472184"/>
            <a:ext cx="80467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00"/>
              <a:buFont typeface="Arial"/>
              <a:buNone/>
            </a:pPr>
            <a:r>
              <a:rPr b="0" i="0" lang="en-US" sz="1000" u="none" cap="none" strike="noStrike">
                <a:solidFill>
                  <a:srgbClr val="5F6F82"/>
                </a:solidFill>
                <a:latin typeface="Arial"/>
                <a:ea typeface="Arial"/>
                <a:cs typeface="Arial"/>
                <a:sym typeface="Arial"/>
              </a:rPr>
              <a:t>Precision</a:t>
            </a:r>
            <a:endParaRPr b="0" i="0" sz="1000" u="none" cap="none" strike="noStrike">
              <a:solidFill>
                <a:schemeClr val="dk1"/>
              </a:solidFill>
              <a:latin typeface="Arial"/>
              <a:ea typeface="Arial"/>
              <a:cs typeface="Arial"/>
              <a:sym typeface="Arial"/>
            </a:endParaRPr>
          </a:p>
        </p:txBody>
      </p:sp>
      <p:sp>
        <p:nvSpPr>
          <p:cNvPr id="209" name="Google Shape;209;p11"/>
          <p:cNvSpPr/>
          <p:nvPr/>
        </p:nvSpPr>
        <p:spPr>
          <a:xfrm>
            <a:off x="9079992" y="1709928"/>
            <a:ext cx="80467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FED"/>
              </a:buClr>
              <a:buSzPts val="2000"/>
              <a:buFont typeface="Play"/>
              <a:buNone/>
            </a:pPr>
            <a:r>
              <a:rPr b="1" i="0" lang="en-US" sz="2000" u="none" cap="none" strike="noStrike">
                <a:solidFill>
                  <a:srgbClr val="2F6FED"/>
                </a:solidFill>
                <a:latin typeface="Play"/>
                <a:ea typeface="Play"/>
                <a:cs typeface="Play"/>
                <a:sym typeface="Play"/>
              </a:rPr>
              <a:t>0.7692</a:t>
            </a:r>
            <a:endParaRPr b="0" i="0" sz="2000" u="none" cap="none" strike="noStrike">
              <a:solidFill>
                <a:schemeClr val="dk1"/>
              </a:solidFill>
              <a:latin typeface="Arial"/>
              <a:ea typeface="Arial"/>
              <a:cs typeface="Arial"/>
              <a:sym typeface="Arial"/>
            </a:endParaRPr>
          </a:p>
        </p:txBody>
      </p:sp>
      <p:sp>
        <p:nvSpPr>
          <p:cNvPr id="210" name="Google Shape;210;p11"/>
          <p:cNvSpPr/>
          <p:nvPr/>
        </p:nvSpPr>
        <p:spPr>
          <a:xfrm>
            <a:off x="10213848" y="1325880"/>
            <a:ext cx="1234440" cy="960120"/>
          </a:xfrm>
          <a:prstGeom prst="roundRect">
            <a:avLst>
              <a:gd fmla="val 7619"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a:off x="10360152" y="1472184"/>
            <a:ext cx="94183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00"/>
              <a:buFont typeface="Arial"/>
              <a:buNone/>
            </a:pPr>
            <a:r>
              <a:rPr b="0" i="0" lang="en-US" sz="1000" u="none" cap="none" strike="noStrike">
                <a:solidFill>
                  <a:srgbClr val="5F6F82"/>
                </a:solidFill>
                <a:latin typeface="Arial"/>
                <a:ea typeface="Arial"/>
                <a:cs typeface="Arial"/>
                <a:sym typeface="Arial"/>
              </a:rPr>
              <a:t>Recall</a:t>
            </a:r>
            <a:endParaRPr b="0" i="0" sz="1000" u="none" cap="none" strike="noStrike">
              <a:solidFill>
                <a:schemeClr val="dk1"/>
              </a:solidFill>
              <a:latin typeface="Arial"/>
              <a:ea typeface="Arial"/>
              <a:cs typeface="Arial"/>
              <a:sym typeface="Arial"/>
            </a:endParaRPr>
          </a:p>
        </p:txBody>
      </p:sp>
      <p:sp>
        <p:nvSpPr>
          <p:cNvPr id="212" name="Google Shape;212;p11"/>
          <p:cNvSpPr/>
          <p:nvPr/>
        </p:nvSpPr>
        <p:spPr>
          <a:xfrm>
            <a:off x="10360152" y="1709928"/>
            <a:ext cx="9418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FED"/>
              </a:buClr>
              <a:buSzPts val="2000"/>
              <a:buFont typeface="Play"/>
              <a:buNone/>
            </a:pPr>
            <a:r>
              <a:rPr b="1" i="0" lang="en-US" sz="2000" u="none" cap="none" strike="noStrike">
                <a:solidFill>
                  <a:srgbClr val="2F6FED"/>
                </a:solidFill>
                <a:latin typeface="Play"/>
                <a:ea typeface="Play"/>
                <a:cs typeface="Play"/>
                <a:sym typeface="Play"/>
              </a:rPr>
              <a:t>0.6173</a:t>
            </a:r>
            <a:endParaRPr b="0" i="0" sz="2000" u="none" cap="none" strike="noStrike">
              <a:solidFill>
                <a:schemeClr val="dk1"/>
              </a:solidFill>
              <a:latin typeface="Arial"/>
              <a:ea typeface="Arial"/>
              <a:cs typeface="Arial"/>
              <a:sym typeface="Arial"/>
            </a:endParaRPr>
          </a:p>
        </p:txBody>
      </p:sp>
      <p:sp>
        <p:nvSpPr>
          <p:cNvPr id="213" name="Google Shape;213;p11"/>
          <p:cNvSpPr/>
          <p:nvPr/>
        </p:nvSpPr>
        <p:spPr>
          <a:xfrm>
            <a:off x="658368" y="2606040"/>
            <a:ext cx="3886200" cy="2880360"/>
          </a:xfrm>
          <a:prstGeom prst="roundRect">
            <a:avLst>
              <a:gd fmla="val 2540"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
          <p:cNvSpPr/>
          <p:nvPr/>
        </p:nvSpPr>
        <p:spPr>
          <a:xfrm>
            <a:off x="896112" y="2834640"/>
            <a:ext cx="18288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rPr b="1" i="0" lang="en-US" sz="1700" u="none" cap="none" strike="noStrike">
                <a:solidFill>
                  <a:srgbClr val="1F3A5F"/>
                </a:solidFill>
                <a:latin typeface="Arial"/>
                <a:ea typeface="Arial"/>
                <a:cs typeface="Arial"/>
                <a:sym typeface="Arial"/>
              </a:rPr>
              <a:t>Result table</a:t>
            </a:r>
            <a:endParaRPr b="0" i="0" sz="1700" u="none" cap="none" strike="noStrike">
              <a:solidFill>
                <a:schemeClr val="dk1"/>
              </a:solidFill>
              <a:latin typeface="Arial"/>
              <a:ea typeface="Arial"/>
              <a:cs typeface="Arial"/>
              <a:sym typeface="Arial"/>
            </a:endParaRPr>
          </a:p>
        </p:txBody>
      </p:sp>
      <p:cxnSp>
        <p:nvCxnSpPr>
          <p:cNvPr id="215" name="Google Shape;215;p11"/>
          <p:cNvCxnSpPr/>
          <p:nvPr/>
        </p:nvCxnSpPr>
        <p:spPr>
          <a:xfrm>
            <a:off x="868680" y="3410712"/>
            <a:ext cx="3474720" cy="0"/>
          </a:xfrm>
          <a:prstGeom prst="straightConnector1">
            <a:avLst/>
          </a:prstGeom>
          <a:noFill/>
          <a:ln cap="flat" cmpd="sng" w="12700">
            <a:solidFill>
              <a:srgbClr val="D6DEE8"/>
            </a:solidFill>
            <a:prstDash val="solid"/>
            <a:round/>
            <a:headEnd len="sm" w="sm" type="none"/>
            <a:tailEnd len="sm" w="sm" type="none"/>
          </a:ln>
        </p:spPr>
      </p:cxnSp>
      <p:sp>
        <p:nvSpPr>
          <p:cNvPr id="216" name="Google Shape;216;p11"/>
          <p:cNvSpPr/>
          <p:nvPr/>
        </p:nvSpPr>
        <p:spPr>
          <a:xfrm>
            <a:off x="932688" y="3200400"/>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Rule-flagged</a:t>
            </a:r>
            <a:endParaRPr b="0" i="0" sz="1250" u="none" cap="none" strike="noStrike">
              <a:solidFill>
                <a:schemeClr val="dk1"/>
              </a:solidFill>
              <a:latin typeface="Arial"/>
              <a:ea typeface="Arial"/>
              <a:cs typeface="Arial"/>
              <a:sym typeface="Arial"/>
            </a:endParaRPr>
          </a:p>
        </p:txBody>
      </p:sp>
      <p:sp>
        <p:nvSpPr>
          <p:cNvPr id="217" name="Google Shape;217;p11"/>
          <p:cNvSpPr/>
          <p:nvPr/>
        </p:nvSpPr>
        <p:spPr>
          <a:xfrm>
            <a:off x="3474720" y="3200400"/>
            <a:ext cx="6858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3A5F"/>
              </a:buClr>
              <a:buSzPts val="1250"/>
              <a:buFont typeface="Arial"/>
              <a:buNone/>
            </a:pPr>
            <a:r>
              <a:rPr b="1" i="0" lang="en-US" sz="1250" u="none" cap="none" strike="noStrike">
                <a:solidFill>
                  <a:srgbClr val="1F3A5F"/>
                </a:solidFill>
                <a:latin typeface="Arial"/>
                <a:ea typeface="Arial"/>
                <a:cs typeface="Arial"/>
                <a:sym typeface="Arial"/>
              </a:rPr>
              <a:t>3,941</a:t>
            </a:r>
            <a:endParaRPr b="0" i="0" sz="1250" u="none" cap="none" strike="noStrike">
              <a:solidFill>
                <a:schemeClr val="dk1"/>
              </a:solidFill>
              <a:latin typeface="Arial"/>
              <a:ea typeface="Arial"/>
              <a:cs typeface="Arial"/>
              <a:sym typeface="Arial"/>
            </a:endParaRPr>
          </a:p>
        </p:txBody>
      </p:sp>
      <p:cxnSp>
        <p:nvCxnSpPr>
          <p:cNvPr id="218" name="Google Shape;218;p11"/>
          <p:cNvCxnSpPr/>
          <p:nvPr/>
        </p:nvCxnSpPr>
        <p:spPr>
          <a:xfrm>
            <a:off x="868680" y="3941064"/>
            <a:ext cx="3474720" cy="0"/>
          </a:xfrm>
          <a:prstGeom prst="straightConnector1">
            <a:avLst/>
          </a:prstGeom>
          <a:noFill/>
          <a:ln cap="flat" cmpd="sng" w="12700">
            <a:solidFill>
              <a:srgbClr val="D6DEE8"/>
            </a:solidFill>
            <a:prstDash val="solid"/>
            <a:round/>
            <a:headEnd len="sm" w="sm" type="none"/>
            <a:tailEnd len="sm" w="sm" type="none"/>
          </a:ln>
        </p:spPr>
      </p:cxnSp>
      <p:sp>
        <p:nvSpPr>
          <p:cNvPr id="219" name="Google Shape;219;p11"/>
          <p:cNvSpPr/>
          <p:nvPr/>
        </p:nvSpPr>
        <p:spPr>
          <a:xfrm>
            <a:off x="932688" y="3730752"/>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Suspicious transfers</a:t>
            </a:r>
            <a:endParaRPr b="0" i="0" sz="1250" u="none" cap="none" strike="noStrike">
              <a:solidFill>
                <a:schemeClr val="dk1"/>
              </a:solidFill>
              <a:latin typeface="Arial"/>
              <a:ea typeface="Arial"/>
              <a:cs typeface="Arial"/>
              <a:sym typeface="Arial"/>
            </a:endParaRPr>
          </a:p>
        </p:txBody>
      </p:sp>
      <p:sp>
        <p:nvSpPr>
          <p:cNvPr id="220" name="Google Shape;220;p11"/>
          <p:cNvSpPr/>
          <p:nvPr/>
        </p:nvSpPr>
        <p:spPr>
          <a:xfrm>
            <a:off x="3474720" y="3730752"/>
            <a:ext cx="6858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3A5F"/>
              </a:buClr>
              <a:buSzPts val="1250"/>
              <a:buFont typeface="Arial"/>
              <a:buNone/>
            </a:pPr>
            <a:r>
              <a:rPr b="1" i="0" lang="en-US" sz="1250" u="none" cap="none" strike="noStrike">
                <a:solidFill>
                  <a:srgbClr val="1F3A5F"/>
                </a:solidFill>
                <a:latin typeface="Arial"/>
                <a:ea typeface="Arial"/>
                <a:cs typeface="Arial"/>
                <a:sym typeface="Arial"/>
              </a:rPr>
              <a:t>1,638</a:t>
            </a:r>
            <a:endParaRPr b="0" i="0" sz="1250" u="none" cap="none" strike="noStrike">
              <a:solidFill>
                <a:schemeClr val="dk1"/>
              </a:solidFill>
              <a:latin typeface="Arial"/>
              <a:ea typeface="Arial"/>
              <a:cs typeface="Arial"/>
              <a:sym typeface="Arial"/>
            </a:endParaRPr>
          </a:p>
        </p:txBody>
      </p:sp>
      <p:cxnSp>
        <p:nvCxnSpPr>
          <p:cNvPr id="221" name="Google Shape;221;p11"/>
          <p:cNvCxnSpPr/>
          <p:nvPr/>
        </p:nvCxnSpPr>
        <p:spPr>
          <a:xfrm>
            <a:off x="868680" y="4471416"/>
            <a:ext cx="3474720" cy="0"/>
          </a:xfrm>
          <a:prstGeom prst="straightConnector1">
            <a:avLst/>
          </a:prstGeom>
          <a:noFill/>
          <a:ln cap="flat" cmpd="sng" w="12700">
            <a:solidFill>
              <a:srgbClr val="D6DEE8"/>
            </a:solidFill>
            <a:prstDash val="solid"/>
            <a:round/>
            <a:headEnd len="sm" w="sm" type="none"/>
            <a:tailEnd len="sm" w="sm" type="none"/>
          </a:ln>
        </p:spPr>
      </p:cxnSp>
      <p:sp>
        <p:nvSpPr>
          <p:cNvPr id="222" name="Google Shape;222;p11"/>
          <p:cNvSpPr/>
          <p:nvPr/>
        </p:nvSpPr>
        <p:spPr>
          <a:xfrm>
            <a:off x="932688" y="4261104"/>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Accuracy</a:t>
            </a:r>
            <a:endParaRPr b="0" i="0" sz="1250" u="none" cap="none" strike="noStrike">
              <a:solidFill>
                <a:schemeClr val="dk1"/>
              </a:solidFill>
              <a:latin typeface="Arial"/>
              <a:ea typeface="Arial"/>
              <a:cs typeface="Arial"/>
              <a:sym typeface="Arial"/>
            </a:endParaRPr>
          </a:p>
        </p:txBody>
      </p:sp>
      <p:sp>
        <p:nvSpPr>
          <p:cNvPr id="223" name="Google Shape;223;p11"/>
          <p:cNvSpPr/>
          <p:nvPr/>
        </p:nvSpPr>
        <p:spPr>
          <a:xfrm>
            <a:off x="3474720" y="4261104"/>
            <a:ext cx="6858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3A5F"/>
              </a:buClr>
              <a:buSzPts val="1250"/>
              <a:buFont typeface="Arial"/>
              <a:buNone/>
            </a:pPr>
            <a:r>
              <a:rPr b="1" i="0" lang="en-US" sz="1250" u="none" cap="none" strike="noStrike">
                <a:solidFill>
                  <a:srgbClr val="1F3A5F"/>
                </a:solidFill>
                <a:latin typeface="Arial"/>
                <a:ea typeface="Arial"/>
                <a:cs typeface="Arial"/>
                <a:sym typeface="Arial"/>
              </a:rPr>
              <a:t>0.9977</a:t>
            </a:r>
            <a:endParaRPr b="0" i="0" sz="1250" u="none" cap="none" strike="noStrike">
              <a:solidFill>
                <a:schemeClr val="dk1"/>
              </a:solidFill>
              <a:latin typeface="Arial"/>
              <a:ea typeface="Arial"/>
              <a:cs typeface="Arial"/>
              <a:sym typeface="Arial"/>
            </a:endParaRPr>
          </a:p>
        </p:txBody>
      </p:sp>
      <p:cxnSp>
        <p:nvCxnSpPr>
          <p:cNvPr id="224" name="Google Shape;224;p11"/>
          <p:cNvCxnSpPr/>
          <p:nvPr/>
        </p:nvCxnSpPr>
        <p:spPr>
          <a:xfrm>
            <a:off x="868680" y="5001768"/>
            <a:ext cx="3474720" cy="0"/>
          </a:xfrm>
          <a:prstGeom prst="straightConnector1">
            <a:avLst/>
          </a:prstGeom>
          <a:noFill/>
          <a:ln cap="flat" cmpd="sng" w="12700">
            <a:solidFill>
              <a:srgbClr val="D6DEE8"/>
            </a:solidFill>
            <a:prstDash val="solid"/>
            <a:round/>
            <a:headEnd len="sm" w="sm" type="none"/>
            <a:tailEnd len="sm" w="sm" type="none"/>
          </a:ln>
        </p:spPr>
      </p:cxnSp>
      <p:sp>
        <p:nvSpPr>
          <p:cNvPr id="225" name="Google Shape;225;p11"/>
          <p:cNvSpPr/>
          <p:nvPr/>
        </p:nvSpPr>
        <p:spPr>
          <a:xfrm>
            <a:off x="932688" y="4791456"/>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Displayed classifications</a:t>
            </a:r>
            <a:endParaRPr b="0" i="0" sz="1250" u="none" cap="none" strike="noStrike">
              <a:solidFill>
                <a:schemeClr val="dk1"/>
              </a:solidFill>
              <a:latin typeface="Arial"/>
              <a:ea typeface="Arial"/>
              <a:cs typeface="Arial"/>
              <a:sym typeface="Arial"/>
            </a:endParaRPr>
          </a:p>
        </p:txBody>
      </p:sp>
      <p:sp>
        <p:nvSpPr>
          <p:cNvPr id="226" name="Google Shape;226;p11"/>
          <p:cNvSpPr/>
          <p:nvPr/>
        </p:nvSpPr>
        <p:spPr>
          <a:xfrm>
            <a:off x="3474720" y="4791456"/>
            <a:ext cx="6858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3A5F"/>
              </a:buClr>
              <a:buSzPts val="1250"/>
              <a:buFont typeface="Arial"/>
              <a:buNone/>
            </a:pPr>
            <a:r>
              <a:rPr b="1" i="0" lang="en-US" sz="1250" u="none" cap="none" strike="noStrike">
                <a:solidFill>
                  <a:srgbClr val="1F3A5F"/>
                </a:solidFill>
                <a:latin typeface="Arial"/>
                <a:ea typeface="Arial"/>
                <a:cs typeface="Arial"/>
                <a:sym typeface="Arial"/>
              </a:rPr>
              <a:t>186</a:t>
            </a:r>
            <a:endParaRPr b="0" i="0" sz="1250" u="none" cap="none" strike="noStrike">
              <a:solidFill>
                <a:schemeClr val="dk1"/>
              </a:solidFill>
              <a:latin typeface="Arial"/>
              <a:ea typeface="Arial"/>
              <a:cs typeface="Arial"/>
              <a:sym typeface="Arial"/>
            </a:endParaRPr>
          </a:p>
        </p:txBody>
      </p:sp>
      <p:sp>
        <p:nvSpPr>
          <p:cNvPr id="227" name="Google Shape;227;p11"/>
          <p:cNvSpPr/>
          <p:nvPr/>
        </p:nvSpPr>
        <p:spPr>
          <a:xfrm>
            <a:off x="4800600" y="2606040"/>
            <a:ext cx="6675120" cy="2880360"/>
          </a:xfrm>
          <a:prstGeom prst="roundRect">
            <a:avLst>
              <a:gd fmla="val 2540"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a:off x="5029200" y="2834640"/>
            <a:ext cx="1920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rPr b="1" i="0" lang="en-US" sz="1700" u="none" cap="none" strike="noStrike">
                <a:solidFill>
                  <a:srgbClr val="1F3A5F"/>
                </a:solidFill>
                <a:latin typeface="Arial"/>
                <a:ea typeface="Arial"/>
                <a:cs typeface="Arial"/>
                <a:sym typeface="Arial"/>
              </a:rPr>
              <a:t>Risk distribution</a:t>
            </a:r>
            <a:endParaRPr b="0" i="0" sz="1700" u="none" cap="none" strike="noStrike">
              <a:solidFill>
                <a:schemeClr val="dk1"/>
              </a:solidFill>
              <a:latin typeface="Arial"/>
              <a:ea typeface="Arial"/>
              <a:cs typeface="Arial"/>
              <a:sym typeface="Arial"/>
            </a:endParaRPr>
          </a:p>
        </p:txBody>
      </p:sp>
      <p:cxnSp>
        <p:nvCxnSpPr>
          <p:cNvPr id="229" name="Google Shape;229;p11"/>
          <p:cNvCxnSpPr/>
          <p:nvPr/>
        </p:nvCxnSpPr>
        <p:spPr>
          <a:xfrm>
            <a:off x="5029200" y="3483864"/>
            <a:ext cx="5897880" cy="0"/>
          </a:xfrm>
          <a:prstGeom prst="straightConnector1">
            <a:avLst/>
          </a:prstGeom>
          <a:noFill/>
          <a:ln cap="flat" cmpd="sng" w="12700">
            <a:solidFill>
              <a:srgbClr val="D6DEE8"/>
            </a:solidFill>
            <a:prstDash val="solid"/>
            <a:round/>
            <a:headEnd len="sm" w="sm" type="none"/>
            <a:tailEnd len="sm" w="sm" type="none"/>
          </a:ln>
        </p:spPr>
      </p:cxnSp>
      <p:sp>
        <p:nvSpPr>
          <p:cNvPr id="230" name="Google Shape;230;p11"/>
          <p:cNvSpPr/>
          <p:nvPr/>
        </p:nvSpPr>
        <p:spPr>
          <a:xfrm>
            <a:off x="5074920" y="3246120"/>
            <a:ext cx="11887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00"/>
              <a:buFont typeface="Arial"/>
              <a:buNone/>
            </a:pPr>
            <a:r>
              <a:rPr b="0" i="0" lang="en-US" sz="1200" u="none" cap="none" strike="noStrike">
                <a:solidFill>
                  <a:srgbClr val="0E0E0E"/>
                </a:solidFill>
                <a:latin typeface="Arial"/>
                <a:ea typeface="Arial"/>
                <a:cs typeface="Arial"/>
                <a:sym typeface="Arial"/>
              </a:rPr>
              <a:t>High risk</a:t>
            </a:r>
            <a:endParaRPr b="0" i="0" sz="1200" u="none" cap="none" strike="noStrike">
              <a:solidFill>
                <a:srgbClr val="0E0E0E"/>
              </a:solidFill>
              <a:latin typeface="Arial"/>
              <a:ea typeface="Arial"/>
              <a:cs typeface="Arial"/>
              <a:sym typeface="Arial"/>
            </a:endParaRPr>
          </a:p>
        </p:txBody>
      </p:sp>
      <p:sp>
        <p:nvSpPr>
          <p:cNvPr id="231" name="Google Shape;231;p11"/>
          <p:cNvSpPr/>
          <p:nvPr/>
        </p:nvSpPr>
        <p:spPr>
          <a:xfrm>
            <a:off x="6400800" y="3246120"/>
            <a:ext cx="7315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200"/>
              <a:buFont typeface="Arial"/>
              <a:buNone/>
            </a:pPr>
            <a:r>
              <a:rPr b="1" i="0" lang="en-US" sz="1200" u="none" cap="none" strike="noStrike">
                <a:solidFill>
                  <a:srgbClr val="1F3A5F"/>
                </a:solidFill>
                <a:latin typeface="Arial"/>
                <a:ea typeface="Arial"/>
                <a:cs typeface="Arial"/>
                <a:sym typeface="Arial"/>
              </a:rPr>
              <a:t>65</a:t>
            </a:r>
            <a:endParaRPr b="0" i="0" sz="1200" u="none" cap="none" strike="noStrike">
              <a:solidFill>
                <a:schemeClr val="dk1"/>
              </a:solidFill>
              <a:latin typeface="Arial"/>
              <a:ea typeface="Arial"/>
              <a:cs typeface="Arial"/>
              <a:sym typeface="Arial"/>
            </a:endParaRPr>
          </a:p>
        </p:txBody>
      </p:sp>
      <p:sp>
        <p:nvSpPr>
          <p:cNvPr id="232" name="Google Shape;232;p11"/>
          <p:cNvSpPr/>
          <p:nvPr/>
        </p:nvSpPr>
        <p:spPr>
          <a:xfrm>
            <a:off x="7315200" y="3246120"/>
            <a:ext cx="3383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150"/>
              <a:buFont typeface="Arial"/>
              <a:buNone/>
            </a:pPr>
            <a:r>
              <a:rPr lang="en-US" sz="1150">
                <a:solidFill>
                  <a:schemeClr val="dk1"/>
                </a:solidFill>
              </a:rPr>
              <a:t>D</a:t>
            </a:r>
            <a:r>
              <a:rPr b="0" i="0" lang="en-US" sz="1150" u="none" cap="none" strike="noStrike">
                <a:solidFill>
                  <a:schemeClr val="dk1"/>
                </a:solidFill>
                <a:latin typeface="Arial"/>
                <a:ea typeface="Arial"/>
                <a:cs typeface="Arial"/>
                <a:sym typeface="Arial"/>
              </a:rPr>
              <a:t>irect fraud prediction</a:t>
            </a:r>
            <a:endParaRPr b="0" i="0" sz="1150" u="none" cap="none" strike="noStrike">
              <a:solidFill>
                <a:schemeClr val="dk1"/>
              </a:solidFill>
              <a:latin typeface="Arial"/>
              <a:ea typeface="Arial"/>
              <a:cs typeface="Arial"/>
              <a:sym typeface="Arial"/>
            </a:endParaRPr>
          </a:p>
        </p:txBody>
      </p:sp>
      <p:cxnSp>
        <p:nvCxnSpPr>
          <p:cNvPr id="233" name="Google Shape;233;p11"/>
          <p:cNvCxnSpPr/>
          <p:nvPr/>
        </p:nvCxnSpPr>
        <p:spPr>
          <a:xfrm>
            <a:off x="5029200" y="4050792"/>
            <a:ext cx="5897880" cy="0"/>
          </a:xfrm>
          <a:prstGeom prst="straightConnector1">
            <a:avLst/>
          </a:prstGeom>
          <a:noFill/>
          <a:ln cap="flat" cmpd="sng" w="12700">
            <a:solidFill>
              <a:srgbClr val="D6DEE8"/>
            </a:solidFill>
            <a:prstDash val="solid"/>
            <a:round/>
            <a:headEnd len="sm" w="sm" type="none"/>
            <a:tailEnd len="sm" w="sm" type="none"/>
          </a:ln>
        </p:spPr>
      </p:cxnSp>
      <p:sp>
        <p:nvSpPr>
          <p:cNvPr id="234" name="Google Shape;234;p11"/>
          <p:cNvSpPr/>
          <p:nvPr/>
        </p:nvSpPr>
        <p:spPr>
          <a:xfrm>
            <a:off x="5074920" y="3813048"/>
            <a:ext cx="11887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00"/>
              <a:buFont typeface="Arial"/>
              <a:buNone/>
            </a:pPr>
            <a:r>
              <a:rPr b="0" i="0" lang="en-US" sz="1200" u="none" cap="none" strike="noStrike">
                <a:solidFill>
                  <a:srgbClr val="0E0E0E"/>
                </a:solidFill>
                <a:latin typeface="Arial"/>
                <a:ea typeface="Arial"/>
                <a:cs typeface="Arial"/>
                <a:sym typeface="Arial"/>
              </a:rPr>
              <a:t>Medium risk</a:t>
            </a:r>
            <a:endParaRPr b="0" i="0" sz="1200" u="none" cap="none" strike="noStrike">
              <a:solidFill>
                <a:srgbClr val="0E0E0E"/>
              </a:solidFill>
              <a:latin typeface="Arial"/>
              <a:ea typeface="Arial"/>
              <a:cs typeface="Arial"/>
              <a:sym typeface="Arial"/>
            </a:endParaRPr>
          </a:p>
        </p:txBody>
      </p:sp>
      <p:sp>
        <p:nvSpPr>
          <p:cNvPr id="235" name="Google Shape;235;p11"/>
          <p:cNvSpPr/>
          <p:nvPr/>
        </p:nvSpPr>
        <p:spPr>
          <a:xfrm>
            <a:off x="6400800" y="3813048"/>
            <a:ext cx="7315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200"/>
              <a:buFont typeface="Arial"/>
              <a:buNone/>
            </a:pPr>
            <a:r>
              <a:rPr b="1" i="0" lang="en-US" sz="1200" u="none" cap="none" strike="noStrike">
                <a:solidFill>
                  <a:srgbClr val="1F3A5F"/>
                </a:solidFill>
                <a:latin typeface="Arial"/>
                <a:ea typeface="Arial"/>
                <a:cs typeface="Arial"/>
                <a:sym typeface="Arial"/>
              </a:rPr>
              <a:t>4,341</a:t>
            </a:r>
            <a:endParaRPr b="0" i="0" sz="1200" u="none" cap="none" strike="noStrike">
              <a:solidFill>
                <a:schemeClr val="dk1"/>
              </a:solidFill>
              <a:latin typeface="Arial"/>
              <a:ea typeface="Arial"/>
              <a:cs typeface="Arial"/>
              <a:sym typeface="Arial"/>
            </a:endParaRPr>
          </a:p>
        </p:txBody>
      </p:sp>
      <p:sp>
        <p:nvSpPr>
          <p:cNvPr id="236" name="Google Shape;236;p11"/>
          <p:cNvSpPr/>
          <p:nvPr/>
        </p:nvSpPr>
        <p:spPr>
          <a:xfrm>
            <a:off x="7315200" y="3813048"/>
            <a:ext cx="3383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150"/>
              <a:buFont typeface="Arial"/>
              <a:buNone/>
            </a:pPr>
            <a:r>
              <a:rPr b="0" i="0" lang="en-US" sz="1150" u="none" cap="none" strike="noStrike">
                <a:solidFill>
                  <a:schemeClr val="dk1"/>
                </a:solidFill>
                <a:latin typeface="Arial"/>
                <a:ea typeface="Arial"/>
                <a:cs typeface="Arial"/>
                <a:sym typeface="Arial"/>
              </a:rPr>
              <a:t>Needs review, not strong enough for HIGH</a:t>
            </a:r>
            <a:endParaRPr b="0" i="0" sz="1150" u="none" cap="none" strike="noStrike">
              <a:solidFill>
                <a:schemeClr val="dk1"/>
              </a:solidFill>
              <a:latin typeface="Arial"/>
              <a:ea typeface="Arial"/>
              <a:cs typeface="Arial"/>
              <a:sym typeface="Arial"/>
            </a:endParaRPr>
          </a:p>
        </p:txBody>
      </p:sp>
      <p:cxnSp>
        <p:nvCxnSpPr>
          <p:cNvPr id="237" name="Google Shape;237;p11"/>
          <p:cNvCxnSpPr/>
          <p:nvPr/>
        </p:nvCxnSpPr>
        <p:spPr>
          <a:xfrm>
            <a:off x="5029200" y="4617720"/>
            <a:ext cx="5897880" cy="0"/>
          </a:xfrm>
          <a:prstGeom prst="straightConnector1">
            <a:avLst/>
          </a:prstGeom>
          <a:noFill/>
          <a:ln cap="flat" cmpd="sng" w="12700">
            <a:solidFill>
              <a:srgbClr val="D6DEE8"/>
            </a:solidFill>
            <a:prstDash val="solid"/>
            <a:round/>
            <a:headEnd len="sm" w="sm" type="none"/>
            <a:tailEnd len="sm" w="sm" type="none"/>
          </a:ln>
        </p:spPr>
      </p:cxnSp>
      <p:sp>
        <p:nvSpPr>
          <p:cNvPr id="238" name="Google Shape;238;p11"/>
          <p:cNvSpPr/>
          <p:nvPr/>
        </p:nvSpPr>
        <p:spPr>
          <a:xfrm>
            <a:off x="5074920" y="4379976"/>
            <a:ext cx="11887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00"/>
              <a:buFont typeface="Arial"/>
              <a:buNone/>
            </a:pPr>
            <a:r>
              <a:rPr b="0" i="0" lang="en-US" sz="1200" u="none" cap="none" strike="noStrike">
                <a:solidFill>
                  <a:schemeClr val="dk1"/>
                </a:solidFill>
                <a:latin typeface="Arial"/>
                <a:ea typeface="Arial"/>
                <a:cs typeface="Arial"/>
                <a:sym typeface="Arial"/>
              </a:rPr>
              <a:t>Low risk</a:t>
            </a:r>
            <a:endParaRPr b="0" i="0" sz="1200" u="none" cap="none" strike="noStrike">
              <a:solidFill>
                <a:schemeClr val="dk1"/>
              </a:solidFill>
              <a:latin typeface="Arial"/>
              <a:ea typeface="Arial"/>
              <a:cs typeface="Arial"/>
              <a:sym typeface="Arial"/>
            </a:endParaRPr>
          </a:p>
        </p:txBody>
      </p:sp>
      <p:sp>
        <p:nvSpPr>
          <p:cNvPr id="239" name="Google Shape;239;p11"/>
          <p:cNvSpPr/>
          <p:nvPr/>
        </p:nvSpPr>
        <p:spPr>
          <a:xfrm>
            <a:off x="6400800" y="4379976"/>
            <a:ext cx="7315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200"/>
              <a:buFont typeface="Arial"/>
              <a:buNone/>
            </a:pPr>
            <a:r>
              <a:rPr b="1" i="0" lang="en-US" sz="1200" u="none" cap="none" strike="noStrike">
                <a:solidFill>
                  <a:srgbClr val="1F3A5F"/>
                </a:solidFill>
                <a:latin typeface="Arial"/>
                <a:ea typeface="Arial"/>
                <a:cs typeface="Arial"/>
                <a:sym typeface="Arial"/>
              </a:rPr>
              <a:t>15,594</a:t>
            </a:r>
            <a:endParaRPr b="0" i="0" sz="1200" u="none" cap="none" strike="noStrike">
              <a:solidFill>
                <a:schemeClr val="dk1"/>
              </a:solidFill>
              <a:latin typeface="Arial"/>
              <a:ea typeface="Arial"/>
              <a:cs typeface="Arial"/>
              <a:sym typeface="Arial"/>
            </a:endParaRPr>
          </a:p>
        </p:txBody>
      </p:sp>
      <p:sp>
        <p:nvSpPr>
          <p:cNvPr id="240" name="Google Shape;240;p11"/>
          <p:cNvSpPr/>
          <p:nvPr/>
        </p:nvSpPr>
        <p:spPr>
          <a:xfrm>
            <a:off x="7315200" y="4379976"/>
            <a:ext cx="3383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150"/>
              <a:buFont typeface="Arial"/>
              <a:buNone/>
            </a:pPr>
            <a:r>
              <a:rPr b="0" i="0" lang="en-US" sz="1150" u="none" cap="none" strike="noStrike">
                <a:solidFill>
                  <a:schemeClr val="dk1"/>
                </a:solidFill>
                <a:latin typeface="Arial"/>
                <a:ea typeface="Arial"/>
                <a:cs typeface="Arial"/>
                <a:sym typeface="Arial"/>
              </a:rPr>
              <a:t>Not flagged for review</a:t>
            </a:r>
            <a:endParaRPr b="0" i="0" sz="1150" u="none" cap="none" strike="noStrike">
              <a:solidFill>
                <a:schemeClr val="dk1"/>
              </a:solidFill>
              <a:latin typeface="Arial"/>
              <a:ea typeface="Arial"/>
              <a:cs typeface="Arial"/>
              <a:sym typeface="Arial"/>
            </a:endParaRPr>
          </a:p>
        </p:txBody>
      </p:sp>
      <p:sp>
        <p:nvSpPr>
          <p:cNvPr id="241" name="Google Shape;241;p11"/>
          <p:cNvSpPr/>
          <p:nvPr/>
        </p:nvSpPr>
        <p:spPr>
          <a:xfrm>
            <a:off x="4800600" y="4654300"/>
            <a:ext cx="6675000" cy="832200"/>
          </a:xfrm>
          <a:prstGeom prst="roundRect">
            <a:avLst>
              <a:gd fmla="val 8333" name="adj"/>
            </a:avLst>
          </a:prstGeom>
          <a:solidFill>
            <a:srgbClr val="EAF1FF"/>
          </a:solidFill>
          <a:ln cap="flat" cmpd="sng" w="12700">
            <a:solidFill>
              <a:srgbClr val="EAF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t>The final model is more selective about HIGH-risk classifications, but the dataset is imbalanced, so metrics like accuracy should be interpreted carefully. False positives and false negatives still affect reliability.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46" name="Shape 246"/>
        <p:cNvGrpSpPr/>
        <p:nvPr/>
      </p:nvGrpSpPr>
      <p:grpSpPr>
        <a:xfrm>
          <a:off x="0" y="0"/>
          <a:ext cx="0" cy="0"/>
          <a:chOff x="0" y="0"/>
          <a:chExt cx="0" cy="0"/>
        </a:xfrm>
      </p:grpSpPr>
      <p:sp>
        <p:nvSpPr>
          <p:cNvPr id="247" name="Google Shape;247;p12"/>
          <p:cNvSpPr/>
          <p:nvPr/>
        </p:nvSpPr>
        <p:spPr>
          <a:xfrm>
            <a:off x="0" y="0"/>
            <a:ext cx="12191695" cy="256032"/>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2"/>
          <p:cNvSpPr/>
          <p:nvPr/>
        </p:nvSpPr>
        <p:spPr>
          <a:xfrm>
            <a:off x="548640" y="41148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400"/>
              <a:buFont typeface="Play"/>
              <a:buNone/>
            </a:pPr>
            <a:r>
              <a:rPr b="1" i="0" lang="en-US" sz="2400" u="none" cap="none" strike="noStrike">
                <a:solidFill>
                  <a:srgbClr val="1F3A5F"/>
                </a:solidFill>
                <a:latin typeface="Play"/>
                <a:ea typeface="Play"/>
                <a:cs typeface="Play"/>
                <a:sym typeface="Play"/>
              </a:rPr>
              <a:t>Example classifications</a:t>
            </a:r>
            <a:endParaRPr b="0" i="0" sz="2400" u="none" cap="none" strike="noStrike">
              <a:solidFill>
                <a:schemeClr val="dk1"/>
              </a:solidFill>
              <a:latin typeface="Arial"/>
              <a:ea typeface="Arial"/>
              <a:cs typeface="Arial"/>
              <a:sym typeface="Arial"/>
            </a:endParaRPr>
          </a:p>
        </p:txBody>
      </p:sp>
      <p:sp>
        <p:nvSpPr>
          <p:cNvPr id="249" name="Google Shape;249;p12"/>
          <p:cNvSpPr/>
          <p:nvPr/>
        </p:nvSpPr>
        <p:spPr>
          <a:xfrm>
            <a:off x="566928" y="941832"/>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50"/>
              <a:buFont typeface="Arial"/>
              <a:buNone/>
            </a:pPr>
            <a:r>
              <a:t/>
            </a:r>
            <a:endParaRPr b="0" i="0" sz="1050" u="none" cap="none" strike="noStrike">
              <a:solidFill>
                <a:schemeClr val="dk1"/>
              </a:solidFill>
              <a:latin typeface="Arial"/>
              <a:ea typeface="Arial"/>
              <a:cs typeface="Arial"/>
              <a:sym typeface="Arial"/>
            </a:endParaRPr>
          </a:p>
        </p:txBody>
      </p:sp>
      <p:sp>
        <p:nvSpPr>
          <p:cNvPr id="250" name="Google Shape;250;p12"/>
          <p:cNvSpPr/>
          <p:nvPr/>
        </p:nvSpPr>
        <p:spPr>
          <a:xfrm>
            <a:off x="566928" y="6473952"/>
            <a:ext cx="4114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900"/>
              <a:buFont typeface="Arial"/>
              <a:buNone/>
            </a:pPr>
            <a:r>
              <a:rPr b="0" i="0" lang="en-US" sz="900" u="none" cap="none" strike="noStrike">
                <a:solidFill>
                  <a:srgbClr val="5F6F82"/>
                </a:solidFill>
                <a:latin typeface="Arial"/>
                <a:ea typeface="Arial"/>
                <a:cs typeface="Arial"/>
                <a:sym typeface="Arial"/>
              </a:rPr>
              <a:t>ITCS 4102 / 5102 Final Project</a:t>
            </a:r>
            <a:endParaRPr b="0" i="0" sz="900" u="none" cap="none" strike="noStrike">
              <a:solidFill>
                <a:schemeClr val="dk1"/>
              </a:solidFill>
              <a:latin typeface="Arial"/>
              <a:ea typeface="Arial"/>
              <a:cs typeface="Arial"/>
              <a:sym typeface="Arial"/>
            </a:endParaRPr>
          </a:p>
        </p:txBody>
      </p:sp>
      <p:sp>
        <p:nvSpPr>
          <p:cNvPr id="251" name="Google Shape;251;p12"/>
          <p:cNvSpPr/>
          <p:nvPr/>
        </p:nvSpPr>
        <p:spPr>
          <a:xfrm>
            <a:off x="658368" y="1325880"/>
            <a:ext cx="10972800" cy="457200"/>
          </a:xfrm>
          <a:prstGeom prst="roundRect">
            <a:avLst>
              <a:gd fmla="val 8000" name="adj"/>
            </a:avLst>
          </a:prstGeom>
          <a:solidFill>
            <a:srgbClr val="EDF2F7"/>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2"/>
          <p:cNvSpPr/>
          <p:nvPr/>
        </p:nvSpPr>
        <p:spPr>
          <a:xfrm>
            <a:off x="868680" y="1463040"/>
            <a:ext cx="7315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100"/>
              <a:buFont typeface="Arial"/>
              <a:buNone/>
            </a:pPr>
            <a:r>
              <a:rPr b="1" i="0" lang="en-US" sz="1100" u="none" cap="none" strike="noStrike">
                <a:solidFill>
                  <a:srgbClr val="1F3A5F"/>
                </a:solidFill>
                <a:latin typeface="Arial"/>
                <a:ea typeface="Arial"/>
                <a:cs typeface="Arial"/>
                <a:sym typeface="Arial"/>
              </a:rPr>
              <a:t>Type</a:t>
            </a:r>
            <a:endParaRPr b="0" i="0" sz="1100" u="none" cap="none" strike="noStrike">
              <a:solidFill>
                <a:schemeClr val="dk1"/>
              </a:solidFill>
              <a:latin typeface="Arial"/>
              <a:ea typeface="Arial"/>
              <a:cs typeface="Arial"/>
              <a:sym typeface="Arial"/>
            </a:endParaRPr>
          </a:p>
        </p:txBody>
      </p:sp>
      <p:sp>
        <p:nvSpPr>
          <p:cNvPr id="253" name="Google Shape;253;p12"/>
          <p:cNvSpPr/>
          <p:nvPr/>
        </p:nvSpPr>
        <p:spPr>
          <a:xfrm>
            <a:off x="1828800" y="1463040"/>
            <a:ext cx="9144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100"/>
              <a:buFont typeface="Arial"/>
              <a:buNone/>
            </a:pPr>
            <a:r>
              <a:rPr b="1" i="0" lang="en-US" sz="1100" u="none" cap="none" strike="noStrike">
                <a:solidFill>
                  <a:srgbClr val="1F3A5F"/>
                </a:solidFill>
                <a:latin typeface="Arial"/>
                <a:ea typeface="Arial"/>
                <a:cs typeface="Arial"/>
                <a:sym typeface="Arial"/>
              </a:rPr>
              <a:t>Amount</a:t>
            </a:r>
            <a:endParaRPr b="0" i="0" sz="1100" u="none" cap="none" strike="noStrike">
              <a:solidFill>
                <a:schemeClr val="dk1"/>
              </a:solidFill>
              <a:latin typeface="Arial"/>
              <a:ea typeface="Arial"/>
              <a:cs typeface="Arial"/>
              <a:sym typeface="Arial"/>
            </a:endParaRPr>
          </a:p>
        </p:txBody>
      </p:sp>
      <p:sp>
        <p:nvSpPr>
          <p:cNvPr id="254" name="Google Shape;254;p12"/>
          <p:cNvSpPr/>
          <p:nvPr/>
        </p:nvSpPr>
        <p:spPr>
          <a:xfrm>
            <a:off x="2880360" y="1463040"/>
            <a:ext cx="7315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100"/>
              <a:buFont typeface="Arial"/>
              <a:buNone/>
            </a:pPr>
            <a:r>
              <a:rPr b="1" i="0" lang="en-US" sz="1100" u="none" cap="none" strike="noStrike">
                <a:solidFill>
                  <a:srgbClr val="1F3A5F"/>
                </a:solidFill>
                <a:latin typeface="Arial"/>
                <a:ea typeface="Arial"/>
                <a:cs typeface="Arial"/>
                <a:sym typeface="Arial"/>
              </a:rPr>
              <a:t>Actual</a:t>
            </a:r>
            <a:endParaRPr b="0" i="0" sz="1100" u="none" cap="none" strike="noStrike">
              <a:solidFill>
                <a:schemeClr val="dk1"/>
              </a:solidFill>
              <a:latin typeface="Arial"/>
              <a:ea typeface="Arial"/>
              <a:cs typeface="Arial"/>
              <a:sym typeface="Arial"/>
            </a:endParaRPr>
          </a:p>
        </p:txBody>
      </p:sp>
      <p:sp>
        <p:nvSpPr>
          <p:cNvPr id="255" name="Google Shape;255;p12"/>
          <p:cNvSpPr/>
          <p:nvPr/>
        </p:nvSpPr>
        <p:spPr>
          <a:xfrm>
            <a:off x="3749040" y="1463040"/>
            <a:ext cx="86868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100"/>
              <a:buFont typeface="Arial"/>
              <a:buNone/>
            </a:pPr>
            <a:r>
              <a:rPr b="1" i="0" lang="en-US" sz="1100" u="none" cap="none" strike="noStrike">
                <a:solidFill>
                  <a:srgbClr val="1F3A5F"/>
                </a:solidFill>
                <a:latin typeface="Arial"/>
                <a:ea typeface="Arial"/>
                <a:cs typeface="Arial"/>
                <a:sym typeface="Arial"/>
              </a:rPr>
              <a:t>Model</a:t>
            </a:r>
            <a:endParaRPr b="0" i="0" sz="1100" u="none" cap="none" strike="noStrike">
              <a:solidFill>
                <a:schemeClr val="dk1"/>
              </a:solidFill>
              <a:latin typeface="Arial"/>
              <a:ea typeface="Arial"/>
              <a:cs typeface="Arial"/>
              <a:sym typeface="Arial"/>
            </a:endParaRPr>
          </a:p>
        </p:txBody>
      </p:sp>
      <p:sp>
        <p:nvSpPr>
          <p:cNvPr id="256" name="Google Shape;256;p12"/>
          <p:cNvSpPr/>
          <p:nvPr/>
        </p:nvSpPr>
        <p:spPr>
          <a:xfrm>
            <a:off x="4800600" y="1463040"/>
            <a:ext cx="630936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100"/>
              <a:buFont typeface="Arial"/>
              <a:buNone/>
            </a:pPr>
            <a:r>
              <a:rPr b="1" i="0" lang="en-US" sz="1100" u="none" cap="none" strike="noStrike">
                <a:solidFill>
                  <a:srgbClr val="1F3A5F"/>
                </a:solidFill>
                <a:latin typeface="Arial"/>
                <a:ea typeface="Arial"/>
                <a:cs typeface="Arial"/>
                <a:sym typeface="Arial"/>
              </a:rPr>
              <a:t>Why it ranked that way</a:t>
            </a:r>
            <a:endParaRPr b="0" i="0" sz="1100" u="none" cap="none" strike="noStrike">
              <a:solidFill>
                <a:schemeClr val="dk1"/>
              </a:solidFill>
              <a:latin typeface="Arial"/>
              <a:ea typeface="Arial"/>
              <a:cs typeface="Arial"/>
              <a:sym typeface="Arial"/>
            </a:endParaRPr>
          </a:p>
        </p:txBody>
      </p:sp>
      <p:sp>
        <p:nvSpPr>
          <p:cNvPr id="257" name="Google Shape;257;p12"/>
          <p:cNvSpPr/>
          <p:nvPr/>
        </p:nvSpPr>
        <p:spPr>
          <a:xfrm>
            <a:off x="658368" y="1874520"/>
            <a:ext cx="10972800" cy="658368"/>
          </a:xfrm>
          <a:prstGeom prst="roundRect">
            <a:avLst>
              <a:gd fmla="val 5556"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2"/>
          <p:cNvSpPr/>
          <p:nvPr/>
        </p:nvSpPr>
        <p:spPr>
          <a:xfrm>
            <a:off x="868674" y="2039100"/>
            <a:ext cx="86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TRANSFER</a:t>
            </a:r>
            <a:endParaRPr b="0" i="0" sz="1150" u="none" cap="none" strike="noStrike">
              <a:solidFill>
                <a:schemeClr val="dk1"/>
              </a:solidFill>
              <a:latin typeface="Arial"/>
              <a:ea typeface="Arial"/>
              <a:cs typeface="Arial"/>
              <a:sym typeface="Arial"/>
            </a:endParaRPr>
          </a:p>
        </p:txBody>
      </p:sp>
      <p:sp>
        <p:nvSpPr>
          <p:cNvPr id="259" name="Google Shape;259;p12"/>
          <p:cNvSpPr/>
          <p:nvPr/>
        </p:nvSpPr>
        <p:spPr>
          <a:xfrm>
            <a:off x="1828800" y="2039112"/>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$181.00</a:t>
            </a:r>
            <a:endParaRPr b="0" i="0" sz="1150" u="none" cap="none" strike="noStrike">
              <a:solidFill>
                <a:schemeClr val="dk1"/>
              </a:solidFill>
              <a:latin typeface="Arial"/>
              <a:ea typeface="Arial"/>
              <a:cs typeface="Arial"/>
              <a:sym typeface="Arial"/>
            </a:endParaRPr>
          </a:p>
        </p:txBody>
      </p:sp>
      <p:sp>
        <p:nvSpPr>
          <p:cNvPr id="260" name="Google Shape;260;p12"/>
          <p:cNvSpPr/>
          <p:nvPr/>
        </p:nvSpPr>
        <p:spPr>
          <a:xfrm>
            <a:off x="4800600" y="2039112"/>
            <a:ext cx="6309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risky_type, exact_balance_drain, destination_balance_anomaly, low_history_sender</a:t>
            </a:r>
            <a:endParaRPr b="0" i="0" sz="1150" u="none" cap="none" strike="noStrike">
              <a:solidFill>
                <a:schemeClr val="dk1"/>
              </a:solidFill>
              <a:latin typeface="Arial"/>
              <a:ea typeface="Arial"/>
              <a:cs typeface="Arial"/>
              <a:sym typeface="Arial"/>
            </a:endParaRPr>
          </a:p>
        </p:txBody>
      </p:sp>
      <p:sp>
        <p:nvSpPr>
          <p:cNvPr id="261" name="Google Shape;261;p12"/>
          <p:cNvSpPr/>
          <p:nvPr/>
        </p:nvSpPr>
        <p:spPr>
          <a:xfrm>
            <a:off x="3749040" y="2029968"/>
            <a:ext cx="694944" cy="274320"/>
          </a:xfrm>
          <a:prstGeom prst="roundRect">
            <a:avLst>
              <a:gd fmla="val 26667" name="adj"/>
            </a:avLst>
          </a:prstGeom>
          <a:solidFill>
            <a:srgbClr val="FDECEF"/>
          </a:solidFill>
          <a:ln cap="flat" cmpd="sng" w="12700">
            <a:solidFill>
              <a:srgbClr val="FDEC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
          <p:cNvSpPr/>
          <p:nvPr/>
        </p:nvSpPr>
        <p:spPr>
          <a:xfrm>
            <a:off x="3822192" y="2075688"/>
            <a:ext cx="54864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3A4B"/>
              </a:buClr>
              <a:buSzPts val="900"/>
              <a:buFont typeface="Arial"/>
              <a:buNone/>
            </a:pPr>
            <a:r>
              <a:rPr b="1" i="0" lang="en-US" sz="900" u="none" cap="none" strike="noStrike">
                <a:solidFill>
                  <a:srgbClr val="C73A4B"/>
                </a:solidFill>
                <a:latin typeface="Arial"/>
                <a:ea typeface="Arial"/>
                <a:cs typeface="Arial"/>
                <a:sym typeface="Arial"/>
              </a:rPr>
              <a:t>HIGH</a:t>
            </a:r>
            <a:endParaRPr b="0" i="0" sz="900" u="none" cap="none" strike="noStrike">
              <a:solidFill>
                <a:schemeClr val="dk1"/>
              </a:solidFill>
              <a:latin typeface="Arial"/>
              <a:ea typeface="Arial"/>
              <a:cs typeface="Arial"/>
              <a:sym typeface="Arial"/>
            </a:endParaRPr>
          </a:p>
        </p:txBody>
      </p:sp>
      <p:sp>
        <p:nvSpPr>
          <p:cNvPr id="263" name="Google Shape;263;p12"/>
          <p:cNvSpPr/>
          <p:nvPr/>
        </p:nvSpPr>
        <p:spPr>
          <a:xfrm>
            <a:off x="2880360" y="2029968"/>
            <a:ext cx="685800" cy="274320"/>
          </a:xfrm>
          <a:prstGeom prst="roundRect">
            <a:avLst>
              <a:gd fmla="val 26667" name="adj"/>
            </a:avLst>
          </a:prstGeom>
          <a:solidFill>
            <a:srgbClr val="FDECEF"/>
          </a:solidFill>
          <a:ln cap="flat" cmpd="sng" w="12700">
            <a:solidFill>
              <a:srgbClr val="FDEC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
          <p:cNvSpPr/>
          <p:nvPr/>
        </p:nvSpPr>
        <p:spPr>
          <a:xfrm>
            <a:off x="2953512" y="2075688"/>
            <a:ext cx="53949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3A4B"/>
              </a:buClr>
              <a:buSzPts val="900"/>
              <a:buFont typeface="Arial"/>
              <a:buNone/>
            </a:pPr>
            <a:r>
              <a:rPr b="1" i="0" lang="en-US" sz="900" u="none" cap="none" strike="noStrike">
                <a:solidFill>
                  <a:srgbClr val="C73A4B"/>
                </a:solidFill>
                <a:latin typeface="Arial"/>
                <a:ea typeface="Arial"/>
                <a:cs typeface="Arial"/>
                <a:sym typeface="Arial"/>
              </a:rPr>
              <a:t>Fraud</a:t>
            </a:r>
            <a:endParaRPr b="0" i="0" sz="900" u="none" cap="none" strike="noStrike">
              <a:solidFill>
                <a:schemeClr val="dk1"/>
              </a:solidFill>
              <a:latin typeface="Arial"/>
              <a:ea typeface="Arial"/>
              <a:cs typeface="Arial"/>
              <a:sym typeface="Arial"/>
            </a:endParaRPr>
          </a:p>
        </p:txBody>
      </p:sp>
      <p:sp>
        <p:nvSpPr>
          <p:cNvPr id="265" name="Google Shape;265;p12"/>
          <p:cNvSpPr/>
          <p:nvPr/>
        </p:nvSpPr>
        <p:spPr>
          <a:xfrm>
            <a:off x="658368" y="2642616"/>
            <a:ext cx="10972800" cy="658368"/>
          </a:xfrm>
          <a:prstGeom prst="roundRect">
            <a:avLst>
              <a:gd fmla="val 5556"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2"/>
          <p:cNvSpPr/>
          <p:nvPr/>
        </p:nvSpPr>
        <p:spPr>
          <a:xfrm>
            <a:off x="868674" y="2807201"/>
            <a:ext cx="86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CASH_OUT</a:t>
            </a:r>
            <a:endParaRPr b="0" i="0" sz="1150" u="none" cap="none" strike="noStrike">
              <a:solidFill>
                <a:schemeClr val="dk1"/>
              </a:solidFill>
              <a:latin typeface="Arial"/>
              <a:ea typeface="Arial"/>
              <a:cs typeface="Arial"/>
              <a:sym typeface="Arial"/>
            </a:endParaRPr>
          </a:p>
        </p:txBody>
      </p:sp>
      <p:sp>
        <p:nvSpPr>
          <p:cNvPr id="267" name="Google Shape;267;p12"/>
          <p:cNvSpPr/>
          <p:nvPr/>
        </p:nvSpPr>
        <p:spPr>
          <a:xfrm>
            <a:off x="1828800" y="2807208"/>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$181.00</a:t>
            </a:r>
            <a:endParaRPr b="0" i="0" sz="1150" u="none" cap="none" strike="noStrike">
              <a:solidFill>
                <a:schemeClr val="dk1"/>
              </a:solidFill>
              <a:latin typeface="Arial"/>
              <a:ea typeface="Arial"/>
              <a:cs typeface="Arial"/>
              <a:sym typeface="Arial"/>
            </a:endParaRPr>
          </a:p>
        </p:txBody>
      </p:sp>
      <p:sp>
        <p:nvSpPr>
          <p:cNvPr id="268" name="Google Shape;268;p12"/>
          <p:cNvSpPr/>
          <p:nvPr/>
        </p:nvSpPr>
        <p:spPr>
          <a:xfrm>
            <a:off x="4800600" y="2807208"/>
            <a:ext cx="6309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risky_type, exact_balance_drain, low_history_sender</a:t>
            </a:r>
            <a:endParaRPr b="0" i="0" sz="1150" u="none" cap="none" strike="noStrike">
              <a:solidFill>
                <a:schemeClr val="dk1"/>
              </a:solidFill>
              <a:latin typeface="Arial"/>
              <a:ea typeface="Arial"/>
              <a:cs typeface="Arial"/>
              <a:sym typeface="Arial"/>
            </a:endParaRPr>
          </a:p>
        </p:txBody>
      </p:sp>
      <p:sp>
        <p:nvSpPr>
          <p:cNvPr id="269" name="Google Shape;269;p12"/>
          <p:cNvSpPr/>
          <p:nvPr/>
        </p:nvSpPr>
        <p:spPr>
          <a:xfrm>
            <a:off x="3749040" y="2798064"/>
            <a:ext cx="914400" cy="274320"/>
          </a:xfrm>
          <a:prstGeom prst="roundRect">
            <a:avLst>
              <a:gd fmla="val 26667" name="adj"/>
            </a:avLst>
          </a:prstGeom>
          <a:solidFill>
            <a:srgbClr val="FFF4DE"/>
          </a:solidFill>
          <a:ln cap="flat" cmpd="sng" w="12700">
            <a:solidFill>
              <a:srgbClr val="FFF4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2"/>
          <p:cNvSpPr/>
          <p:nvPr/>
        </p:nvSpPr>
        <p:spPr>
          <a:xfrm>
            <a:off x="3822192" y="2843784"/>
            <a:ext cx="76809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791F"/>
              </a:buClr>
              <a:buSzPts val="900"/>
              <a:buFont typeface="Arial"/>
              <a:buNone/>
            </a:pPr>
            <a:r>
              <a:rPr b="1" i="0" lang="en-US" sz="900" u="none" cap="none" strike="noStrike">
                <a:solidFill>
                  <a:srgbClr val="B7791F"/>
                </a:solidFill>
                <a:latin typeface="Arial"/>
                <a:ea typeface="Arial"/>
                <a:cs typeface="Arial"/>
                <a:sym typeface="Arial"/>
              </a:rPr>
              <a:t>MEDIUM</a:t>
            </a:r>
            <a:endParaRPr b="0" i="0" sz="900" u="none" cap="none" strike="noStrike">
              <a:solidFill>
                <a:schemeClr val="dk1"/>
              </a:solidFill>
              <a:latin typeface="Arial"/>
              <a:ea typeface="Arial"/>
              <a:cs typeface="Arial"/>
              <a:sym typeface="Arial"/>
            </a:endParaRPr>
          </a:p>
        </p:txBody>
      </p:sp>
      <p:sp>
        <p:nvSpPr>
          <p:cNvPr id="271" name="Google Shape;271;p12"/>
          <p:cNvSpPr/>
          <p:nvPr/>
        </p:nvSpPr>
        <p:spPr>
          <a:xfrm>
            <a:off x="2880360" y="2798064"/>
            <a:ext cx="685800" cy="274320"/>
          </a:xfrm>
          <a:prstGeom prst="roundRect">
            <a:avLst>
              <a:gd fmla="val 26667" name="adj"/>
            </a:avLst>
          </a:prstGeom>
          <a:solidFill>
            <a:srgbClr val="FDECEF"/>
          </a:solidFill>
          <a:ln cap="flat" cmpd="sng" w="12700">
            <a:solidFill>
              <a:srgbClr val="FDEC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
          <p:cNvSpPr/>
          <p:nvPr/>
        </p:nvSpPr>
        <p:spPr>
          <a:xfrm>
            <a:off x="2953512" y="2843784"/>
            <a:ext cx="53949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3A4B"/>
              </a:buClr>
              <a:buSzPts val="900"/>
              <a:buFont typeface="Arial"/>
              <a:buNone/>
            </a:pPr>
            <a:r>
              <a:rPr b="1" i="0" lang="en-US" sz="900" u="none" cap="none" strike="noStrike">
                <a:solidFill>
                  <a:srgbClr val="C73A4B"/>
                </a:solidFill>
                <a:latin typeface="Arial"/>
                <a:ea typeface="Arial"/>
                <a:cs typeface="Arial"/>
                <a:sym typeface="Arial"/>
              </a:rPr>
              <a:t>Fraud</a:t>
            </a:r>
            <a:endParaRPr b="0" i="0" sz="900" u="none" cap="none" strike="noStrike">
              <a:solidFill>
                <a:schemeClr val="dk1"/>
              </a:solidFill>
              <a:latin typeface="Arial"/>
              <a:ea typeface="Arial"/>
              <a:cs typeface="Arial"/>
              <a:sym typeface="Arial"/>
            </a:endParaRPr>
          </a:p>
        </p:txBody>
      </p:sp>
      <p:sp>
        <p:nvSpPr>
          <p:cNvPr id="273" name="Google Shape;273;p12"/>
          <p:cNvSpPr/>
          <p:nvPr/>
        </p:nvSpPr>
        <p:spPr>
          <a:xfrm>
            <a:off x="658368" y="3410712"/>
            <a:ext cx="10972800" cy="658368"/>
          </a:xfrm>
          <a:prstGeom prst="roundRect">
            <a:avLst>
              <a:gd fmla="val 5556"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p:nvPr/>
        </p:nvSpPr>
        <p:spPr>
          <a:xfrm>
            <a:off x="868674" y="3575302"/>
            <a:ext cx="86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CASH_OUT</a:t>
            </a:r>
            <a:endParaRPr b="0" i="0" sz="1150" u="none" cap="none" strike="noStrike">
              <a:solidFill>
                <a:schemeClr val="dk1"/>
              </a:solidFill>
              <a:latin typeface="Arial"/>
              <a:ea typeface="Arial"/>
              <a:cs typeface="Arial"/>
              <a:sym typeface="Arial"/>
            </a:endParaRPr>
          </a:p>
        </p:txBody>
      </p:sp>
      <p:sp>
        <p:nvSpPr>
          <p:cNvPr id="275" name="Google Shape;275;p12"/>
          <p:cNvSpPr/>
          <p:nvPr/>
        </p:nvSpPr>
        <p:spPr>
          <a:xfrm>
            <a:off x="1828800" y="3575304"/>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$229,133.94</a:t>
            </a:r>
            <a:endParaRPr b="0" i="0" sz="1150" u="none" cap="none" strike="noStrike">
              <a:solidFill>
                <a:schemeClr val="dk1"/>
              </a:solidFill>
              <a:latin typeface="Arial"/>
              <a:ea typeface="Arial"/>
              <a:cs typeface="Arial"/>
              <a:sym typeface="Arial"/>
            </a:endParaRPr>
          </a:p>
        </p:txBody>
      </p:sp>
      <p:sp>
        <p:nvSpPr>
          <p:cNvPr id="276" name="Google Shape;276;p12"/>
          <p:cNvSpPr/>
          <p:nvPr/>
        </p:nvSpPr>
        <p:spPr>
          <a:xfrm>
            <a:off x="4800600" y="3575304"/>
            <a:ext cx="6309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risky_type, large_amount, drains_origin_balance, low_history_sender</a:t>
            </a:r>
            <a:endParaRPr b="0" i="0" sz="1150" u="none" cap="none" strike="noStrike">
              <a:solidFill>
                <a:schemeClr val="dk1"/>
              </a:solidFill>
              <a:latin typeface="Arial"/>
              <a:ea typeface="Arial"/>
              <a:cs typeface="Arial"/>
              <a:sym typeface="Arial"/>
            </a:endParaRPr>
          </a:p>
        </p:txBody>
      </p:sp>
      <p:sp>
        <p:nvSpPr>
          <p:cNvPr id="277" name="Google Shape;277;p12"/>
          <p:cNvSpPr/>
          <p:nvPr/>
        </p:nvSpPr>
        <p:spPr>
          <a:xfrm>
            <a:off x="3749040" y="3566160"/>
            <a:ext cx="914400" cy="274320"/>
          </a:xfrm>
          <a:prstGeom prst="roundRect">
            <a:avLst>
              <a:gd fmla="val 26667" name="adj"/>
            </a:avLst>
          </a:prstGeom>
          <a:solidFill>
            <a:srgbClr val="FFF4DE"/>
          </a:solidFill>
          <a:ln cap="flat" cmpd="sng" w="12700">
            <a:solidFill>
              <a:srgbClr val="FFF4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2"/>
          <p:cNvSpPr/>
          <p:nvPr/>
        </p:nvSpPr>
        <p:spPr>
          <a:xfrm>
            <a:off x="3822192" y="3611880"/>
            <a:ext cx="76809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791F"/>
              </a:buClr>
              <a:buSzPts val="900"/>
              <a:buFont typeface="Arial"/>
              <a:buNone/>
            </a:pPr>
            <a:r>
              <a:rPr b="1" i="0" lang="en-US" sz="900" u="none" cap="none" strike="noStrike">
                <a:solidFill>
                  <a:srgbClr val="B7791F"/>
                </a:solidFill>
                <a:latin typeface="Arial"/>
                <a:ea typeface="Arial"/>
                <a:cs typeface="Arial"/>
                <a:sym typeface="Arial"/>
              </a:rPr>
              <a:t>MEDIUM</a:t>
            </a:r>
            <a:endParaRPr b="0" i="0" sz="900" u="none" cap="none" strike="noStrike">
              <a:solidFill>
                <a:schemeClr val="dk1"/>
              </a:solidFill>
              <a:latin typeface="Arial"/>
              <a:ea typeface="Arial"/>
              <a:cs typeface="Arial"/>
              <a:sym typeface="Arial"/>
            </a:endParaRPr>
          </a:p>
        </p:txBody>
      </p:sp>
      <p:sp>
        <p:nvSpPr>
          <p:cNvPr id="279" name="Google Shape;279;p12"/>
          <p:cNvSpPr/>
          <p:nvPr/>
        </p:nvSpPr>
        <p:spPr>
          <a:xfrm>
            <a:off x="2880360" y="3566160"/>
            <a:ext cx="685800" cy="274320"/>
          </a:xfrm>
          <a:prstGeom prst="roundRect">
            <a:avLst>
              <a:gd fmla="val 26667" name="adj"/>
            </a:avLst>
          </a:prstGeom>
          <a:solidFill>
            <a:srgbClr val="EAF7F0"/>
          </a:solidFill>
          <a:ln cap="flat" cmpd="sng" w="12700">
            <a:solidFill>
              <a:srgbClr val="EAF7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2"/>
          <p:cNvSpPr/>
          <p:nvPr/>
        </p:nvSpPr>
        <p:spPr>
          <a:xfrm>
            <a:off x="2953512" y="3611880"/>
            <a:ext cx="53949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8F5F"/>
              </a:buClr>
              <a:buSzPts val="900"/>
              <a:buFont typeface="Arial"/>
              <a:buNone/>
            </a:pPr>
            <a:r>
              <a:rPr b="1" i="0" lang="en-US" sz="900" u="none" cap="none" strike="noStrike">
                <a:solidFill>
                  <a:srgbClr val="1F8F5F"/>
                </a:solidFill>
                <a:latin typeface="Arial"/>
                <a:ea typeface="Arial"/>
                <a:cs typeface="Arial"/>
                <a:sym typeface="Arial"/>
              </a:rPr>
              <a:t>Clean</a:t>
            </a:r>
            <a:endParaRPr b="0" i="0" sz="900" u="none" cap="none" strike="noStrike">
              <a:solidFill>
                <a:schemeClr val="dk1"/>
              </a:solidFill>
              <a:latin typeface="Arial"/>
              <a:ea typeface="Arial"/>
              <a:cs typeface="Arial"/>
              <a:sym typeface="Arial"/>
            </a:endParaRPr>
          </a:p>
        </p:txBody>
      </p:sp>
      <p:sp>
        <p:nvSpPr>
          <p:cNvPr id="281" name="Google Shape;281;p12"/>
          <p:cNvSpPr/>
          <p:nvPr/>
        </p:nvSpPr>
        <p:spPr>
          <a:xfrm>
            <a:off x="658368" y="4178808"/>
            <a:ext cx="10972800" cy="658368"/>
          </a:xfrm>
          <a:prstGeom prst="roundRect">
            <a:avLst>
              <a:gd fmla="val 5556"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868674" y="4343402"/>
            <a:ext cx="86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TRANSFER</a:t>
            </a:r>
            <a:endParaRPr b="0" i="0" sz="1150" u="none" cap="none" strike="noStrike">
              <a:solidFill>
                <a:schemeClr val="dk1"/>
              </a:solidFill>
              <a:latin typeface="Arial"/>
              <a:ea typeface="Arial"/>
              <a:cs typeface="Arial"/>
              <a:sym typeface="Arial"/>
            </a:endParaRPr>
          </a:p>
        </p:txBody>
      </p:sp>
      <p:sp>
        <p:nvSpPr>
          <p:cNvPr id="283" name="Google Shape;283;p12"/>
          <p:cNvSpPr/>
          <p:nvPr/>
        </p:nvSpPr>
        <p:spPr>
          <a:xfrm>
            <a:off x="1828800" y="43434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$215,310.30</a:t>
            </a:r>
            <a:endParaRPr b="0" i="0" sz="1150" u="none" cap="none" strike="noStrike">
              <a:solidFill>
                <a:schemeClr val="dk1"/>
              </a:solidFill>
              <a:latin typeface="Arial"/>
              <a:ea typeface="Arial"/>
              <a:cs typeface="Arial"/>
              <a:sym typeface="Arial"/>
            </a:endParaRPr>
          </a:p>
        </p:txBody>
      </p:sp>
      <p:sp>
        <p:nvSpPr>
          <p:cNvPr id="284" name="Google Shape;284;p12"/>
          <p:cNvSpPr/>
          <p:nvPr/>
        </p:nvSpPr>
        <p:spPr>
          <a:xfrm>
            <a:off x="4800600" y="4343400"/>
            <a:ext cx="6309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risky_type, large_amount, drains_origin_balance, low_history_sender</a:t>
            </a:r>
            <a:endParaRPr b="0" i="0" sz="1150" u="none" cap="none" strike="noStrike">
              <a:solidFill>
                <a:schemeClr val="dk1"/>
              </a:solidFill>
              <a:latin typeface="Arial"/>
              <a:ea typeface="Arial"/>
              <a:cs typeface="Arial"/>
              <a:sym typeface="Arial"/>
            </a:endParaRPr>
          </a:p>
        </p:txBody>
      </p:sp>
      <p:sp>
        <p:nvSpPr>
          <p:cNvPr id="285" name="Google Shape;285;p12"/>
          <p:cNvSpPr/>
          <p:nvPr/>
        </p:nvSpPr>
        <p:spPr>
          <a:xfrm>
            <a:off x="3749040" y="4334256"/>
            <a:ext cx="914400" cy="274320"/>
          </a:xfrm>
          <a:prstGeom prst="roundRect">
            <a:avLst>
              <a:gd fmla="val 26667" name="adj"/>
            </a:avLst>
          </a:prstGeom>
          <a:solidFill>
            <a:srgbClr val="FFF4DE"/>
          </a:solidFill>
          <a:ln cap="flat" cmpd="sng" w="12700">
            <a:solidFill>
              <a:srgbClr val="FFF4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3822192" y="4379976"/>
            <a:ext cx="76809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791F"/>
              </a:buClr>
              <a:buSzPts val="900"/>
              <a:buFont typeface="Arial"/>
              <a:buNone/>
            </a:pPr>
            <a:r>
              <a:rPr b="1" i="0" lang="en-US" sz="900" u="none" cap="none" strike="noStrike">
                <a:solidFill>
                  <a:srgbClr val="B7791F"/>
                </a:solidFill>
                <a:latin typeface="Arial"/>
                <a:ea typeface="Arial"/>
                <a:cs typeface="Arial"/>
                <a:sym typeface="Arial"/>
              </a:rPr>
              <a:t>MEDIUM</a:t>
            </a:r>
            <a:endParaRPr b="0" i="0" sz="900" u="none" cap="none" strike="noStrike">
              <a:solidFill>
                <a:schemeClr val="dk1"/>
              </a:solidFill>
              <a:latin typeface="Arial"/>
              <a:ea typeface="Arial"/>
              <a:cs typeface="Arial"/>
              <a:sym typeface="Arial"/>
            </a:endParaRPr>
          </a:p>
        </p:txBody>
      </p:sp>
      <p:sp>
        <p:nvSpPr>
          <p:cNvPr id="287" name="Google Shape;287;p12"/>
          <p:cNvSpPr/>
          <p:nvPr/>
        </p:nvSpPr>
        <p:spPr>
          <a:xfrm>
            <a:off x="2880360" y="4334256"/>
            <a:ext cx="685800" cy="274320"/>
          </a:xfrm>
          <a:prstGeom prst="roundRect">
            <a:avLst>
              <a:gd fmla="val 26667" name="adj"/>
            </a:avLst>
          </a:prstGeom>
          <a:solidFill>
            <a:srgbClr val="EAF7F0"/>
          </a:solidFill>
          <a:ln cap="flat" cmpd="sng" w="12700">
            <a:solidFill>
              <a:srgbClr val="EAF7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2"/>
          <p:cNvSpPr/>
          <p:nvPr/>
        </p:nvSpPr>
        <p:spPr>
          <a:xfrm>
            <a:off x="2953512" y="4379976"/>
            <a:ext cx="53949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8F5F"/>
              </a:buClr>
              <a:buSzPts val="900"/>
              <a:buFont typeface="Arial"/>
              <a:buNone/>
            </a:pPr>
            <a:r>
              <a:rPr b="1" i="0" lang="en-US" sz="900" u="none" cap="none" strike="noStrike">
                <a:solidFill>
                  <a:srgbClr val="1F8F5F"/>
                </a:solidFill>
                <a:latin typeface="Arial"/>
                <a:ea typeface="Arial"/>
                <a:cs typeface="Arial"/>
                <a:sym typeface="Arial"/>
              </a:rPr>
              <a:t>Clean</a:t>
            </a:r>
            <a:endParaRPr b="0" i="0" sz="900" u="none" cap="none" strike="noStrike">
              <a:solidFill>
                <a:schemeClr val="dk1"/>
              </a:solidFill>
              <a:latin typeface="Arial"/>
              <a:ea typeface="Arial"/>
              <a:cs typeface="Arial"/>
              <a:sym typeface="Arial"/>
            </a:endParaRPr>
          </a:p>
        </p:txBody>
      </p:sp>
      <p:sp>
        <p:nvSpPr>
          <p:cNvPr id="289" name="Google Shape;289;p12"/>
          <p:cNvSpPr/>
          <p:nvPr/>
        </p:nvSpPr>
        <p:spPr>
          <a:xfrm>
            <a:off x="658368" y="4946904"/>
            <a:ext cx="10972800" cy="658368"/>
          </a:xfrm>
          <a:prstGeom prst="roundRect">
            <a:avLst>
              <a:gd fmla="val 5556"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868674" y="5111503"/>
            <a:ext cx="86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CASH_OUT</a:t>
            </a:r>
            <a:endParaRPr b="0" i="0" sz="1150" u="none" cap="none" strike="noStrike">
              <a:solidFill>
                <a:schemeClr val="dk1"/>
              </a:solidFill>
              <a:latin typeface="Arial"/>
              <a:ea typeface="Arial"/>
              <a:cs typeface="Arial"/>
              <a:sym typeface="Arial"/>
            </a:endParaRPr>
          </a:p>
        </p:txBody>
      </p:sp>
      <p:sp>
        <p:nvSpPr>
          <p:cNvPr id="291" name="Google Shape;291;p12"/>
          <p:cNvSpPr/>
          <p:nvPr/>
        </p:nvSpPr>
        <p:spPr>
          <a:xfrm>
            <a:off x="1828800" y="5111496"/>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$136,872.92</a:t>
            </a:r>
            <a:endParaRPr b="0" i="0" sz="1150" u="none" cap="none" strike="noStrike">
              <a:solidFill>
                <a:schemeClr val="dk1"/>
              </a:solidFill>
              <a:latin typeface="Arial"/>
              <a:ea typeface="Arial"/>
              <a:cs typeface="Arial"/>
              <a:sym typeface="Arial"/>
            </a:endParaRPr>
          </a:p>
        </p:txBody>
      </p:sp>
      <p:sp>
        <p:nvSpPr>
          <p:cNvPr id="292" name="Google Shape;292;p12"/>
          <p:cNvSpPr/>
          <p:nvPr/>
        </p:nvSpPr>
        <p:spPr>
          <a:xfrm>
            <a:off x="4800600" y="5111496"/>
            <a:ext cx="6309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150"/>
              <a:buFont typeface="Arial"/>
              <a:buNone/>
            </a:pPr>
            <a:r>
              <a:rPr b="0" i="0" lang="en-US" sz="1150" u="none" cap="none" strike="noStrike">
                <a:solidFill>
                  <a:srgbClr val="223245"/>
                </a:solidFill>
                <a:latin typeface="Arial"/>
                <a:ea typeface="Arial"/>
                <a:cs typeface="Arial"/>
                <a:sym typeface="Arial"/>
              </a:rPr>
              <a:t>risky_type, large_amount</a:t>
            </a:r>
            <a:endParaRPr b="0" i="0" sz="1150" u="none" cap="none" strike="noStrike">
              <a:solidFill>
                <a:schemeClr val="dk1"/>
              </a:solidFill>
              <a:latin typeface="Arial"/>
              <a:ea typeface="Arial"/>
              <a:cs typeface="Arial"/>
              <a:sym typeface="Arial"/>
            </a:endParaRPr>
          </a:p>
        </p:txBody>
      </p:sp>
      <p:sp>
        <p:nvSpPr>
          <p:cNvPr id="293" name="Google Shape;293;p12"/>
          <p:cNvSpPr/>
          <p:nvPr/>
        </p:nvSpPr>
        <p:spPr>
          <a:xfrm>
            <a:off x="3749040" y="5102352"/>
            <a:ext cx="914400" cy="274320"/>
          </a:xfrm>
          <a:prstGeom prst="roundRect">
            <a:avLst>
              <a:gd fmla="val 26667" name="adj"/>
            </a:avLst>
          </a:prstGeom>
          <a:solidFill>
            <a:srgbClr val="FFF4DE"/>
          </a:solidFill>
          <a:ln cap="flat" cmpd="sng" w="12700">
            <a:solidFill>
              <a:srgbClr val="FFF4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3822192" y="5148072"/>
            <a:ext cx="76809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791F"/>
              </a:buClr>
              <a:buSzPts val="900"/>
              <a:buFont typeface="Arial"/>
              <a:buNone/>
            </a:pPr>
            <a:r>
              <a:rPr b="1" i="0" lang="en-US" sz="900" u="none" cap="none" strike="noStrike">
                <a:solidFill>
                  <a:srgbClr val="B7791F"/>
                </a:solidFill>
                <a:latin typeface="Arial"/>
                <a:ea typeface="Arial"/>
                <a:cs typeface="Arial"/>
                <a:sym typeface="Arial"/>
              </a:rPr>
              <a:t>MEDIUM</a:t>
            </a:r>
            <a:endParaRPr b="0" i="0" sz="900" u="none" cap="none" strike="noStrike">
              <a:solidFill>
                <a:schemeClr val="dk1"/>
              </a:solidFill>
              <a:latin typeface="Arial"/>
              <a:ea typeface="Arial"/>
              <a:cs typeface="Arial"/>
              <a:sym typeface="Arial"/>
            </a:endParaRPr>
          </a:p>
        </p:txBody>
      </p:sp>
      <p:sp>
        <p:nvSpPr>
          <p:cNvPr id="295" name="Google Shape;295;p12"/>
          <p:cNvSpPr/>
          <p:nvPr/>
        </p:nvSpPr>
        <p:spPr>
          <a:xfrm>
            <a:off x="2880360" y="5102352"/>
            <a:ext cx="685800" cy="274320"/>
          </a:xfrm>
          <a:prstGeom prst="roundRect">
            <a:avLst>
              <a:gd fmla="val 26667" name="adj"/>
            </a:avLst>
          </a:prstGeom>
          <a:solidFill>
            <a:srgbClr val="EAF7F0"/>
          </a:solidFill>
          <a:ln cap="flat" cmpd="sng" w="12700">
            <a:solidFill>
              <a:srgbClr val="EAF7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2"/>
          <p:cNvSpPr/>
          <p:nvPr/>
        </p:nvSpPr>
        <p:spPr>
          <a:xfrm>
            <a:off x="2953512" y="5148072"/>
            <a:ext cx="53949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8F5F"/>
              </a:buClr>
              <a:buSzPts val="900"/>
              <a:buFont typeface="Arial"/>
              <a:buNone/>
            </a:pPr>
            <a:r>
              <a:rPr b="1" i="0" lang="en-US" sz="900" u="none" cap="none" strike="noStrike">
                <a:solidFill>
                  <a:srgbClr val="1F8F5F"/>
                </a:solidFill>
                <a:latin typeface="Arial"/>
                <a:ea typeface="Arial"/>
                <a:cs typeface="Arial"/>
                <a:sym typeface="Arial"/>
              </a:rPr>
              <a:t>Clean</a:t>
            </a:r>
            <a:endParaRPr b="0" i="0" sz="900" u="none" cap="none" strike="noStrike">
              <a:solidFill>
                <a:schemeClr val="dk1"/>
              </a:solidFill>
              <a:latin typeface="Arial"/>
              <a:ea typeface="Arial"/>
              <a:cs typeface="Arial"/>
              <a:sym typeface="Arial"/>
            </a:endParaRPr>
          </a:p>
        </p:txBody>
      </p:sp>
      <p:sp>
        <p:nvSpPr>
          <p:cNvPr id="297" name="Google Shape;297;p12"/>
          <p:cNvSpPr/>
          <p:nvPr/>
        </p:nvSpPr>
        <p:spPr>
          <a:xfrm>
            <a:off x="658368" y="5870448"/>
            <a:ext cx="10972800" cy="438912"/>
          </a:xfrm>
          <a:prstGeom prst="roundRect">
            <a:avLst>
              <a:gd fmla="val 8333" name="adj"/>
            </a:avLst>
          </a:prstGeom>
          <a:solidFill>
            <a:srgbClr val="EAF1FF"/>
          </a:solidFill>
          <a:ln cap="flat" cmpd="sng" w="12700">
            <a:solidFill>
              <a:srgbClr val="EAF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2"/>
          <p:cNvSpPr/>
          <p:nvPr/>
        </p:nvSpPr>
        <p:spPr>
          <a:xfrm>
            <a:off x="868680" y="6007608"/>
            <a:ext cx="1033272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00"/>
              <a:buFont typeface="Arial"/>
              <a:buNone/>
            </a:pPr>
            <a:r>
              <a:rPr b="1" lang="en-US" sz="1200">
                <a:solidFill>
                  <a:srgbClr val="223245"/>
                </a:solidFill>
              </a:rPr>
              <a:t>Exact balance drain was one of the strongest fraud indicators. Large amount alone often pushed a transaction to MEDIUM risk, but not always to HIGH risk</a:t>
            </a:r>
            <a:endParaRPr b="0" i="0" sz="1200" u="none" cap="none" strike="noStrike">
              <a:solidFill>
                <a:schemeClr val="dk1"/>
              </a:solidFill>
              <a:latin typeface="Arial"/>
              <a:ea typeface="Arial"/>
              <a:cs typeface="Arial"/>
              <a:sym typeface="Arial"/>
            </a:endParaRPr>
          </a:p>
        </p:txBody>
      </p:sp>
      <p:sp>
        <p:nvSpPr>
          <p:cNvPr id="299" name="Google Shape;299;p12"/>
          <p:cNvSpPr/>
          <p:nvPr/>
        </p:nvSpPr>
        <p:spPr>
          <a:xfrm>
            <a:off x="566928" y="941832"/>
            <a:ext cx="8046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50"/>
              <a:buFont typeface="Arial"/>
              <a:buNone/>
            </a:pPr>
            <a:r>
              <a:t/>
            </a:r>
            <a:endParaRPr b="0" i="0" sz="1050" u="none" cap="none" strike="noStrike">
              <a:solidFill>
                <a:schemeClr val="dk1"/>
              </a:solidFill>
              <a:latin typeface="Arial"/>
              <a:ea typeface="Arial"/>
              <a:cs typeface="Arial"/>
              <a:sym typeface="Arial"/>
            </a:endParaRPr>
          </a:p>
        </p:txBody>
      </p:sp>
      <p:sp>
        <p:nvSpPr>
          <p:cNvPr id="300" name="Google Shape;300;p12"/>
          <p:cNvSpPr/>
          <p:nvPr/>
        </p:nvSpPr>
        <p:spPr>
          <a:xfrm>
            <a:off x="719328" y="1094232"/>
            <a:ext cx="8046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50"/>
              <a:buFont typeface="Arial"/>
              <a:buNone/>
            </a:pPr>
            <a:r>
              <a:t/>
            </a:r>
            <a:endParaRPr b="0" i="0" sz="105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05" name="Shape 305"/>
        <p:cNvGrpSpPr/>
        <p:nvPr/>
      </p:nvGrpSpPr>
      <p:grpSpPr>
        <a:xfrm>
          <a:off x="0" y="0"/>
          <a:ext cx="0" cy="0"/>
          <a:chOff x="0" y="0"/>
          <a:chExt cx="0" cy="0"/>
        </a:xfrm>
      </p:grpSpPr>
      <p:sp>
        <p:nvSpPr>
          <p:cNvPr id="306" name="Google Shape;306;p13"/>
          <p:cNvSpPr/>
          <p:nvPr/>
        </p:nvSpPr>
        <p:spPr>
          <a:xfrm>
            <a:off x="0" y="0"/>
            <a:ext cx="12191700" cy="255900"/>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3"/>
          <p:cNvSpPr/>
          <p:nvPr/>
        </p:nvSpPr>
        <p:spPr>
          <a:xfrm>
            <a:off x="548640" y="41148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400"/>
              <a:buFont typeface="Play"/>
              <a:buNone/>
            </a:pPr>
            <a:r>
              <a:rPr b="1" lang="en-US" sz="2400">
                <a:solidFill>
                  <a:srgbClr val="1F3A5F"/>
                </a:solidFill>
                <a:latin typeface="Play"/>
                <a:ea typeface="Play"/>
                <a:cs typeface="Play"/>
                <a:sym typeface="Play"/>
              </a:rPr>
              <a:t>Helpful</a:t>
            </a:r>
            <a:r>
              <a:rPr b="1" lang="en-US" sz="2400">
                <a:solidFill>
                  <a:srgbClr val="1F3A5F"/>
                </a:solidFill>
                <a:latin typeface="Play"/>
                <a:ea typeface="Play"/>
                <a:cs typeface="Play"/>
                <a:sym typeface="Play"/>
              </a:rPr>
              <a:t> Features In Julia </a:t>
            </a:r>
            <a:endParaRPr b="0" i="0" sz="2400" u="none" cap="none" strike="noStrike">
              <a:solidFill>
                <a:schemeClr val="dk1"/>
              </a:solidFill>
              <a:latin typeface="Arial"/>
              <a:ea typeface="Arial"/>
              <a:cs typeface="Arial"/>
              <a:sym typeface="Arial"/>
            </a:endParaRPr>
          </a:p>
        </p:txBody>
      </p:sp>
      <p:sp>
        <p:nvSpPr>
          <p:cNvPr id="308" name="Google Shape;308;p13"/>
          <p:cNvSpPr/>
          <p:nvPr/>
        </p:nvSpPr>
        <p:spPr>
          <a:xfrm>
            <a:off x="566928" y="6473952"/>
            <a:ext cx="4114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900"/>
              <a:buFont typeface="Arial"/>
              <a:buNone/>
            </a:pPr>
            <a:r>
              <a:rPr b="0" i="0" lang="en-US" sz="900" u="none" cap="none" strike="noStrike">
                <a:solidFill>
                  <a:srgbClr val="5F6F82"/>
                </a:solidFill>
                <a:latin typeface="Arial"/>
                <a:ea typeface="Arial"/>
                <a:cs typeface="Arial"/>
                <a:sym typeface="Arial"/>
              </a:rPr>
              <a:t>ITCS 4102 / 5102 Final Project</a:t>
            </a:r>
            <a:endParaRPr b="0" i="0" sz="900" u="none" cap="none" strike="noStrike">
              <a:solidFill>
                <a:schemeClr val="dk1"/>
              </a:solidFill>
              <a:latin typeface="Arial"/>
              <a:ea typeface="Arial"/>
              <a:cs typeface="Arial"/>
              <a:sym typeface="Arial"/>
            </a:endParaRPr>
          </a:p>
        </p:txBody>
      </p:sp>
      <p:sp>
        <p:nvSpPr>
          <p:cNvPr id="309" name="Google Shape;309;p13"/>
          <p:cNvSpPr/>
          <p:nvPr/>
        </p:nvSpPr>
        <p:spPr>
          <a:xfrm>
            <a:off x="640075" y="1417326"/>
            <a:ext cx="2834700" cy="4993200"/>
          </a:xfrm>
          <a:prstGeom prst="roundRect">
            <a:avLst>
              <a:gd fmla="val 2581"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3"/>
          <p:cNvSpPr/>
          <p:nvPr/>
        </p:nvSpPr>
        <p:spPr>
          <a:xfrm>
            <a:off x="786384" y="1591056"/>
            <a:ext cx="868800" cy="274200"/>
          </a:xfrm>
          <a:prstGeom prst="roundRect">
            <a:avLst>
              <a:gd fmla="val 26667" name="adj"/>
            </a:avLst>
          </a:prstGeom>
          <a:solidFill>
            <a:srgbClr val="EAF1FF"/>
          </a:solidFill>
          <a:ln cap="flat" cmpd="sng" w="12700">
            <a:solidFill>
              <a:srgbClr val="EAF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3"/>
          <p:cNvSpPr/>
          <p:nvPr/>
        </p:nvSpPr>
        <p:spPr>
          <a:xfrm>
            <a:off x="859536" y="1636776"/>
            <a:ext cx="7224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900"/>
              <a:buFont typeface="Arial"/>
              <a:buNone/>
            </a:pPr>
            <a:r>
              <a:rPr b="1" lang="en-US" sz="900">
                <a:solidFill>
                  <a:srgbClr val="1F3A5F"/>
                </a:solidFill>
              </a:rPr>
              <a:t>Feature 1</a:t>
            </a:r>
            <a:endParaRPr b="0" i="0" sz="900" u="none" cap="none" strike="noStrike">
              <a:solidFill>
                <a:schemeClr val="dk1"/>
              </a:solidFill>
              <a:latin typeface="Arial"/>
              <a:ea typeface="Arial"/>
              <a:cs typeface="Arial"/>
              <a:sym typeface="Arial"/>
            </a:endParaRPr>
          </a:p>
        </p:txBody>
      </p:sp>
      <p:sp>
        <p:nvSpPr>
          <p:cNvPr id="312" name="Google Shape;312;p13"/>
          <p:cNvSpPr/>
          <p:nvPr/>
        </p:nvSpPr>
        <p:spPr>
          <a:xfrm>
            <a:off x="786384" y="1965960"/>
            <a:ext cx="251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600"/>
              <a:buFont typeface="Arial"/>
              <a:buNone/>
            </a:pPr>
            <a:r>
              <a:rPr b="1" lang="en-US" sz="1600">
                <a:solidFill>
                  <a:srgbClr val="1F3A5F"/>
                </a:solidFill>
              </a:rPr>
              <a:t>Structs and Data Organization</a:t>
            </a:r>
            <a:endParaRPr b="0" i="0" sz="1600" u="none" cap="none" strike="noStrike">
              <a:solidFill>
                <a:schemeClr val="dk1"/>
              </a:solidFill>
              <a:latin typeface="Arial"/>
              <a:ea typeface="Arial"/>
              <a:cs typeface="Arial"/>
              <a:sym typeface="Arial"/>
            </a:endParaRPr>
          </a:p>
        </p:txBody>
      </p:sp>
      <p:sp>
        <p:nvSpPr>
          <p:cNvPr id="313" name="Google Shape;313;p13"/>
          <p:cNvSpPr/>
          <p:nvPr/>
        </p:nvSpPr>
        <p:spPr>
          <a:xfrm>
            <a:off x="786384" y="2514600"/>
            <a:ext cx="24873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50"/>
              <a:buFont typeface="Arial"/>
              <a:buNone/>
            </a:pPr>
            <a:r>
              <a:rPr lang="en-US" sz="1250">
                <a:solidFill>
                  <a:srgbClr val="223245"/>
                </a:solidFill>
              </a:rPr>
              <a:t>We used struct and mutable struct to represent transactions and </a:t>
            </a:r>
            <a:r>
              <a:rPr lang="en-US" sz="1250">
                <a:solidFill>
                  <a:srgbClr val="223245"/>
                </a:solidFill>
              </a:rPr>
              <a:t>statistics</a:t>
            </a:r>
            <a:endParaRPr sz="1250">
              <a:solidFill>
                <a:srgbClr val="223245"/>
              </a:solidFill>
            </a:endParaRPr>
          </a:p>
        </p:txBody>
      </p:sp>
      <p:sp>
        <p:nvSpPr>
          <p:cNvPr id="314" name="Google Shape;314;p13"/>
          <p:cNvSpPr/>
          <p:nvPr/>
        </p:nvSpPr>
        <p:spPr>
          <a:xfrm>
            <a:off x="4069075" y="1417326"/>
            <a:ext cx="2834700" cy="4993200"/>
          </a:xfrm>
          <a:prstGeom prst="roundRect">
            <a:avLst>
              <a:gd fmla="val 2581"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3"/>
          <p:cNvSpPr/>
          <p:nvPr/>
        </p:nvSpPr>
        <p:spPr>
          <a:xfrm>
            <a:off x="4215384" y="1591056"/>
            <a:ext cx="868800" cy="274200"/>
          </a:xfrm>
          <a:prstGeom prst="roundRect">
            <a:avLst>
              <a:gd fmla="val 26667" name="adj"/>
            </a:avLst>
          </a:prstGeom>
          <a:solidFill>
            <a:srgbClr val="EAF1FF"/>
          </a:solidFill>
          <a:ln cap="flat" cmpd="sng" w="12700">
            <a:solidFill>
              <a:srgbClr val="EAF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3"/>
          <p:cNvSpPr/>
          <p:nvPr/>
        </p:nvSpPr>
        <p:spPr>
          <a:xfrm>
            <a:off x="4288536" y="1636776"/>
            <a:ext cx="7224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900"/>
              <a:buFont typeface="Arial"/>
              <a:buNone/>
            </a:pPr>
            <a:r>
              <a:rPr b="1" lang="en-US" sz="900">
                <a:solidFill>
                  <a:srgbClr val="1F3A5F"/>
                </a:solidFill>
              </a:rPr>
              <a:t>Feature 2</a:t>
            </a:r>
            <a:endParaRPr b="0" i="0" sz="900" u="none" cap="none" strike="noStrike">
              <a:solidFill>
                <a:schemeClr val="dk1"/>
              </a:solidFill>
              <a:latin typeface="Arial"/>
              <a:ea typeface="Arial"/>
              <a:cs typeface="Arial"/>
              <a:sym typeface="Arial"/>
            </a:endParaRPr>
          </a:p>
        </p:txBody>
      </p:sp>
      <p:sp>
        <p:nvSpPr>
          <p:cNvPr id="317" name="Google Shape;317;p13"/>
          <p:cNvSpPr/>
          <p:nvPr/>
        </p:nvSpPr>
        <p:spPr>
          <a:xfrm>
            <a:off x="4215384" y="1965960"/>
            <a:ext cx="251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600"/>
              <a:buFont typeface="Arial"/>
              <a:buNone/>
            </a:pPr>
            <a:r>
              <a:rPr b="1" lang="en-US" sz="1600">
                <a:solidFill>
                  <a:srgbClr val="1F3A5F"/>
                </a:solidFill>
              </a:rPr>
              <a:t>Built-in Data Structures</a:t>
            </a:r>
            <a:endParaRPr b="0" i="0" sz="1600" u="none" cap="none" strike="noStrike">
              <a:solidFill>
                <a:schemeClr val="dk1"/>
              </a:solidFill>
              <a:latin typeface="Arial"/>
              <a:ea typeface="Arial"/>
              <a:cs typeface="Arial"/>
              <a:sym typeface="Arial"/>
            </a:endParaRPr>
          </a:p>
        </p:txBody>
      </p:sp>
      <p:sp>
        <p:nvSpPr>
          <p:cNvPr id="318" name="Google Shape;318;p13"/>
          <p:cNvSpPr/>
          <p:nvPr/>
        </p:nvSpPr>
        <p:spPr>
          <a:xfrm>
            <a:off x="4215384" y="2514600"/>
            <a:ext cx="24873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50"/>
              <a:buFont typeface="Arial"/>
              <a:buNone/>
            </a:pPr>
            <a:r>
              <a:rPr b="0" i="0" lang="en-US" sz="1250" u="none" cap="none" strike="noStrike">
                <a:solidFill>
                  <a:srgbClr val="223245"/>
                </a:solidFill>
                <a:latin typeface="Arial"/>
                <a:ea typeface="Arial"/>
                <a:cs typeface="Arial"/>
                <a:sym typeface="Arial"/>
              </a:rPr>
              <a:t>The main program uses vectors, dictionaries, loops, conditionals, and helper functions to manage transactions and account history.</a:t>
            </a:r>
            <a:endParaRPr b="0" i="0" sz="1250" u="none" cap="none" strike="noStrike">
              <a:solidFill>
                <a:schemeClr val="dk1"/>
              </a:solidFill>
              <a:latin typeface="Arial"/>
              <a:ea typeface="Arial"/>
              <a:cs typeface="Arial"/>
              <a:sym typeface="Arial"/>
            </a:endParaRPr>
          </a:p>
        </p:txBody>
      </p:sp>
      <p:sp>
        <p:nvSpPr>
          <p:cNvPr id="319" name="Google Shape;319;p13"/>
          <p:cNvSpPr/>
          <p:nvPr/>
        </p:nvSpPr>
        <p:spPr>
          <a:xfrm>
            <a:off x="7498075" y="1417326"/>
            <a:ext cx="2834700" cy="4993200"/>
          </a:xfrm>
          <a:prstGeom prst="roundRect">
            <a:avLst>
              <a:gd fmla="val 2581"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3"/>
          <p:cNvSpPr/>
          <p:nvPr/>
        </p:nvSpPr>
        <p:spPr>
          <a:xfrm>
            <a:off x="7644384" y="1591056"/>
            <a:ext cx="868800" cy="274200"/>
          </a:xfrm>
          <a:prstGeom prst="roundRect">
            <a:avLst>
              <a:gd fmla="val 26667" name="adj"/>
            </a:avLst>
          </a:prstGeom>
          <a:solidFill>
            <a:srgbClr val="EAF1FF"/>
          </a:solidFill>
          <a:ln cap="flat" cmpd="sng" w="12700">
            <a:solidFill>
              <a:srgbClr val="EAF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3"/>
          <p:cNvSpPr/>
          <p:nvPr/>
        </p:nvSpPr>
        <p:spPr>
          <a:xfrm>
            <a:off x="7717536" y="1636776"/>
            <a:ext cx="7224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A5F"/>
              </a:buClr>
              <a:buSzPts val="900"/>
              <a:buFont typeface="Arial"/>
              <a:buNone/>
            </a:pPr>
            <a:r>
              <a:rPr b="1" lang="en-US" sz="900">
                <a:solidFill>
                  <a:srgbClr val="1F3A5F"/>
                </a:solidFill>
              </a:rPr>
              <a:t>Feature</a:t>
            </a:r>
            <a:r>
              <a:rPr b="1" i="0" lang="en-US" sz="900" u="none" cap="none" strike="noStrike">
                <a:solidFill>
                  <a:srgbClr val="1F3A5F"/>
                </a:solidFill>
                <a:latin typeface="Arial"/>
                <a:ea typeface="Arial"/>
                <a:cs typeface="Arial"/>
                <a:sym typeface="Arial"/>
              </a:rPr>
              <a:t> 3</a:t>
            </a:r>
            <a:endParaRPr b="0" i="0" sz="900" u="none" cap="none" strike="noStrike">
              <a:solidFill>
                <a:schemeClr val="dk1"/>
              </a:solidFill>
              <a:latin typeface="Arial"/>
              <a:ea typeface="Arial"/>
              <a:cs typeface="Arial"/>
              <a:sym typeface="Arial"/>
            </a:endParaRPr>
          </a:p>
        </p:txBody>
      </p:sp>
      <p:sp>
        <p:nvSpPr>
          <p:cNvPr id="322" name="Google Shape;322;p13"/>
          <p:cNvSpPr/>
          <p:nvPr/>
        </p:nvSpPr>
        <p:spPr>
          <a:xfrm>
            <a:off x="7644384" y="1965960"/>
            <a:ext cx="2514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600"/>
              <a:buFont typeface="Arial"/>
              <a:buNone/>
            </a:pPr>
            <a:r>
              <a:rPr b="1" lang="en-US" sz="1600">
                <a:solidFill>
                  <a:srgbClr val="1F3A5F"/>
                </a:solidFill>
              </a:rPr>
              <a:t>AbstractString</a:t>
            </a:r>
            <a:endParaRPr b="0" i="0" sz="1600" u="none" cap="none" strike="noStrike">
              <a:solidFill>
                <a:schemeClr val="dk1"/>
              </a:solidFill>
              <a:latin typeface="Arial"/>
              <a:ea typeface="Arial"/>
              <a:cs typeface="Arial"/>
              <a:sym typeface="Arial"/>
            </a:endParaRPr>
          </a:p>
        </p:txBody>
      </p:sp>
      <p:sp>
        <p:nvSpPr>
          <p:cNvPr id="323" name="Google Shape;323;p13"/>
          <p:cNvSpPr/>
          <p:nvPr/>
        </p:nvSpPr>
        <p:spPr>
          <a:xfrm>
            <a:off x="7644384" y="2514600"/>
            <a:ext cx="24873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250"/>
              <a:buFont typeface="Arial"/>
              <a:buNone/>
            </a:pPr>
            <a:r>
              <a:rPr lang="en-US" sz="1250">
                <a:solidFill>
                  <a:srgbClr val="223245"/>
                </a:solidFill>
              </a:rPr>
              <a:t>AbstractString can be used as a function input, </a:t>
            </a:r>
            <a:r>
              <a:rPr lang="en-US" sz="1250">
                <a:solidFill>
                  <a:srgbClr val="223245"/>
                </a:solidFill>
              </a:rPr>
              <a:t>which</a:t>
            </a:r>
            <a:r>
              <a:rPr lang="en-US" sz="1250">
                <a:solidFill>
                  <a:srgbClr val="223245"/>
                </a:solidFill>
              </a:rPr>
              <a:t> allows for much </a:t>
            </a:r>
            <a:r>
              <a:rPr lang="en-US" sz="1250">
                <a:solidFill>
                  <a:srgbClr val="223245"/>
                </a:solidFill>
              </a:rPr>
              <a:t>more</a:t>
            </a:r>
            <a:r>
              <a:rPr lang="en-US" sz="1250">
                <a:solidFill>
                  <a:srgbClr val="223245"/>
                </a:solidFill>
              </a:rPr>
              <a:t> flexibility with type inputs. </a:t>
            </a:r>
            <a:endParaRPr b="0" i="0" sz="1250" u="none" cap="none" strike="noStrike">
              <a:solidFill>
                <a:schemeClr val="dk1"/>
              </a:solidFill>
              <a:latin typeface="Arial"/>
              <a:ea typeface="Arial"/>
              <a:cs typeface="Arial"/>
              <a:sym typeface="Arial"/>
            </a:endParaRPr>
          </a:p>
        </p:txBody>
      </p:sp>
      <p:sp>
        <p:nvSpPr>
          <p:cNvPr id="324" name="Google Shape;324;p13"/>
          <p:cNvSpPr/>
          <p:nvPr/>
        </p:nvSpPr>
        <p:spPr>
          <a:xfrm>
            <a:off x="731575" y="3657600"/>
            <a:ext cx="2514600" cy="2655300"/>
          </a:xfrm>
          <a:prstGeom prst="rect">
            <a:avLst/>
          </a:prstGeom>
          <a:solidFill>
            <a:srgbClr val="F7F9FC"/>
          </a:solidFill>
          <a:ln cap="flat" cmpd="sng" w="9525">
            <a:solidFill>
              <a:srgbClr val="D6DEE8"/>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8292A2"/>
              </a:buClr>
              <a:buSzPts val="1400"/>
              <a:buFont typeface="Consolas"/>
              <a:buNone/>
            </a:pPr>
            <a:r>
              <a:t/>
            </a:r>
            <a:endParaRPr b="0" i="0" sz="1050" u="none" cap="none" strike="noStrike">
              <a:solidFill>
                <a:schemeClr val="dk1"/>
              </a:solidFill>
              <a:latin typeface="Arial"/>
              <a:ea typeface="Arial"/>
              <a:cs typeface="Arial"/>
              <a:sym typeface="Arial"/>
            </a:endParaRPr>
          </a:p>
        </p:txBody>
      </p:sp>
      <p:sp>
        <p:nvSpPr>
          <p:cNvPr id="325" name="Google Shape;325;p13"/>
          <p:cNvSpPr/>
          <p:nvPr/>
        </p:nvSpPr>
        <p:spPr>
          <a:xfrm>
            <a:off x="4297675" y="3657600"/>
            <a:ext cx="2377500" cy="2552100"/>
          </a:xfrm>
          <a:prstGeom prst="rect">
            <a:avLst/>
          </a:prstGeom>
          <a:solidFill>
            <a:srgbClr val="F7F9FC"/>
          </a:solidFill>
          <a:ln cap="flat" cmpd="sng" w="9525">
            <a:solidFill>
              <a:srgbClr val="D6DEE8"/>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8292A2"/>
              </a:buClr>
              <a:buSzPts val="1400"/>
              <a:buFont typeface="Consolas"/>
              <a:buNone/>
            </a:pPr>
            <a:r>
              <a:t/>
            </a:r>
            <a:endParaRPr b="0" i="0" sz="1050" u="none" cap="none" strike="noStrike">
              <a:solidFill>
                <a:schemeClr val="dk1"/>
              </a:solidFill>
              <a:latin typeface="Arial"/>
              <a:ea typeface="Arial"/>
              <a:cs typeface="Arial"/>
              <a:sym typeface="Arial"/>
            </a:endParaRPr>
          </a:p>
        </p:txBody>
      </p:sp>
      <p:sp>
        <p:nvSpPr>
          <p:cNvPr id="326" name="Google Shape;326;p13"/>
          <p:cNvSpPr/>
          <p:nvPr/>
        </p:nvSpPr>
        <p:spPr>
          <a:xfrm>
            <a:off x="7726675" y="3657599"/>
            <a:ext cx="2377500" cy="2552100"/>
          </a:xfrm>
          <a:prstGeom prst="rect">
            <a:avLst/>
          </a:prstGeom>
          <a:solidFill>
            <a:srgbClr val="F7F9FC"/>
          </a:solidFill>
          <a:ln cap="flat" cmpd="sng" w="9525">
            <a:solidFill>
              <a:srgbClr val="D6DEE8"/>
            </a:solidFill>
            <a:prstDash val="solid"/>
            <a:round/>
            <a:headEnd len="sm" w="sm" type="none"/>
            <a:tailEnd len="sm" w="sm" type="none"/>
          </a:ln>
        </p:spPr>
        <p:txBody>
          <a:bodyPr anchorCtr="0" anchor="ctr" bIns="625" lIns="625" spcFirstLastPara="1" rIns="625" wrap="square" tIns="625">
            <a:noAutofit/>
          </a:bodyPr>
          <a:lstStyle/>
          <a:p>
            <a:pPr indent="0" lvl="0" marL="0" marR="0" rtl="0" algn="l">
              <a:spcBef>
                <a:spcPts val="0"/>
              </a:spcBef>
              <a:spcAft>
                <a:spcPts val="0"/>
              </a:spcAft>
              <a:buClr>
                <a:srgbClr val="8292A2"/>
              </a:buClr>
              <a:buSzPts val="1400"/>
              <a:buFont typeface="Consolas"/>
              <a:buNone/>
            </a:pPr>
            <a:r>
              <a:t/>
            </a:r>
            <a:endParaRPr b="0" i="0" sz="1050" u="none" cap="none" strike="noStrike">
              <a:solidFill>
                <a:schemeClr val="dk1"/>
              </a:solidFill>
              <a:latin typeface="Arial"/>
              <a:ea typeface="Arial"/>
              <a:cs typeface="Arial"/>
              <a:sym typeface="Arial"/>
            </a:endParaRPr>
          </a:p>
        </p:txBody>
      </p:sp>
      <p:sp>
        <p:nvSpPr>
          <p:cNvPr id="327" name="Google Shape;327;p13"/>
          <p:cNvSpPr txBox="1"/>
          <p:nvPr/>
        </p:nvSpPr>
        <p:spPr>
          <a:xfrm>
            <a:off x="713275" y="3733050"/>
            <a:ext cx="2688300" cy="2401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Structure customer stats</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mutable struct CustomerStats</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count::</a:t>
            </a:r>
            <a:r>
              <a:rPr i="1" lang="en-US" sz="900">
                <a:solidFill>
                  <a:schemeClr val="dk1"/>
                </a:solidFill>
                <a:latin typeface="Courier New"/>
                <a:ea typeface="Courier New"/>
                <a:cs typeface="Courier New"/>
                <a:sym typeface="Courier New"/>
              </a:rPr>
              <a:t>Int</a:t>
            </a:r>
            <a:endParaRPr i="1"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total_amount::</a:t>
            </a:r>
            <a:r>
              <a:rPr i="1" lang="en-US" sz="900">
                <a:solidFill>
                  <a:schemeClr val="dk1"/>
                </a:solidFill>
                <a:latin typeface="Courier New"/>
                <a:ea typeface="Courier New"/>
                <a:cs typeface="Courier New"/>
                <a:sym typeface="Courier New"/>
              </a:rPr>
              <a:t>Float64</a:t>
            </a:r>
            <a:endParaRPr i="1"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risky_count::</a:t>
            </a:r>
            <a:r>
              <a:rPr i="1" lang="en-US" sz="900">
                <a:solidFill>
                  <a:schemeClr val="dk1"/>
                </a:solidFill>
                <a:latin typeface="Courier New"/>
                <a:ea typeface="Courier New"/>
                <a:cs typeface="Courier New"/>
                <a:sym typeface="Courier New"/>
              </a:rPr>
              <a:t>Int</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Structure destination stats</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mutable struct DestStats</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count::</a:t>
            </a:r>
            <a:r>
              <a:rPr i="1" lang="en-US" sz="900">
                <a:solidFill>
                  <a:schemeClr val="dk1"/>
                </a:solidFill>
                <a:latin typeface="Courier New"/>
                <a:ea typeface="Courier New"/>
                <a:cs typeface="Courier New"/>
                <a:sym typeface="Courier New"/>
              </a:rPr>
              <a:t>Int</a:t>
            </a:r>
            <a:endParaRPr i="1"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total_amount::</a:t>
            </a:r>
            <a:r>
              <a:rPr i="1" lang="en-US" sz="900">
                <a:solidFill>
                  <a:schemeClr val="dk1"/>
                </a:solidFill>
                <a:latin typeface="Courier New"/>
                <a:ea typeface="Courier New"/>
                <a:cs typeface="Courier New"/>
                <a:sym typeface="Courier New"/>
              </a:rPr>
              <a:t>Float64</a:t>
            </a:r>
            <a:endParaRPr i="1"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unique_senders::</a:t>
            </a:r>
            <a:r>
              <a:rPr i="1" lang="en-US" sz="900">
                <a:solidFill>
                  <a:schemeClr val="dk1"/>
                </a:solidFill>
                <a:latin typeface="Courier New"/>
                <a:ea typeface="Courier New"/>
                <a:cs typeface="Courier New"/>
                <a:sym typeface="Courier New"/>
              </a:rPr>
              <a:t>Set{String}</a:t>
            </a:r>
            <a:endParaRPr i="1"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end</a:t>
            </a:r>
            <a:endParaRPr sz="900">
              <a:solidFill>
                <a:schemeClr val="dk1"/>
              </a:solidFill>
              <a:latin typeface="Courier New"/>
              <a:ea typeface="Courier New"/>
              <a:cs typeface="Courier New"/>
              <a:sym typeface="Courier New"/>
            </a:endParaRPr>
          </a:p>
        </p:txBody>
      </p:sp>
      <p:sp>
        <p:nvSpPr>
          <p:cNvPr id="328" name="Google Shape;328;p13"/>
          <p:cNvSpPr txBox="1"/>
          <p:nvPr/>
        </p:nvSpPr>
        <p:spPr>
          <a:xfrm>
            <a:off x="4297675" y="3834750"/>
            <a:ext cx="2377500" cy="1569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Dict data structure</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#tracks data for output</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stats = Dict</a:t>
            </a:r>
            <a:r>
              <a:rPr i="1" lang="en-US" sz="900">
                <a:solidFill>
                  <a:schemeClr val="dk1"/>
                </a:solidFill>
                <a:latin typeface="Courier New"/>
                <a:ea typeface="Courier New"/>
                <a:cs typeface="Courier New"/>
                <a:sym typeface="Courier New"/>
              </a:rPr>
              <a:t>{String, CustomerStats}</a:t>
            </a:r>
            <a:r>
              <a:rPr lang="en-US"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dest_stats = Dict</a:t>
            </a:r>
            <a:r>
              <a:rPr i="1" lang="en-US" sz="900">
                <a:solidFill>
                  <a:schemeClr val="dk1"/>
                </a:solidFill>
                <a:latin typeface="Courier New"/>
                <a:ea typeface="Courier New"/>
                <a:cs typeface="Courier New"/>
                <a:sym typeface="Courier New"/>
              </a:rPr>
              <a:t>{String, DestStats}</a:t>
            </a:r>
            <a:r>
              <a:rPr lang="en-US"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900">
              <a:solidFill>
                <a:srgbClr val="F8F8F2"/>
              </a:solidFill>
              <a:highlight>
                <a:srgbClr val="272822"/>
              </a:highlight>
              <a:latin typeface="Courier New"/>
              <a:ea typeface="Courier New"/>
              <a:cs typeface="Courier New"/>
              <a:sym typeface="Courier New"/>
            </a:endParaRPr>
          </a:p>
        </p:txBody>
      </p:sp>
      <p:sp>
        <p:nvSpPr>
          <p:cNvPr id="329" name="Google Shape;329;p13"/>
          <p:cNvSpPr txBox="1"/>
          <p:nvPr/>
        </p:nvSpPr>
        <p:spPr>
          <a:xfrm>
            <a:off x="7726675" y="3822250"/>
            <a:ext cx="2377500" cy="9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function parse_bool01(s::</a:t>
            </a:r>
            <a:r>
              <a:rPr i="1" lang="en-US" sz="900">
                <a:solidFill>
                  <a:schemeClr val="dk1"/>
                </a:solidFill>
                <a:latin typeface="Courier New"/>
                <a:ea typeface="Courier New"/>
                <a:cs typeface="Courier New"/>
                <a:sym typeface="Courier New"/>
              </a:rPr>
              <a:t>AbstractString</a:t>
            </a:r>
            <a:r>
              <a:rPr lang="en-US"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   parse(Int, s) == 1</a:t>
            </a:r>
            <a:endParaRPr sz="9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US" sz="900">
                <a:solidFill>
                  <a:schemeClr val="dk1"/>
                </a:solidFill>
                <a:latin typeface="Courier New"/>
                <a:ea typeface="Courier New"/>
                <a:cs typeface="Courier New"/>
                <a:sym typeface="Courier New"/>
              </a:rPr>
              <a:t>end</a:t>
            </a:r>
            <a:endParaRPr sz="900">
              <a:solidFill>
                <a:schemeClr val="dk1"/>
              </a:solidFill>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4"/>
          <p:cNvSpPr txBox="1"/>
          <p:nvPr/>
        </p:nvSpPr>
        <p:spPr>
          <a:xfrm>
            <a:off x="-100" y="149425"/>
            <a:ext cx="12191700" cy="355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100">
                <a:solidFill>
                  <a:srgbClr val="1F3A5F"/>
                </a:solidFill>
                <a:latin typeface="Play"/>
                <a:ea typeface="Play"/>
                <a:cs typeface="Play"/>
                <a:sym typeface="Play"/>
              </a:rPr>
              <a:t>Product Demonstration</a:t>
            </a:r>
            <a:endParaRPr b="1" sz="3100">
              <a:solidFill>
                <a:srgbClr val="1F3A5F"/>
              </a:solidFill>
              <a:latin typeface="Play"/>
              <a:ea typeface="Play"/>
              <a:cs typeface="Play"/>
              <a:sym typeface="Play"/>
            </a:endParaRPr>
          </a:p>
          <a:p>
            <a:pPr indent="0" lvl="0" marL="0" rtl="0" algn="ctr">
              <a:spcBef>
                <a:spcPts val="0"/>
              </a:spcBef>
              <a:spcAft>
                <a:spcPts val="0"/>
              </a:spcAft>
              <a:buNone/>
            </a:pPr>
            <a:r>
              <a:t/>
            </a:r>
            <a:endParaRPr b="1" sz="3100">
              <a:solidFill>
                <a:srgbClr val="1F3A5F"/>
              </a:solidFill>
              <a:latin typeface="Play"/>
              <a:ea typeface="Play"/>
              <a:cs typeface="Play"/>
              <a:sym typeface="Play"/>
            </a:endParaRPr>
          </a:p>
          <a:p>
            <a:pPr indent="-349250" lvl="0" marL="457200" rtl="0" algn="ctr">
              <a:spcBef>
                <a:spcPts val="0"/>
              </a:spcBef>
              <a:spcAft>
                <a:spcPts val="0"/>
              </a:spcAft>
              <a:buClr>
                <a:srgbClr val="1F3A5F"/>
              </a:buClr>
              <a:buSzPts val="1900"/>
              <a:buFont typeface="Play"/>
              <a:buChar char="●"/>
            </a:pPr>
            <a:r>
              <a:rPr b="1" lang="en-US" sz="1900">
                <a:solidFill>
                  <a:srgbClr val="1F3A5F"/>
                </a:solidFill>
                <a:latin typeface="Play"/>
                <a:ea typeface="Play"/>
                <a:cs typeface="Play"/>
                <a:sym typeface="Play"/>
              </a:rPr>
              <a:t>VS Code</a:t>
            </a:r>
            <a:endParaRPr b="1" sz="1900">
              <a:solidFill>
                <a:srgbClr val="1F3A5F"/>
              </a:solidFill>
              <a:latin typeface="Play"/>
              <a:ea typeface="Play"/>
              <a:cs typeface="Play"/>
              <a:sym typeface="Play"/>
            </a:endParaRPr>
          </a:p>
          <a:p>
            <a:pPr indent="-349250" lvl="0" marL="457200" rtl="0" algn="ctr">
              <a:spcBef>
                <a:spcPts val="0"/>
              </a:spcBef>
              <a:spcAft>
                <a:spcPts val="0"/>
              </a:spcAft>
              <a:buClr>
                <a:srgbClr val="1F3A5F"/>
              </a:buClr>
              <a:buSzPts val="1900"/>
              <a:buFont typeface="Play"/>
              <a:buChar char="●"/>
            </a:pPr>
            <a:r>
              <a:rPr b="1" lang="en-US" sz="1900">
                <a:solidFill>
                  <a:srgbClr val="1F3A5F"/>
                </a:solidFill>
                <a:latin typeface="Play"/>
                <a:ea typeface="Play"/>
                <a:cs typeface="Play"/>
                <a:sym typeface="Play"/>
              </a:rPr>
              <a:t>Node </a:t>
            </a:r>
            <a:r>
              <a:rPr b="1" lang="en-US" sz="1900" u="sng">
                <a:solidFill>
                  <a:schemeClr val="hlink"/>
                </a:solidFill>
                <a:latin typeface="Play"/>
                <a:ea typeface="Play"/>
                <a:cs typeface="Play"/>
                <a:sym typeface="Play"/>
                <a:hlinkClick r:id="rId3"/>
              </a:rPr>
              <a:t>server.js</a:t>
            </a:r>
            <a:endParaRPr b="1" sz="1900">
              <a:solidFill>
                <a:srgbClr val="1F3A5F"/>
              </a:solidFill>
              <a:latin typeface="Play"/>
              <a:ea typeface="Play"/>
              <a:cs typeface="Play"/>
              <a:sym typeface="Play"/>
            </a:endParaRPr>
          </a:p>
          <a:p>
            <a:pPr indent="-349250" lvl="0" marL="457200" rtl="0" algn="ctr">
              <a:spcBef>
                <a:spcPts val="0"/>
              </a:spcBef>
              <a:spcAft>
                <a:spcPts val="0"/>
              </a:spcAft>
              <a:buClr>
                <a:srgbClr val="1F3A5F"/>
              </a:buClr>
              <a:buSzPts val="1900"/>
              <a:buFont typeface="Play"/>
              <a:buChar char="●"/>
            </a:pPr>
            <a:r>
              <a:rPr b="1" lang="en-US" sz="1900">
                <a:solidFill>
                  <a:srgbClr val="1F3A5F"/>
                </a:solidFill>
                <a:latin typeface="Play"/>
                <a:ea typeface="Play"/>
                <a:cs typeface="Play"/>
                <a:sym typeface="Play"/>
              </a:rPr>
              <a:t>localhost:3000</a:t>
            </a:r>
            <a:endParaRPr b="1" sz="1900">
              <a:solidFill>
                <a:srgbClr val="1F3A5F"/>
              </a:solidFill>
              <a:latin typeface="Play"/>
              <a:ea typeface="Play"/>
              <a:cs typeface="Play"/>
              <a:sym typeface="Play"/>
            </a:endParaRPr>
          </a:p>
        </p:txBody>
      </p:sp>
      <p:pic>
        <p:nvPicPr>
          <p:cNvPr id="336" name="Google Shape;336;p14"/>
          <p:cNvPicPr preferRelativeResize="0"/>
          <p:nvPr/>
        </p:nvPicPr>
        <p:blipFill>
          <a:blip r:embed="rId4">
            <a:alphaModFix/>
          </a:blip>
          <a:stretch>
            <a:fillRect/>
          </a:stretch>
        </p:blipFill>
        <p:spPr>
          <a:xfrm>
            <a:off x="-97" y="2387600"/>
            <a:ext cx="7452450" cy="2200725"/>
          </a:xfrm>
          <a:prstGeom prst="rect">
            <a:avLst/>
          </a:prstGeom>
          <a:noFill/>
          <a:ln>
            <a:noFill/>
          </a:ln>
        </p:spPr>
      </p:pic>
      <p:pic>
        <p:nvPicPr>
          <p:cNvPr id="337" name="Google Shape;337;p14"/>
          <p:cNvPicPr preferRelativeResize="0"/>
          <p:nvPr/>
        </p:nvPicPr>
        <p:blipFill>
          <a:blip r:embed="rId5">
            <a:alphaModFix/>
          </a:blip>
          <a:stretch>
            <a:fillRect/>
          </a:stretch>
        </p:blipFill>
        <p:spPr>
          <a:xfrm>
            <a:off x="5279720" y="4700300"/>
            <a:ext cx="6911951" cy="2157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42" name="Shape 342"/>
        <p:cNvGrpSpPr/>
        <p:nvPr/>
      </p:nvGrpSpPr>
      <p:grpSpPr>
        <a:xfrm>
          <a:off x="0" y="0"/>
          <a:ext cx="0" cy="0"/>
          <a:chOff x="0" y="0"/>
          <a:chExt cx="0" cy="0"/>
        </a:xfrm>
      </p:grpSpPr>
      <p:sp>
        <p:nvSpPr>
          <p:cNvPr id="343" name="Google Shape;343;p15"/>
          <p:cNvSpPr/>
          <p:nvPr/>
        </p:nvSpPr>
        <p:spPr>
          <a:xfrm>
            <a:off x="0" y="0"/>
            <a:ext cx="12191695" cy="256032"/>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
          <p:cNvSpPr/>
          <p:nvPr/>
        </p:nvSpPr>
        <p:spPr>
          <a:xfrm>
            <a:off x="548640" y="41148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400"/>
              <a:buFont typeface="Play"/>
              <a:buNone/>
            </a:pPr>
            <a:r>
              <a:rPr b="1" i="0" lang="en-US" sz="2400" u="none" cap="none" strike="noStrike">
                <a:solidFill>
                  <a:srgbClr val="1F3A5F"/>
                </a:solidFill>
                <a:latin typeface="Play"/>
                <a:ea typeface="Play"/>
                <a:cs typeface="Play"/>
                <a:sym typeface="Play"/>
              </a:rPr>
              <a:t>Limitations and next steps</a:t>
            </a:r>
            <a:endParaRPr b="0" i="0" sz="2400" u="none" cap="none" strike="noStrike">
              <a:solidFill>
                <a:schemeClr val="dk1"/>
              </a:solidFill>
              <a:latin typeface="Arial"/>
              <a:ea typeface="Arial"/>
              <a:cs typeface="Arial"/>
              <a:sym typeface="Arial"/>
            </a:endParaRPr>
          </a:p>
        </p:txBody>
      </p:sp>
      <p:sp>
        <p:nvSpPr>
          <p:cNvPr id="345" name="Google Shape;345;p15"/>
          <p:cNvSpPr/>
          <p:nvPr/>
        </p:nvSpPr>
        <p:spPr>
          <a:xfrm>
            <a:off x="566928" y="941832"/>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50"/>
              <a:buFont typeface="Arial"/>
              <a:buNone/>
            </a:pPr>
            <a:r>
              <a:t/>
            </a:r>
            <a:endParaRPr b="0" i="0" sz="1050" u="none" cap="none" strike="noStrike">
              <a:solidFill>
                <a:schemeClr val="dk1"/>
              </a:solidFill>
              <a:latin typeface="Arial"/>
              <a:ea typeface="Arial"/>
              <a:cs typeface="Arial"/>
              <a:sym typeface="Arial"/>
            </a:endParaRPr>
          </a:p>
        </p:txBody>
      </p:sp>
      <p:sp>
        <p:nvSpPr>
          <p:cNvPr id="346" name="Google Shape;346;p15"/>
          <p:cNvSpPr/>
          <p:nvPr/>
        </p:nvSpPr>
        <p:spPr>
          <a:xfrm>
            <a:off x="566928" y="6473952"/>
            <a:ext cx="4114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900"/>
              <a:buFont typeface="Arial"/>
              <a:buNone/>
            </a:pPr>
            <a:r>
              <a:rPr b="0" i="0" lang="en-US" sz="900" u="none" cap="none" strike="noStrike">
                <a:solidFill>
                  <a:srgbClr val="5F6F82"/>
                </a:solidFill>
                <a:latin typeface="Arial"/>
                <a:ea typeface="Arial"/>
                <a:cs typeface="Arial"/>
                <a:sym typeface="Arial"/>
              </a:rPr>
              <a:t>ITCS 4102 / 5102 Final Project</a:t>
            </a:r>
            <a:endParaRPr b="0" i="0" sz="900" u="none" cap="none" strike="noStrike">
              <a:solidFill>
                <a:schemeClr val="dk1"/>
              </a:solidFill>
              <a:latin typeface="Arial"/>
              <a:ea typeface="Arial"/>
              <a:cs typeface="Arial"/>
              <a:sym typeface="Arial"/>
            </a:endParaRPr>
          </a:p>
        </p:txBody>
      </p:sp>
      <p:sp>
        <p:nvSpPr>
          <p:cNvPr id="347" name="Google Shape;347;p15"/>
          <p:cNvSpPr/>
          <p:nvPr/>
        </p:nvSpPr>
        <p:spPr>
          <a:xfrm>
            <a:off x="640080" y="1325880"/>
            <a:ext cx="5303520" cy="4480560"/>
          </a:xfrm>
          <a:prstGeom prst="roundRect">
            <a:avLst>
              <a:gd fmla="val 1633"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5"/>
          <p:cNvSpPr/>
          <p:nvPr/>
        </p:nvSpPr>
        <p:spPr>
          <a:xfrm>
            <a:off x="877824" y="1572768"/>
            <a:ext cx="23774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rPr b="1" i="0" lang="en-US" sz="1700" u="none" cap="none" strike="noStrike">
                <a:solidFill>
                  <a:srgbClr val="1F3A5F"/>
                </a:solidFill>
                <a:latin typeface="Arial"/>
                <a:ea typeface="Arial"/>
                <a:cs typeface="Arial"/>
                <a:sym typeface="Arial"/>
              </a:rPr>
              <a:t>Current limitations</a:t>
            </a:r>
            <a:endParaRPr b="0" i="0" sz="1700" u="none" cap="none" strike="noStrike">
              <a:solidFill>
                <a:schemeClr val="dk1"/>
              </a:solidFill>
              <a:latin typeface="Arial"/>
              <a:ea typeface="Arial"/>
              <a:cs typeface="Arial"/>
              <a:sym typeface="Arial"/>
            </a:endParaRPr>
          </a:p>
        </p:txBody>
      </p:sp>
      <p:sp>
        <p:nvSpPr>
          <p:cNvPr id="349" name="Google Shape;349;p15"/>
          <p:cNvSpPr/>
          <p:nvPr/>
        </p:nvSpPr>
        <p:spPr>
          <a:xfrm>
            <a:off x="877825" y="1901947"/>
            <a:ext cx="4663500" cy="25608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The model still gives a lot of transactions MEDIUM risk just because they are large and risky-type.</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 Accuracy looks very high, but the dataset is imbalanced, so that metric can be misleading by itself.</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 The project is rule-based, so it does not adapt </a:t>
            </a:r>
            <a:r>
              <a:rPr b="1" i="0" lang="en-US" sz="1300" u="none" cap="none" strike="noStrike">
                <a:solidFill>
                  <a:srgbClr val="223245"/>
                </a:solidFill>
              </a:rPr>
              <a:t>automatically</a:t>
            </a:r>
            <a:r>
              <a:rPr b="0" i="0" lang="en-US" sz="1300" u="none" cap="none" strike="noStrike">
                <a:solidFill>
                  <a:srgbClr val="223245"/>
                </a:solidFill>
                <a:latin typeface="Arial"/>
                <a:ea typeface="Arial"/>
                <a:cs typeface="Arial"/>
                <a:sym typeface="Arial"/>
              </a:rPr>
              <a:t> the way a trained model could.</a:t>
            </a:r>
            <a:endParaRPr b="0" i="0" sz="1300" u="none" cap="none" strike="noStrike">
              <a:solidFill>
                <a:srgbClr val="223245"/>
              </a:solidFill>
              <a:latin typeface="Arial"/>
              <a:ea typeface="Arial"/>
              <a:cs typeface="Arial"/>
              <a:sym typeface="Arial"/>
            </a:endParaRPr>
          </a:p>
          <a:p>
            <a:pPr indent="-177800" lvl="0" marL="177800" marR="0" rtl="0" algn="l">
              <a:spcBef>
                <a:spcPts val="0"/>
              </a:spcBef>
              <a:spcAft>
                <a:spcPts val="0"/>
              </a:spcAft>
              <a:buClr>
                <a:srgbClr val="223245"/>
              </a:buClr>
              <a:buSzPts val="1300"/>
              <a:buChar char="•"/>
            </a:pPr>
            <a:r>
              <a:rPr lang="en-US" sz="1300">
                <a:solidFill>
                  <a:srgbClr val="223245"/>
                </a:solidFill>
              </a:rPr>
              <a:t>Users can’t upload their own custom files. </a:t>
            </a:r>
            <a:endParaRPr sz="1300">
              <a:solidFill>
                <a:srgbClr val="223245"/>
              </a:solidFill>
            </a:endParaRPr>
          </a:p>
          <a:p>
            <a:pPr indent="-177800" lvl="0" marL="177800" marR="0" rtl="0" algn="l">
              <a:spcBef>
                <a:spcPts val="0"/>
              </a:spcBef>
              <a:spcAft>
                <a:spcPts val="0"/>
              </a:spcAft>
              <a:buClr>
                <a:srgbClr val="223245"/>
              </a:buClr>
              <a:buSzPts val="1300"/>
              <a:buChar char="•"/>
            </a:pPr>
            <a:r>
              <a:rPr lang="en-US" sz="1300">
                <a:solidFill>
                  <a:srgbClr val="223245"/>
                </a:solidFill>
              </a:rPr>
              <a:t>Files must be formatted </a:t>
            </a:r>
            <a:r>
              <a:rPr b="1" lang="en-US" sz="1300">
                <a:solidFill>
                  <a:srgbClr val="223245"/>
                </a:solidFill>
              </a:rPr>
              <a:t>exactly</a:t>
            </a:r>
            <a:r>
              <a:rPr lang="en-US" sz="1300">
                <a:solidFill>
                  <a:srgbClr val="223245"/>
                </a:solidFill>
              </a:rPr>
              <a:t> as the PaySim files</a:t>
            </a:r>
            <a:endParaRPr sz="1300">
              <a:solidFill>
                <a:srgbClr val="223245"/>
              </a:solidFill>
            </a:endParaRPr>
          </a:p>
          <a:p>
            <a:pPr indent="0" lvl="0" marL="0" marR="0" rtl="0" algn="l">
              <a:spcBef>
                <a:spcPts val="0"/>
              </a:spcBef>
              <a:spcAft>
                <a:spcPts val="0"/>
              </a:spcAft>
              <a:buNone/>
            </a:pPr>
            <a:r>
              <a:t/>
            </a:r>
            <a:endParaRPr b="0" i="0" sz="1300" u="none" cap="none" strike="noStrike">
              <a:solidFill>
                <a:schemeClr val="dk1"/>
              </a:solidFill>
              <a:latin typeface="Arial"/>
              <a:ea typeface="Arial"/>
              <a:cs typeface="Arial"/>
              <a:sym typeface="Arial"/>
            </a:endParaRPr>
          </a:p>
        </p:txBody>
      </p:sp>
      <p:sp>
        <p:nvSpPr>
          <p:cNvPr id="350" name="Google Shape;350;p15"/>
          <p:cNvSpPr/>
          <p:nvPr/>
        </p:nvSpPr>
        <p:spPr>
          <a:xfrm>
            <a:off x="6217920" y="1325880"/>
            <a:ext cx="5303520" cy="4480560"/>
          </a:xfrm>
          <a:prstGeom prst="roundRect">
            <a:avLst>
              <a:gd fmla="val 1633"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5"/>
          <p:cNvSpPr/>
          <p:nvPr/>
        </p:nvSpPr>
        <p:spPr>
          <a:xfrm>
            <a:off x="6455664" y="1572768"/>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rPr b="1" i="0" lang="en-US" sz="1700" u="none" cap="none" strike="noStrike">
                <a:solidFill>
                  <a:srgbClr val="1F3A5F"/>
                </a:solidFill>
                <a:latin typeface="Arial"/>
                <a:ea typeface="Arial"/>
                <a:cs typeface="Arial"/>
                <a:sym typeface="Arial"/>
              </a:rPr>
              <a:t>What we would do next</a:t>
            </a:r>
            <a:endParaRPr b="0" i="0" sz="1700" u="none" cap="none" strike="noStrike">
              <a:solidFill>
                <a:schemeClr val="dk1"/>
              </a:solidFill>
              <a:latin typeface="Arial"/>
              <a:ea typeface="Arial"/>
              <a:cs typeface="Arial"/>
              <a:sym typeface="Arial"/>
            </a:endParaRPr>
          </a:p>
        </p:txBody>
      </p:sp>
      <p:sp>
        <p:nvSpPr>
          <p:cNvPr id="352" name="Google Shape;352;p15"/>
          <p:cNvSpPr/>
          <p:nvPr/>
        </p:nvSpPr>
        <p:spPr>
          <a:xfrm>
            <a:off x="6455675" y="1901944"/>
            <a:ext cx="4663500" cy="38217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Tune the weights more carefully using additional validation runs.</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 Compare the rule-based model against a machine learning baseline on the same dataset.</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 Expand the frontend with uploaded files, better charts, and saved results.</a:t>
            </a:r>
            <a:endParaRPr b="0" i="0" sz="1300" u="none" cap="none" strike="noStrike">
              <a:solidFill>
                <a:srgbClr val="223245"/>
              </a:solidFill>
              <a:latin typeface="Arial"/>
              <a:ea typeface="Arial"/>
              <a:cs typeface="Arial"/>
              <a:sym typeface="Arial"/>
            </a:endParaRPr>
          </a:p>
          <a:p>
            <a:pPr indent="-177800" lvl="0" marL="177800" marR="0" rtl="0" algn="l">
              <a:spcBef>
                <a:spcPts val="0"/>
              </a:spcBef>
              <a:spcAft>
                <a:spcPts val="0"/>
              </a:spcAft>
              <a:buClr>
                <a:srgbClr val="223245"/>
              </a:buClr>
              <a:buSzPts val="1300"/>
              <a:buChar char="•"/>
            </a:pPr>
            <a:r>
              <a:rPr lang="en-US" sz="1300">
                <a:solidFill>
                  <a:srgbClr val="223245"/>
                </a:solidFill>
              </a:rPr>
              <a:t>Create helper functions to read differently structured datasets</a:t>
            </a:r>
            <a:endParaRPr sz="1300">
              <a:solidFill>
                <a:srgbClr val="223245"/>
              </a:solidFill>
            </a:endParaRPr>
          </a:p>
          <a:p>
            <a:pPr indent="-311150" lvl="1" marL="914400" marR="0" rtl="0" algn="l">
              <a:spcBef>
                <a:spcPts val="0"/>
              </a:spcBef>
              <a:spcAft>
                <a:spcPts val="0"/>
              </a:spcAft>
              <a:buClr>
                <a:srgbClr val="223245"/>
              </a:buClr>
              <a:buSzPts val="1300"/>
              <a:buChar char="○"/>
            </a:pPr>
            <a:r>
              <a:rPr b="1" lang="en-US" sz="1300">
                <a:solidFill>
                  <a:srgbClr val="223245"/>
                </a:solidFill>
              </a:rPr>
              <a:t>Negate</a:t>
            </a:r>
            <a:r>
              <a:rPr lang="en-US" sz="1300">
                <a:solidFill>
                  <a:srgbClr val="223245"/>
                </a:solidFill>
              </a:rPr>
              <a:t> the requirement of exact headers for tables and rows</a:t>
            </a:r>
            <a:endParaRPr sz="1300">
              <a:solidFill>
                <a:srgbClr val="223245"/>
              </a:solidFill>
            </a:endParaRPr>
          </a:p>
        </p:txBody>
      </p:sp>
      <p:pic>
        <p:nvPicPr>
          <p:cNvPr id="353" name="Google Shape;353;p15" title="Screenshot 2026-04-20 at 17.12.17.png"/>
          <p:cNvPicPr preferRelativeResize="0"/>
          <p:nvPr/>
        </p:nvPicPr>
        <p:blipFill rotWithShape="1">
          <a:blip r:embed="rId3">
            <a:alphaModFix/>
          </a:blip>
          <a:srcRect b="2036" l="23171" r="38900" t="80707"/>
          <a:stretch/>
        </p:blipFill>
        <p:spPr>
          <a:xfrm>
            <a:off x="820550" y="3919625"/>
            <a:ext cx="4513275" cy="12833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58" name="Shape 358"/>
        <p:cNvGrpSpPr/>
        <p:nvPr/>
      </p:nvGrpSpPr>
      <p:grpSpPr>
        <a:xfrm>
          <a:off x="0" y="0"/>
          <a:ext cx="0" cy="0"/>
          <a:chOff x="0" y="0"/>
          <a:chExt cx="0" cy="0"/>
        </a:xfrm>
      </p:grpSpPr>
      <p:sp>
        <p:nvSpPr>
          <p:cNvPr id="359" name="Google Shape;359;p16"/>
          <p:cNvSpPr/>
          <p:nvPr/>
        </p:nvSpPr>
        <p:spPr>
          <a:xfrm>
            <a:off x="0" y="0"/>
            <a:ext cx="12191695" cy="256032"/>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6"/>
          <p:cNvSpPr/>
          <p:nvPr/>
        </p:nvSpPr>
        <p:spPr>
          <a:xfrm>
            <a:off x="548640" y="41148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400"/>
              <a:buFont typeface="Play"/>
              <a:buNone/>
            </a:pPr>
            <a:r>
              <a:rPr b="1" i="0" lang="en-US" sz="2400" u="none" cap="none" strike="noStrike">
                <a:solidFill>
                  <a:srgbClr val="1F3A5F"/>
                </a:solidFill>
                <a:latin typeface="Play"/>
                <a:ea typeface="Play"/>
                <a:cs typeface="Play"/>
                <a:sym typeface="Play"/>
              </a:rPr>
              <a:t>Closing summary</a:t>
            </a:r>
            <a:endParaRPr b="0" i="0" sz="2400" u="none" cap="none" strike="noStrike">
              <a:solidFill>
                <a:schemeClr val="dk1"/>
              </a:solidFill>
              <a:latin typeface="Arial"/>
              <a:ea typeface="Arial"/>
              <a:cs typeface="Arial"/>
              <a:sym typeface="Arial"/>
            </a:endParaRPr>
          </a:p>
        </p:txBody>
      </p:sp>
      <p:sp>
        <p:nvSpPr>
          <p:cNvPr id="361" name="Google Shape;361;p16"/>
          <p:cNvSpPr/>
          <p:nvPr/>
        </p:nvSpPr>
        <p:spPr>
          <a:xfrm>
            <a:off x="566928" y="941832"/>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50"/>
              <a:buFont typeface="Arial"/>
              <a:buNone/>
            </a:pPr>
            <a:r>
              <a:rPr b="0" i="0" lang="en-US" sz="1050" u="none" cap="none" strike="noStrike">
                <a:solidFill>
                  <a:srgbClr val="5F6F82"/>
                </a:solidFill>
                <a:latin typeface="Arial"/>
                <a:ea typeface="Arial"/>
                <a:cs typeface="Arial"/>
                <a:sym typeface="Arial"/>
              </a:rPr>
              <a:t>What we built</a:t>
            </a:r>
            <a:r>
              <a:rPr lang="en-US" sz="1050">
                <a:solidFill>
                  <a:srgbClr val="5F6F82"/>
                </a:solidFill>
              </a:rPr>
              <a:t> &amp;</a:t>
            </a:r>
            <a:r>
              <a:rPr b="0" i="0" lang="en-US" sz="1050" u="none" cap="none" strike="noStrike">
                <a:solidFill>
                  <a:srgbClr val="5F6F82"/>
                </a:solidFill>
                <a:latin typeface="Arial"/>
                <a:ea typeface="Arial"/>
                <a:cs typeface="Arial"/>
                <a:sym typeface="Arial"/>
              </a:rPr>
              <a:t> learned</a:t>
            </a:r>
            <a:endParaRPr b="0" i="0" sz="1050" u="none" cap="none" strike="noStrike">
              <a:solidFill>
                <a:schemeClr val="dk1"/>
              </a:solidFill>
              <a:latin typeface="Arial"/>
              <a:ea typeface="Arial"/>
              <a:cs typeface="Arial"/>
              <a:sym typeface="Arial"/>
            </a:endParaRPr>
          </a:p>
        </p:txBody>
      </p:sp>
      <p:sp>
        <p:nvSpPr>
          <p:cNvPr id="362" name="Google Shape;362;p16"/>
          <p:cNvSpPr/>
          <p:nvPr/>
        </p:nvSpPr>
        <p:spPr>
          <a:xfrm>
            <a:off x="566928" y="6473952"/>
            <a:ext cx="4114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900"/>
              <a:buFont typeface="Arial"/>
              <a:buNone/>
            </a:pPr>
            <a:r>
              <a:rPr b="0" i="0" lang="en-US" sz="900" u="none" cap="none" strike="noStrike">
                <a:solidFill>
                  <a:srgbClr val="5F6F82"/>
                </a:solidFill>
                <a:latin typeface="Arial"/>
                <a:ea typeface="Arial"/>
                <a:cs typeface="Arial"/>
                <a:sym typeface="Arial"/>
              </a:rPr>
              <a:t>Questions?</a:t>
            </a:r>
            <a:endParaRPr b="0" i="0" sz="900" u="none" cap="none" strike="noStrike">
              <a:solidFill>
                <a:schemeClr val="dk1"/>
              </a:solidFill>
              <a:latin typeface="Arial"/>
              <a:ea typeface="Arial"/>
              <a:cs typeface="Arial"/>
              <a:sym typeface="Arial"/>
            </a:endParaRPr>
          </a:p>
        </p:txBody>
      </p:sp>
      <p:sp>
        <p:nvSpPr>
          <p:cNvPr id="363" name="Google Shape;363;p16"/>
          <p:cNvSpPr/>
          <p:nvPr/>
        </p:nvSpPr>
        <p:spPr>
          <a:xfrm>
            <a:off x="685800" y="1417320"/>
            <a:ext cx="3657600" cy="4480560"/>
          </a:xfrm>
          <a:prstGeom prst="roundRect">
            <a:avLst>
              <a:gd fmla="val 2000"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6"/>
          <p:cNvSpPr/>
          <p:nvPr/>
        </p:nvSpPr>
        <p:spPr>
          <a:xfrm>
            <a:off x="914400" y="1682496"/>
            <a:ext cx="18288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rPr b="1" i="0" lang="en-US" sz="1700" u="none" cap="none" strike="noStrike">
                <a:solidFill>
                  <a:srgbClr val="1F3A5F"/>
                </a:solidFill>
                <a:latin typeface="Arial"/>
                <a:ea typeface="Arial"/>
                <a:cs typeface="Arial"/>
                <a:sym typeface="Arial"/>
              </a:rPr>
              <a:t>What we built</a:t>
            </a:r>
            <a:endParaRPr b="0" i="0" sz="1700" u="none" cap="none" strike="noStrike">
              <a:solidFill>
                <a:schemeClr val="dk1"/>
              </a:solidFill>
              <a:latin typeface="Arial"/>
              <a:ea typeface="Arial"/>
              <a:cs typeface="Arial"/>
              <a:sym typeface="Arial"/>
            </a:endParaRPr>
          </a:p>
        </p:txBody>
      </p:sp>
      <p:sp>
        <p:nvSpPr>
          <p:cNvPr id="365" name="Google Shape;365;p16"/>
          <p:cNvSpPr/>
          <p:nvPr/>
        </p:nvSpPr>
        <p:spPr>
          <a:xfrm>
            <a:off x="914400" y="1993392"/>
            <a:ext cx="3063240" cy="950976"/>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A complete Julia-backed fraud detection demo</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 A Node.js bridge and JSON parser</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 A browser dashboard for results, </a:t>
            </a:r>
            <a:r>
              <a:rPr lang="en-US" sz="1300">
                <a:solidFill>
                  <a:srgbClr val="223245"/>
                </a:solidFill>
              </a:rPr>
              <a:t>m</a:t>
            </a:r>
            <a:r>
              <a:rPr b="0" i="0" lang="en-US" sz="1300" u="none" cap="none" strike="noStrike">
                <a:solidFill>
                  <a:srgbClr val="223245"/>
                </a:solidFill>
                <a:latin typeface="Arial"/>
                <a:ea typeface="Arial"/>
                <a:cs typeface="Arial"/>
                <a:sym typeface="Arial"/>
              </a:rPr>
              <a:t>etrics, and review</a:t>
            </a:r>
            <a:endParaRPr b="0" i="0" sz="1300" u="none" cap="none" strike="noStrike">
              <a:solidFill>
                <a:schemeClr val="dk1"/>
              </a:solidFill>
              <a:latin typeface="Arial"/>
              <a:ea typeface="Arial"/>
              <a:cs typeface="Arial"/>
              <a:sym typeface="Arial"/>
            </a:endParaRPr>
          </a:p>
          <a:p>
            <a:pPr indent="-177800" lvl="0" marL="177800" marR="0" rtl="0" algn="l">
              <a:spcBef>
                <a:spcPts val="0"/>
              </a:spcBef>
              <a:spcAft>
                <a:spcPts val="0"/>
              </a:spcAft>
              <a:buClr>
                <a:srgbClr val="223245"/>
              </a:buClr>
              <a:buSzPts val="1300"/>
              <a:buFont typeface="Arial"/>
              <a:buChar char="•"/>
            </a:pPr>
            <a:r>
              <a:rPr b="0" i="0" lang="en-US" sz="1300" u="none" cap="none" strike="noStrike">
                <a:solidFill>
                  <a:srgbClr val="223245"/>
                </a:solidFill>
                <a:latin typeface="Arial"/>
                <a:ea typeface="Arial"/>
                <a:cs typeface="Arial"/>
                <a:sym typeface="Arial"/>
              </a:rPr>
              <a:t> A report and presentation grounded in the actual code</a:t>
            </a:r>
            <a:endParaRPr b="0" i="0" sz="1300" u="none" cap="none" strike="noStrike">
              <a:solidFill>
                <a:schemeClr val="dk1"/>
              </a:solidFill>
              <a:latin typeface="Arial"/>
              <a:ea typeface="Arial"/>
              <a:cs typeface="Arial"/>
              <a:sym typeface="Arial"/>
            </a:endParaRPr>
          </a:p>
        </p:txBody>
      </p:sp>
      <p:sp>
        <p:nvSpPr>
          <p:cNvPr id="366" name="Google Shape;366;p16"/>
          <p:cNvSpPr/>
          <p:nvPr/>
        </p:nvSpPr>
        <p:spPr>
          <a:xfrm>
            <a:off x="4526280" y="1417320"/>
            <a:ext cx="3108960" cy="4480560"/>
          </a:xfrm>
          <a:prstGeom prst="roundRect">
            <a:avLst>
              <a:gd fmla="val 2353"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
          <p:cNvSpPr/>
          <p:nvPr/>
        </p:nvSpPr>
        <p:spPr>
          <a:xfrm>
            <a:off x="4754880" y="1682496"/>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rPr b="1" i="0" lang="en-US" sz="1700" u="none" cap="none" strike="noStrike">
                <a:solidFill>
                  <a:srgbClr val="1F3A5F"/>
                </a:solidFill>
                <a:latin typeface="Arial"/>
                <a:ea typeface="Arial"/>
                <a:cs typeface="Arial"/>
                <a:sym typeface="Arial"/>
              </a:rPr>
              <a:t>What we learned about Julia</a:t>
            </a:r>
            <a:endParaRPr b="0" i="0" sz="1700" u="none" cap="none" strike="noStrike">
              <a:solidFill>
                <a:schemeClr val="dk1"/>
              </a:solidFill>
              <a:latin typeface="Arial"/>
              <a:ea typeface="Arial"/>
              <a:cs typeface="Arial"/>
              <a:sym typeface="Arial"/>
            </a:endParaRPr>
          </a:p>
        </p:txBody>
      </p:sp>
      <p:sp>
        <p:nvSpPr>
          <p:cNvPr id="368" name="Google Shape;368;p16"/>
          <p:cNvSpPr/>
          <p:nvPr/>
        </p:nvSpPr>
        <p:spPr>
          <a:xfrm>
            <a:off x="4754875" y="1993413"/>
            <a:ext cx="2469000" cy="25290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223245"/>
              </a:buClr>
              <a:buSzPts val="1300"/>
              <a:buFont typeface="Arial"/>
              <a:buChar char="•"/>
            </a:pPr>
            <a:r>
              <a:rPr lang="en-US" sz="1300">
                <a:solidFill>
                  <a:srgbClr val="223245"/>
                </a:solidFill>
              </a:rPr>
              <a:t>Julia is similar to Java and JS in </a:t>
            </a:r>
            <a:r>
              <a:rPr lang="en-US" sz="1300">
                <a:solidFill>
                  <a:srgbClr val="223245"/>
                </a:solidFill>
              </a:rPr>
              <a:t>syntax</a:t>
            </a:r>
            <a:endParaRPr sz="1300">
              <a:solidFill>
                <a:srgbClr val="223245"/>
              </a:solidFill>
            </a:endParaRPr>
          </a:p>
          <a:p>
            <a:pPr indent="-177800" lvl="0" marL="177800" marR="0" rtl="0" algn="l">
              <a:spcBef>
                <a:spcPts val="0"/>
              </a:spcBef>
              <a:spcAft>
                <a:spcPts val="0"/>
              </a:spcAft>
              <a:buClr>
                <a:srgbClr val="223245"/>
              </a:buClr>
              <a:buSzPts val="1300"/>
              <a:buChar char="•"/>
            </a:pPr>
            <a:r>
              <a:rPr lang="en-US" sz="1300">
                <a:solidFill>
                  <a:srgbClr val="223245"/>
                </a:solidFill>
              </a:rPr>
              <a:t>It is very flexible with creating data structures and passing types</a:t>
            </a:r>
            <a:endParaRPr sz="1300">
              <a:solidFill>
                <a:srgbClr val="223245"/>
              </a:solidFill>
            </a:endParaRPr>
          </a:p>
          <a:p>
            <a:pPr indent="-177800" lvl="0" marL="177800" marR="0" rtl="0" algn="l">
              <a:spcBef>
                <a:spcPts val="0"/>
              </a:spcBef>
              <a:spcAft>
                <a:spcPts val="0"/>
              </a:spcAft>
              <a:buClr>
                <a:srgbClr val="223245"/>
              </a:buClr>
              <a:buSzPts val="1300"/>
              <a:buChar char="•"/>
            </a:pPr>
            <a:r>
              <a:rPr lang="en-US" sz="1300">
                <a:solidFill>
                  <a:srgbClr val="223245"/>
                </a:solidFill>
              </a:rPr>
              <a:t>Its parallel processing ability reduces run times significantly</a:t>
            </a:r>
            <a:endParaRPr sz="1300">
              <a:solidFill>
                <a:srgbClr val="223245"/>
              </a:solidFill>
            </a:endParaRPr>
          </a:p>
          <a:p>
            <a:pPr indent="-177800" lvl="0" marL="177800" marR="0" rtl="0" algn="l">
              <a:spcBef>
                <a:spcPts val="0"/>
              </a:spcBef>
              <a:spcAft>
                <a:spcPts val="0"/>
              </a:spcAft>
              <a:buClr>
                <a:srgbClr val="223245"/>
              </a:buClr>
              <a:buSzPts val="1300"/>
              <a:buChar char="•"/>
            </a:pPr>
            <a:r>
              <a:rPr lang="en-US" sz="1300">
                <a:solidFill>
                  <a:srgbClr val="223245"/>
                </a:solidFill>
              </a:rPr>
              <a:t>Structs, dicts and type manipulation are extremely helpful tools in Julia</a:t>
            </a:r>
            <a:endParaRPr sz="1300">
              <a:solidFill>
                <a:srgbClr val="223245"/>
              </a:solidFill>
            </a:endParaRPr>
          </a:p>
          <a:p>
            <a:pPr indent="-177800" lvl="0" marL="177800" marR="0" rtl="0" algn="l">
              <a:spcBef>
                <a:spcPts val="0"/>
              </a:spcBef>
              <a:spcAft>
                <a:spcPts val="0"/>
              </a:spcAft>
              <a:buClr>
                <a:srgbClr val="223245"/>
              </a:buClr>
              <a:buSzPts val="1300"/>
              <a:buChar char="•"/>
            </a:pPr>
            <a:r>
              <a:rPr lang="en-US" sz="1300">
                <a:solidFill>
                  <a:srgbClr val="223245"/>
                </a:solidFill>
              </a:rPr>
              <a:t>It is truly a language built for technical computing</a:t>
            </a:r>
            <a:endParaRPr sz="1300">
              <a:solidFill>
                <a:srgbClr val="223245"/>
              </a:solidFill>
            </a:endParaRPr>
          </a:p>
        </p:txBody>
      </p:sp>
      <p:sp>
        <p:nvSpPr>
          <p:cNvPr id="369" name="Google Shape;369;p16"/>
          <p:cNvSpPr/>
          <p:nvPr/>
        </p:nvSpPr>
        <p:spPr>
          <a:xfrm>
            <a:off x="7818120" y="1417320"/>
            <a:ext cx="3703320" cy="4480560"/>
          </a:xfrm>
          <a:prstGeom prst="roundRect">
            <a:avLst>
              <a:gd fmla="val 1975" name="adj"/>
            </a:avLst>
          </a:prstGeom>
          <a:solidFill>
            <a:srgbClr val="EAF1FF"/>
          </a:solidFill>
          <a:ln cap="flat" cmpd="sng" w="12700">
            <a:solidFill>
              <a:srgbClr val="EAF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6"/>
          <p:cNvSpPr/>
          <p:nvPr/>
        </p:nvSpPr>
        <p:spPr>
          <a:xfrm>
            <a:off x="8092440" y="1682496"/>
            <a:ext cx="20116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rPr b="1" i="0" lang="en-US" sz="1700" u="none" cap="none" strike="noStrike">
                <a:solidFill>
                  <a:srgbClr val="1F3A5F"/>
                </a:solidFill>
                <a:latin typeface="Arial"/>
                <a:ea typeface="Arial"/>
                <a:cs typeface="Arial"/>
                <a:sym typeface="Arial"/>
              </a:rPr>
              <a:t>Repo</a:t>
            </a:r>
            <a:endParaRPr b="0" i="0" sz="1700" u="none" cap="none" strike="noStrike">
              <a:solidFill>
                <a:schemeClr val="dk1"/>
              </a:solidFill>
              <a:latin typeface="Arial"/>
              <a:ea typeface="Arial"/>
              <a:cs typeface="Arial"/>
              <a:sym typeface="Arial"/>
            </a:endParaRPr>
          </a:p>
        </p:txBody>
      </p:sp>
      <p:sp>
        <p:nvSpPr>
          <p:cNvPr id="371" name="Google Shape;371;p16"/>
          <p:cNvSpPr/>
          <p:nvPr/>
        </p:nvSpPr>
        <p:spPr>
          <a:xfrm>
            <a:off x="8092440" y="2057400"/>
            <a:ext cx="292608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245"/>
              </a:buClr>
              <a:buSzPts val="1300"/>
              <a:buFont typeface="Arial"/>
              <a:buNone/>
            </a:pPr>
            <a:r>
              <a:rPr b="0" i="0" lang="en-US" sz="1300" u="sng" cap="none" strike="noStrike">
                <a:solidFill>
                  <a:schemeClr val="hlink"/>
                </a:solidFill>
                <a:latin typeface="Arial"/>
                <a:ea typeface="Arial"/>
                <a:cs typeface="Arial"/>
                <a:sym typeface="Arial"/>
                <a:hlinkClick r:id="rId3"/>
              </a:rPr>
              <a:t>github.com/DevinW2304/ITCS-4102</a:t>
            </a:r>
            <a:endParaRPr sz="1300">
              <a:solidFill>
                <a:srgbClr val="223245"/>
              </a:solidFill>
            </a:endParaRPr>
          </a:p>
          <a:p>
            <a:pPr indent="0" lvl="0" marL="0" marR="0" rtl="0" algn="l">
              <a:spcBef>
                <a:spcPts val="0"/>
              </a:spcBef>
              <a:spcAft>
                <a:spcPts val="0"/>
              </a:spcAft>
              <a:buClr>
                <a:schemeClr val="dk1"/>
              </a:buClr>
              <a:buSzPts val="1300"/>
              <a:buFont typeface="Arial"/>
              <a:buNone/>
            </a:pPr>
            <a:r>
              <a:t/>
            </a:r>
            <a:endParaRPr b="0" i="0" sz="13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23245"/>
              </a:buClr>
              <a:buSzPts val="1300"/>
              <a:buFont typeface="Arial"/>
              <a:buNone/>
            </a:pPr>
            <a:r>
              <a:t/>
            </a:r>
            <a:endParaRPr b="0" i="0" sz="1300" u="none" cap="none" strike="noStrike">
              <a:solidFill>
                <a:schemeClr val="dk1"/>
              </a:solidFill>
              <a:latin typeface="Arial"/>
              <a:ea typeface="Arial"/>
              <a:cs typeface="Arial"/>
              <a:sym typeface="Arial"/>
            </a:endParaRPr>
          </a:p>
        </p:txBody>
      </p:sp>
      <p:pic>
        <p:nvPicPr>
          <p:cNvPr id="372" name="Google Shape;372;p16"/>
          <p:cNvPicPr preferRelativeResize="0"/>
          <p:nvPr/>
        </p:nvPicPr>
        <p:blipFill>
          <a:blip r:embed="rId4">
            <a:alphaModFix/>
          </a:blip>
          <a:stretch>
            <a:fillRect/>
          </a:stretch>
        </p:blipFill>
        <p:spPr>
          <a:xfrm>
            <a:off x="1085838" y="3850800"/>
            <a:ext cx="2857500" cy="1600200"/>
          </a:xfrm>
          <a:prstGeom prst="rect">
            <a:avLst/>
          </a:prstGeom>
          <a:noFill/>
          <a:ln>
            <a:noFill/>
          </a:ln>
        </p:spPr>
      </p:pic>
      <p:pic>
        <p:nvPicPr>
          <p:cNvPr id="373" name="Google Shape;373;p16"/>
          <p:cNvPicPr preferRelativeResize="0"/>
          <p:nvPr/>
        </p:nvPicPr>
        <p:blipFill>
          <a:blip r:embed="rId5">
            <a:alphaModFix/>
          </a:blip>
          <a:stretch>
            <a:fillRect/>
          </a:stretch>
        </p:blipFill>
        <p:spPr>
          <a:xfrm>
            <a:off x="8035388" y="3143188"/>
            <a:ext cx="3028950" cy="1514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78" name="Shape 378"/>
        <p:cNvGrpSpPr/>
        <p:nvPr/>
      </p:nvGrpSpPr>
      <p:grpSpPr>
        <a:xfrm>
          <a:off x="0" y="0"/>
          <a:ext cx="0" cy="0"/>
          <a:chOff x="0" y="0"/>
          <a:chExt cx="0" cy="0"/>
        </a:xfrm>
      </p:grpSpPr>
      <p:sp>
        <p:nvSpPr>
          <p:cNvPr id="379" name="Google Shape;379;p17"/>
          <p:cNvSpPr/>
          <p:nvPr/>
        </p:nvSpPr>
        <p:spPr>
          <a:xfrm>
            <a:off x="0" y="0"/>
            <a:ext cx="12191700" cy="255900"/>
          </a:xfrm>
          <a:prstGeom prst="rect">
            <a:avLst/>
          </a:prstGeom>
          <a:solidFill>
            <a:srgbClr val="1F3A5F"/>
          </a:solidFill>
          <a:ln cap="flat" cmpd="sng" w="12700">
            <a:solidFill>
              <a:srgbClr val="1F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7"/>
          <p:cNvSpPr/>
          <p:nvPr/>
        </p:nvSpPr>
        <p:spPr>
          <a:xfrm>
            <a:off x="548640" y="41148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2400"/>
              <a:buFont typeface="Play"/>
              <a:buNone/>
            </a:pPr>
            <a:r>
              <a:rPr b="1" lang="en-US" sz="2400">
                <a:solidFill>
                  <a:srgbClr val="1F3A5F"/>
                </a:solidFill>
                <a:latin typeface="Play"/>
                <a:ea typeface="Play"/>
                <a:cs typeface="Play"/>
                <a:sym typeface="Play"/>
              </a:rPr>
              <a:t>Resources</a:t>
            </a:r>
            <a:endParaRPr b="0" i="0" sz="2400" u="none" cap="none" strike="noStrike">
              <a:solidFill>
                <a:schemeClr val="dk1"/>
              </a:solidFill>
              <a:latin typeface="Arial"/>
              <a:ea typeface="Arial"/>
              <a:cs typeface="Arial"/>
              <a:sym typeface="Arial"/>
            </a:endParaRPr>
          </a:p>
        </p:txBody>
      </p:sp>
      <p:sp>
        <p:nvSpPr>
          <p:cNvPr id="381" name="Google Shape;381;p17"/>
          <p:cNvSpPr/>
          <p:nvPr/>
        </p:nvSpPr>
        <p:spPr>
          <a:xfrm>
            <a:off x="566928" y="941832"/>
            <a:ext cx="8046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1050"/>
              <a:buFont typeface="Arial"/>
              <a:buNone/>
            </a:pPr>
            <a:r>
              <a:t/>
            </a:r>
            <a:endParaRPr b="0" i="0" sz="1050" u="none" cap="none" strike="noStrike">
              <a:solidFill>
                <a:schemeClr val="dk1"/>
              </a:solidFill>
              <a:latin typeface="Arial"/>
              <a:ea typeface="Arial"/>
              <a:cs typeface="Arial"/>
              <a:sym typeface="Arial"/>
            </a:endParaRPr>
          </a:p>
        </p:txBody>
      </p:sp>
      <p:sp>
        <p:nvSpPr>
          <p:cNvPr id="382" name="Google Shape;382;p17"/>
          <p:cNvSpPr/>
          <p:nvPr/>
        </p:nvSpPr>
        <p:spPr>
          <a:xfrm>
            <a:off x="566928" y="6473952"/>
            <a:ext cx="4114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82"/>
              </a:buClr>
              <a:buSzPts val="900"/>
              <a:buFont typeface="Arial"/>
              <a:buNone/>
            </a:pPr>
            <a:r>
              <a:rPr b="0" i="0" lang="en-US" sz="900" u="none" cap="none" strike="noStrike">
                <a:solidFill>
                  <a:srgbClr val="5F6F82"/>
                </a:solidFill>
                <a:latin typeface="Arial"/>
                <a:ea typeface="Arial"/>
                <a:cs typeface="Arial"/>
                <a:sym typeface="Arial"/>
              </a:rPr>
              <a:t>ITCS 4102 / 5102 Final Project</a:t>
            </a:r>
            <a:endParaRPr b="0" i="0" sz="900" u="none" cap="none" strike="noStrike">
              <a:solidFill>
                <a:schemeClr val="dk1"/>
              </a:solidFill>
              <a:latin typeface="Arial"/>
              <a:ea typeface="Arial"/>
              <a:cs typeface="Arial"/>
              <a:sym typeface="Arial"/>
            </a:endParaRPr>
          </a:p>
        </p:txBody>
      </p:sp>
      <p:sp>
        <p:nvSpPr>
          <p:cNvPr id="383" name="Google Shape;383;p17"/>
          <p:cNvSpPr/>
          <p:nvPr/>
        </p:nvSpPr>
        <p:spPr>
          <a:xfrm>
            <a:off x="640070" y="1325875"/>
            <a:ext cx="10525500" cy="4480500"/>
          </a:xfrm>
          <a:prstGeom prst="roundRect">
            <a:avLst>
              <a:gd fmla="val 1633"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7"/>
          <p:cNvSpPr/>
          <p:nvPr/>
        </p:nvSpPr>
        <p:spPr>
          <a:xfrm>
            <a:off x="877824" y="1572768"/>
            <a:ext cx="23775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t/>
            </a:r>
            <a:endParaRPr b="0" i="0" sz="1700" u="none" cap="none" strike="noStrike">
              <a:solidFill>
                <a:schemeClr val="dk1"/>
              </a:solidFill>
              <a:latin typeface="Arial"/>
              <a:ea typeface="Arial"/>
              <a:cs typeface="Arial"/>
              <a:sym typeface="Arial"/>
            </a:endParaRPr>
          </a:p>
        </p:txBody>
      </p:sp>
      <p:sp>
        <p:nvSpPr>
          <p:cNvPr id="385" name="Google Shape;385;p17"/>
          <p:cNvSpPr/>
          <p:nvPr/>
        </p:nvSpPr>
        <p:spPr>
          <a:xfrm>
            <a:off x="877825" y="1901950"/>
            <a:ext cx="9951000" cy="2560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00" u="sng">
                <a:solidFill>
                  <a:schemeClr val="hlink"/>
                </a:solidFill>
                <a:hlinkClick r:id="rId3"/>
              </a:rPr>
              <a:t>https://eluminoustechnologies.com/blog/julia-vs-python/</a:t>
            </a:r>
            <a:endParaRPr sz="1200">
              <a:solidFill>
                <a:schemeClr val="dk1"/>
              </a:solidFill>
            </a:endParaRPr>
          </a:p>
          <a:p>
            <a:pPr indent="-12700" lvl="0" marL="368300" rtl="0" algn="l">
              <a:lnSpc>
                <a:spcPct val="115000"/>
              </a:lnSpc>
              <a:spcBef>
                <a:spcPts val="1200"/>
              </a:spcBef>
              <a:spcAft>
                <a:spcPts val="0"/>
              </a:spcAft>
              <a:buNone/>
            </a:pPr>
            <a:r>
              <a:t/>
            </a:r>
            <a:endParaRPr sz="1200">
              <a:solidFill>
                <a:schemeClr val="dk1"/>
              </a:solidFill>
            </a:endParaRPr>
          </a:p>
          <a:p>
            <a:pPr indent="-12700" lvl="0" marL="368300" rtl="0" algn="l">
              <a:lnSpc>
                <a:spcPct val="115000"/>
              </a:lnSpc>
              <a:spcBef>
                <a:spcPts val="1200"/>
              </a:spcBef>
              <a:spcAft>
                <a:spcPts val="0"/>
              </a:spcAft>
              <a:buClr>
                <a:schemeClr val="dk1"/>
              </a:buClr>
              <a:buSzPts val="1100"/>
              <a:buFont typeface="Arial"/>
              <a:buNone/>
            </a:pPr>
            <a:r>
              <a:rPr lang="en-US" sz="1200">
                <a:solidFill>
                  <a:schemeClr val="dk1"/>
                </a:solidFill>
              </a:rPr>
              <a:t>Chesnes, M., &amp; Nguyen, S. T. (2026, March 25). </a:t>
            </a:r>
            <a:r>
              <a:rPr i="1" lang="en-US" sz="1200">
                <a:solidFill>
                  <a:schemeClr val="dk1"/>
                </a:solidFill>
              </a:rPr>
              <a:t>FTC testifies before the Joint Economic Committee on Agency’s efforts to combat fraud</a:t>
            </a:r>
            <a:r>
              <a:rPr lang="en-US" sz="1200">
                <a:solidFill>
                  <a:schemeClr val="dk1"/>
                </a:solidFill>
              </a:rPr>
              <a:t>. Federal Trade Commission. </a:t>
            </a:r>
            <a:r>
              <a:rPr lang="en-US" sz="1200" u="sng">
                <a:solidFill>
                  <a:srgbClr val="1155CC"/>
                </a:solidFill>
                <a:hlinkClick r:id="rId4">
                  <a:extLst>
                    <a:ext uri="{A12FA001-AC4F-418D-AE19-62706E023703}">
                      <ahyp:hlinkClr val="tx"/>
                    </a:ext>
                  </a:extLst>
                </a:hlinkClick>
              </a:rPr>
              <a:t>https://www.ftc.gov/news-events/news/press-releases/2026/03/ftc-testifies-joint-economic-committee-agencys-efforts-combat-fraud?</a:t>
            </a:r>
            <a:endParaRPr sz="1200">
              <a:solidFill>
                <a:schemeClr val="dk1"/>
              </a:solidFill>
            </a:endParaRPr>
          </a:p>
          <a:p>
            <a:pPr indent="-12700" lvl="0" marL="36830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12700" lvl="0" marL="368300" rtl="0" algn="l">
              <a:lnSpc>
                <a:spcPct val="115000"/>
              </a:lnSpc>
              <a:spcBef>
                <a:spcPts val="1200"/>
              </a:spcBef>
              <a:spcAft>
                <a:spcPts val="0"/>
              </a:spcAft>
              <a:buNone/>
            </a:pPr>
            <a:r>
              <a:rPr lang="en-US" sz="1200">
                <a:solidFill>
                  <a:schemeClr val="dk1"/>
                </a:solidFill>
              </a:rPr>
              <a:t>Holy, T. E., Sargent, T. J., &amp; Steele , G. L. (2016). </a:t>
            </a:r>
            <a:r>
              <a:rPr i="1" lang="en-US" sz="1200">
                <a:solidFill>
                  <a:schemeClr val="dk1"/>
                </a:solidFill>
              </a:rPr>
              <a:t>Juliacon 2016</a:t>
            </a:r>
            <a:r>
              <a:rPr lang="en-US" sz="1200">
                <a:solidFill>
                  <a:schemeClr val="dk1"/>
                </a:solidFill>
              </a:rPr>
              <a:t>. JuliaCon  2016. </a:t>
            </a:r>
            <a:r>
              <a:rPr lang="en-US" sz="1200" u="sng">
                <a:solidFill>
                  <a:srgbClr val="1155CC"/>
                </a:solidFill>
                <a:hlinkClick r:id="rId5">
                  <a:extLst>
                    <a:ext uri="{A12FA001-AC4F-418D-AE19-62706E023703}">
                      <ahyp:hlinkClr val="tx"/>
                    </a:ext>
                  </a:extLst>
                </a:hlinkClick>
              </a:rPr>
              <a:t>https://juliacon.org/2016/</a:t>
            </a:r>
            <a:r>
              <a:rPr lang="en-US" sz="1200">
                <a:solidFill>
                  <a:schemeClr val="dk1"/>
                </a:solidFill>
              </a:rPr>
              <a:t> </a:t>
            </a:r>
            <a:endParaRPr sz="1200">
              <a:solidFill>
                <a:schemeClr val="dk1"/>
              </a:solidFill>
            </a:endParaRPr>
          </a:p>
          <a:p>
            <a:pPr indent="-12700" lvl="0" marL="368300" rtl="0" algn="l">
              <a:lnSpc>
                <a:spcPct val="115000"/>
              </a:lnSpc>
              <a:spcBef>
                <a:spcPts val="1200"/>
              </a:spcBef>
              <a:spcAft>
                <a:spcPts val="0"/>
              </a:spcAft>
              <a:buNone/>
            </a:pPr>
            <a:r>
              <a:rPr lang="en-US" sz="1200" u="sng">
                <a:solidFill>
                  <a:schemeClr val="hlink"/>
                </a:solidFill>
                <a:hlinkClick r:id="rId6"/>
              </a:rPr>
              <a:t>https://www.vecteezy.com/vector-art/17119660-github-logo-git-hub-icon-with-text-on-white-and-black-background</a:t>
            </a:r>
            <a:endParaRPr sz="1200">
              <a:solidFill>
                <a:schemeClr val="dk1"/>
              </a:solidFill>
            </a:endParaRPr>
          </a:p>
          <a:p>
            <a:pPr indent="457200" lvl="0" marL="0" rtl="0" algn="l">
              <a:lnSpc>
                <a:spcPct val="115000"/>
              </a:lnSpc>
              <a:spcBef>
                <a:spcPts val="1200"/>
              </a:spcBef>
              <a:spcAft>
                <a:spcPts val="0"/>
              </a:spcAft>
              <a:buNone/>
            </a:pPr>
            <a:r>
              <a:rPr lang="en-US" sz="1200">
                <a:solidFill>
                  <a:schemeClr val="dk1"/>
                </a:solidFill>
              </a:rPr>
              <a:t>“Julia Documentation · The Julia Language,” </a:t>
            </a:r>
            <a:r>
              <a:rPr i="1" lang="en-US" sz="1200">
                <a:solidFill>
                  <a:schemeClr val="dk1"/>
                </a:solidFill>
              </a:rPr>
              <a:t>docs.julialang.org</a:t>
            </a:r>
            <a:r>
              <a:rPr lang="en-US" sz="1200">
                <a:solidFill>
                  <a:schemeClr val="dk1"/>
                </a:solidFill>
              </a:rPr>
              <a:t>. </a:t>
            </a:r>
            <a:r>
              <a:rPr lang="en-US" sz="1200" u="sng">
                <a:solidFill>
                  <a:schemeClr val="hlink"/>
                </a:solidFill>
                <a:hlinkClick r:id="rId7"/>
              </a:rPr>
              <a:t>https://docs.julialang.org/en/v1/</a:t>
            </a:r>
            <a:endParaRPr sz="1200">
              <a:solidFill>
                <a:schemeClr val="dk1"/>
              </a:solidFill>
            </a:endParaRPr>
          </a:p>
          <a:p>
            <a:pPr indent="-12700" lvl="0" marL="36830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rPr lang="en-US" sz="1200">
                <a:solidFill>
                  <a:schemeClr val="dk1"/>
                </a:solidFill>
              </a:rPr>
              <a:t>‌</a:t>
            </a:r>
            <a:endParaRPr sz="1200">
              <a:solidFill>
                <a:schemeClr val="dk1"/>
              </a:solidFill>
            </a:endParaRPr>
          </a:p>
          <a:p>
            <a:pPr indent="-12700" lvl="0" marL="368300" rtl="0" algn="l">
              <a:lnSpc>
                <a:spcPct val="115000"/>
              </a:lnSpc>
              <a:spcBef>
                <a:spcPts val="1200"/>
              </a:spcBef>
              <a:spcAft>
                <a:spcPts val="0"/>
              </a:spcAft>
              <a:buNone/>
            </a:pPr>
            <a:r>
              <a:t/>
            </a:r>
            <a:endParaRPr sz="1200">
              <a:solidFill>
                <a:schemeClr val="dk1"/>
              </a:solidFill>
            </a:endParaRPr>
          </a:p>
          <a:p>
            <a:pPr indent="-12700" lvl="0" marL="36830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386" name="Google Shape;386;p17"/>
          <p:cNvSpPr/>
          <p:nvPr/>
        </p:nvSpPr>
        <p:spPr>
          <a:xfrm>
            <a:off x="6455664" y="1572768"/>
            <a:ext cx="2469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5F"/>
              </a:buClr>
              <a:buSzPts val="1700"/>
              <a:buFont typeface="Arial"/>
              <a:buNone/>
            </a:pPr>
            <a:r>
              <a:t/>
            </a:r>
            <a:endParaRPr b="0" i="0" sz="1700" u="none" cap="none" strike="noStrike">
              <a:solidFill>
                <a:schemeClr val="dk1"/>
              </a:solidFill>
              <a:latin typeface="Arial"/>
              <a:ea typeface="Arial"/>
              <a:cs typeface="Arial"/>
              <a:sym typeface="Arial"/>
            </a:endParaRPr>
          </a:p>
        </p:txBody>
      </p:sp>
      <p:sp>
        <p:nvSpPr>
          <p:cNvPr id="387" name="Google Shape;387;p17"/>
          <p:cNvSpPr/>
          <p:nvPr/>
        </p:nvSpPr>
        <p:spPr>
          <a:xfrm>
            <a:off x="640080" y="5989320"/>
            <a:ext cx="10881300" cy="384000"/>
          </a:xfrm>
          <a:prstGeom prst="roundRect">
            <a:avLst>
              <a:gd fmla="val 9524" name="adj"/>
            </a:avLst>
          </a:prstGeom>
          <a:solidFill>
            <a:srgbClr val="FDECEF"/>
          </a:solidFill>
          <a:ln cap="flat" cmpd="sng" w="12700">
            <a:solidFill>
              <a:srgbClr val="FDEC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